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" name=""/>
          <p:cNvSpPr/>
          <p:nvPr/>
        </p:nvSpPr>
        <p:spPr>
          <a:xfrm>
            <a:off x="533160" y="273348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" name=""/>
          <p:cNvSpPr/>
          <p:nvPr/>
        </p:nvSpPr>
        <p:spPr>
          <a:xfrm>
            <a:off x="533160" y="354312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533520" y="2199600"/>
            <a:ext cx="24559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988720" y="221724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を活⽤した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533520" y="302688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気象データ分析・予測モデルの開発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33520" y="3818160"/>
            <a:ext cx="57384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⽣成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1104840" y="3804840"/>
            <a:ext cx="285480" cy="34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1384920" y="3818160"/>
            <a:ext cx="2006280" cy="28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22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活⽤事例の報告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533520" y="4419360"/>
            <a:ext cx="424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957240" y="44280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1147680" y="4419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1253520" y="44280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⽉ ／ 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2015640" y="441936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2576160" y="442800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⽉例会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533520" y="228420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⽬次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88240" y="31143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99920" y="3123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1181160" y="31143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1353960" y="312336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活⽤の経緯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588240" y="350496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99920" y="351360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開発したプロダクト（気象・予測ツール）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588240" y="38952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799920" y="3904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2133720" y="3895200"/>
            <a:ext cx="1265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339480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の取り組み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588240" y="428580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4.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99920" y="42948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まとめ・今後の展開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5" name=""/>
          <p:cNvSpPr/>
          <p:nvPr/>
        </p:nvSpPr>
        <p:spPr>
          <a:xfrm>
            <a:off x="552240" y="2943000"/>
            <a:ext cx="11106360" cy="467280"/>
          </a:xfrm>
          <a:custGeom>
            <a:avLst/>
            <a:gdLst/>
            <a:ahLst/>
            <a:rect l="0" t="0" r="r" b="b"/>
            <a:pathLst>
              <a:path w="30851" h="1298">
                <a:moveTo>
                  <a:pt x="0" y="1298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92"/>
                </a:lnTo>
                <a:cubicBezTo>
                  <a:pt x="30851" y="1206"/>
                  <a:pt x="30849" y="1219"/>
                  <a:pt x="30843" y="1232"/>
                </a:cubicBezTo>
                <a:cubicBezTo>
                  <a:pt x="30838" y="1245"/>
                  <a:pt x="30830" y="1257"/>
                  <a:pt x="30820" y="1267"/>
                </a:cubicBezTo>
                <a:cubicBezTo>
                  <a:pt x="30811" y="1277"/>
                  <a:pt x="30799" y="1284"/>
                  <a:pt x="30786" y="1290"/>
                </a:cubicBezTo>
                <a:cubicBezTo>
                  <a:pt x="30773" y="1295"/>
                  <a:pt x="30760" y="1298"/>
                  <a:pt x="3074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" name=""/>
          <p:cNvSpPr/>
          <p:nvPr/>
        </p:nvSpPr>
        <p:spPr>
          <a:xfrm>
            <a:off x="533160" y="29430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533520" y="493560"/>
            <a:ext cx="762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⽣成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129528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668600" y="493560"/>
            <a:ext cx="1524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活⽤から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3192840" y="475560"/>
            <a:ext cx="25617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" name=""/>
          <p:cNvSpPr/>
          <p:nvPr/>
        </p:nvSpPr>
        <p:spPr>
          <a:xfrm>
            <a:off x="618840" y="1419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575388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による開発へ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99920" y="13327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99072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96560" y="13327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年前より⽣成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239560" y="13237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412360" y="13327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を利⽤したコード作成を開始。チャットベースで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576480" y="1323720"/>
            <a:ext cx="39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" name=""/>
          <p:cNvSpPr/>
          <p:nvPr/>
        </p:nvSpPr>
        <p:spPr>
          <a:xfrm>
            <a:off x="618840" y="1809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0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0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57360" y="1332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アプリの試作を実施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799920" y="172296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その後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1371600" y="171396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650240" y="1722960"/>
            <a:ext cx="2858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エージェントの活⽤⽅法を知り、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492440" y="1713960"/>
            <a:ext cx="108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CLAUDE.md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576040" y="172296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5766480" y="1713960"/>
            <a:ext cx="745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plan.md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6511320" y="172296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を⽤いた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273440" y="171396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" name=""/>
          <p:cNvSpPr/>
          <p:nvPr/>
        </p:nvSpPr>
        <p:spPr>
          <a:xfrm>
            <a:off x="618840" y="21999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0"/>
                  <a:pt x="144" y="128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8"/>
                  <a:pt x="10" y="120"/>
                  <a:pt x="6" y="110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8497800" y="17229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での開発フローを導⼊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799920" y="211356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チャットでの要件整理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7050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75796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2948400" y="2104560"/>
            <a:ext cx="7099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3657960" y="21135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への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038840" y="2104560"/>
            <a:ext cx="526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push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564800" y="211356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4755240" y="21045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" name=""/>
          <p:cNvSpPr/>
          <p:nvPr/>
        </p:nvSpPr>
        <p:spPr>
          <a:xfrm>
            <a:off x="618840" y="26002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19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19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4808160" y="21135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ドキュメント化、という⼀連の流れを反復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799920" y="25135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1562040" y="2504520"/>
            <a:ext cx="26532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1827000" y="25135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件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017440" y="25045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070360" y="25135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のリポジトリを作成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723960" y="3074760"/>
            <a:ext cx="3990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天気図・発電量予測・電⼒データ分析・ローカル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699800" y="3066120"/>
            <a:ext cx="3603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8" name=""/>
          <p:cNvPicPr/>
          <p:nvPr/>
        </p:nvPicPr>
        <p:blipFill>
          <a:blip r:embed="rId1"/>
          <a:stretch/>
        </p:blipFill>
        <p:spPr>
          <a:xfrm>
            <a:off x="3619440" y="3552840"/>
            <a:ext cx="4952520" cy="3009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9" name=""/>
          <p:cNvSpPr txBox="1"/>
          <p:nvPr/>
        </p:nvSpPr>
        <p:spPr>
          <a:xfrm>
            <a:off x="5058720" y="3074760"/>
            <a:ext cx="36277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⽐較など、実⽤ニーズに応じてテーマを設定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53352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チャットでの開発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3581280" y="475560"/>
            <a:ext cx="29646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vs Claude Code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545160" y="493560"/>
            <a:ext cx="381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92604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" name=""/>
          <p:cNvSpPr/>
          <p:nvPr/>
        </p:nvSpPr>
        <p:spPr>
          <a:xfrm>
            <a:off x="533160" y="1266480"/>
            <a:ext cx="10477800" cy="5105880"/>
          </a:xfrm>
          <a:custGeom>
            <a:avLst/>
            <a:gdLst/>
            <a:ahLst/>
            <a:rect l="0" t="0" r="r" b="b"/>
            <a:pathLst>
              <a:path w="29105" h="14183">
                <a:moveTo>
                  <a:pt x="0" y="0"/>
                </a:moveTo>
                <a:lnTo>
                  <a:pt x="29105" y="0"/>
                </a:lnTo>
                <a:lnTo>
                  <a:pt x="29105" y="14183"/>
                </a:lnTo>
                <a:lnTo>
                  <a:pt x="0" y="141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" name=""/>
          <p:cNvSpPr/>
          <p:nvPr/>
        </p:nvSpPr>
        <p:spPr>
          <a:xfrm>
            <a:off x="5765400" y="1332000"/>
            <a:ext cx="13320" cy="4974840"/>
          </a:xfrm>
          <a:custGeom>
            <a:avLst/>
            <a:gdLst/>
            <a:ahLst/>
            <a:rect l="0" t="0" r="r" b="b"/>
            <a:pathLst>
              <a:path w="37" h="13819">
                <a:moveTo>
                  <a:pt x="37" y="0"/>
                </a:moveTo>
                <a:lnTo>
                  <a:pt x="37" y="109"/>
                </a:lnTo>
                <a:lnTo>
                  <a:pt x="0" y="109"/>
                </a:lnTo>
                <a:lnTo>
                  <a:pt x="0" y="0"/>
                </a:lnTo>
                <a:lnTo>
                  <a:pt x="37" y="0"/>
                </a:lnTo>
                <a:moveTo>
                  <a:pt x="37" y="218"/>
                </a:moveTo>
                <a:lnTo>
                  <a:pt x="37" y="328"/>
                </a:lnTo>
                <a:lnTo>
                  <a:pt x="0" y="328"/>
                </a:lnTo>
                <a:lnTo>
                  <a:pt x="0" y="218"/>
                </a:lnTo>
                <a:lnTo>
                  <a:pt x="37" y="218"/>
                </a:lnTo>
                <a:moveTo>
                  <a:pt x="37" y="437"/>
                </a:moveTo>
                <a:lnTo>
                  <a:pt x="37" y="546"/>
                </a:lnTo>
                <a:lnTo>
                  <a:pt x="0" y="546"/>
                </a:lnTo>
                <a:lnTo>
                  <a:pt x="0" y="437"/>
                </a:lnTo>
                <a:lnTo>
                  <a:pt x="37" y="437"/>
                </a:lnTo>
                <a:moveTo>
                  <a:pt x="37" y="655"/>
                </a:moveTo>
                <a:lnTo>
                  <a:pt x="37" y="764"/>
                </a:lnTo>
                <a:lnTo>
                  <a:pt x="0" y="764"/>
                </a:lnTo>
                <a:lnTo>
                  <a:pt x="0" y="655"/>
                </a:lnTo>
                <a:lnTo>
                  <a:pt x="37" y="655"/>
                </a:lnTo>
                <a:moveTo>
                  <a:pt x="37" y="873"/>
                </a:moveTo>
                <a:lnTo>
                  <a:pt x="37" y="982"/>
                </a:lnTo>
                <a:lnTo>
                  <a:pt x="0" y="982"/>
                </a:lnTo>
                <a:lnTo>
                  <a:pt x="0" y="873"/>
                </a:lnTo>
                <a:lnTo>
                  <a:pt x="37" y="873"/>
                </a:lnTo>
                <a:moveTo>
                  <a:pt x="37" y="1091"/>
                </a:moveTo>
                <a:lnTo>
                  <a:pt x="37" y="1200"/>
                </a:lnTo>
                <a:lnTo>
                  <a:pt x="0" y="1200"/>
                </a:lnTo>
                <a:lnTo>
                  <a:pt x="0" y="1091"/>
                </a:lnTo>
                <a:lnTo>
                  <a:pt x="37" y="1091"/>
                </a:lnTo>
                <a:moveTo>
                  <a:pt x="37" y="1309"/>
                </a:moveTo>
                <a:lnTo>
                  <a:pt x="37" y="1418"/>
                </a:lnTo>
                <a:lnTo>
                  <a:pt x="0" y="1418"/>
                </a:lnTo>
                <a:lnTo>
                  <a:pt x="0" y="1309"/>
                </a:lnTo>
                <a:lnTo>
                  <a:pt x="37" y="1309"/>
                </a:lnTo>
                <a:moveTo>
                  <a:pt x="37" y="1528"/>
                </a:moveTo>
                <a:lnTo>
                  <a:pt x="37" y="1637"/>
                </a:lnTo>
                <a:lnTo>
                  <a:pt x="0" y="1637"/>
                </a:lnTo>
                <a:lnTo>
                  <a:pt x="0" y="1528"/>
                </a:lnTo>
                <a:lnTo>
                  <a:pt x="37" y="1528"/>
                </a:lnTo>
                <a:moveTo>
                  <a:pt x="37" y="1746"/>
                </a:moveTo>
                <a:lnTo>
                  <a:pt x="37" y="1855"/>
                </a:lnTo>
                <a:lnTo>
                  <a:pt x="0" y="1855"/>
                </a:lnTo>
                <a:lnTo>
                  <a:pt x="0" y="1746"/>
                </a:lnTo>
                <a:lnTo>
                  <a:pt x="37" y="1746"/>
                </a:lnTo>
                <a:moveTo>
                  <a:pt x="37" y="1964"/>
                </a:moveTo>
                <a:lnTo>
                  <a:pt x="37" y="2073"/>
                </a:lnTo>
                <a:lnTo>
                  <a:pt x="0" y="2073"/>
                </a:lnTo>
                <a:lnTo>
                  <a:pt x="0" y="1964"/>
                </a:lnTo>
                <a:lnTo>
                  <a:pt x="37" y="1964"/>
                </a:lnTo>
                <a:moveTo>
                  <a:pt x="37" y="2182"/>
                </a:moveTo>
                <a:lnTo>
                  <a:pt x="37" y="2291"/>
                </a:lnTo>
                <a:lnTo>
                  <a:pt x="0" y="2291"/>
                </a:lnTo>
                <a:lnTo>
                  <a:pt x="0" y="2182"/>
                </a:lnTo>
                <a:lnTo>
                  <a:pt x="37" y="2182"/>
                </a:lnTo>
                <a:moveTo>
                  <a:pt x="37" y="2400"/>
                </a:moveTo>
                <a:lnTo>
                  <a:pt x="37" y="2509"/>
                </a:lnTo>
                <a:lnTo>
                  <a:pt x="0" y="2509"/>
                </a:lnTo>
                <a:lnTo>
                  <a:pt x="0" y="2400"/>
                </a:lnTo>
                <a:lnTo>
                  <a:pt x="37" y="2400"/>
                </a:lnTo>
                <a:moveTo>
                  <a:pt x="37" y="2618"/>
                </a:moveTo>
                <a:lnTo>
                  <a:pt x="37" y="2728"/>
                </a:lnTo>
                <a:lnTo>
                  <a:pt x="0" y="2728"/>
                </a:lnTo>
                <a:lnTo>
                  <a:pt x="0" y="2618"/>
                </a:lnTo>
                <a:lnTo>
                  <a:pt x="37" y="2618"/>
                </a:lnTo>
                <a:moveTo>
                  <a:pt x="37" y="2837"/>
                </a:moveTo>
                <a:lnTo>
                  <a:pt x="37" y="2946"/>
                </a:lnTo>
                <a:lnTo>
                  <a:pt x="0" y="2946"/>
                </a:lnTo>
                <a:lnTo>
                  <a:pt x="0" y="2837"/>
                </a:lnTo>
                <a:lnTo>
                  <a:pt x="37" y="2837"/>
                </a:lnTo>
                <a:moveTo>
                  <a:pt x="37" y="3055"/>
                </a:moveTo>
                <a:lnTo>
                  <a:pt x="37" y="3164"/>
                </a:lnTo>
                <a:lnTo>
                  <a:pt x="0" y="3164"/>
                </a:lnTo>
                <a:lnTo>
                  <a:pt x="0" y="3055"/>
                </a:lnTo>
                <a:lnTo>
                  <a:pt x="37" y="3055"/>
                </a:lnTo>
                <a:moveTo>
                  <a:pt x="37" y="3274"/>
                </a:moveTo>
                <a:lnTo>
                  <a:pt x="37" y="3383"/>
                </a:lnTo>
                <a:lnTo>
                  <a:pt x="0" y="3383"/>
                </a:lnTo>
                <a:lnTo>
                  <a:pt x="0" y="3274"/>
                </a:lnTo>
                <a:lnTo>
                  <a:pt x="37" y="3274"/>
                </a:lnTo>
                <a:moveTo>
                  <a:pt x="37" y="3492"/>
                </a:moveTo>
                <a:lnTo>
                  <a:pt x="37" y="3601"/>
                </a:lnTo>
                <a:lnTo>
                  <a:pt x="0" y="3601"/>
                </a:lnTo>
                <a:lnTo>
                  <a:pt x="0" y="3492"/>
                </a:lnTo>
                <a:lnTo>
                  <a:pt x="37" y="3492"/>
                </a:lnTo>
                <a:moveTo>
                  <a:pt x="37" y="3710"/>
                </a:moveTo>
                <a:lnTo>
                  <a:pt x="37" y="3819"/>
                </a:lnTo>
                <a:lnTo>
                  <a:pt x="0" y="3819"/>
                </a:lnTo>
                <a:lnTo>
                  <a:pt x="0" y="3710"/>
                </a:lnTo>
                <a:lnTo>
                  <a:pt x="37" y="3710"/>
                </a:lnTo>
                <a:moveTo>
                  <a:pt x="37" y="3929"/>
                </a:moveTo>
                <a:lnTo>
                  <a:pt x="37" y="4038"/>
                </a:lnTo>
                <a:lnTo>
                  <a:pt x="0" y="4038"/>
                </a:lnTo>
                <a:lnTo>
                  <a:pt x="0" y="3929"/>
                </a:lnTo>
                <a:lnTo>
                  <a:pt x="37" y="3929"/>
                </a:lnTo>
                <a:moveTo>
                  <a:pt x="37" y="4147"/>
                </a:moveTo>
                <a:lnTo>
                  <a:pt x="37" y="4256"/>
                </a:lnTo>
                <a:lnTo>
                  <a:pt x="0" y="4256"/>
                </a:lnTo>
                <a:lnTo>
                  <a:pt x="0" y="4147"/>
                </a:lnTo>
                <a:lnTo>
                  <a:pt x="37" y="4147"/>
                </a:lnTo>
                <a:moveTo>
                  <a:pt x="37" y="4365"/>
                </a:moveTo>
                <a:lnTo>
                  <a:pt x="37" y="4474"/>
                </a:lnTo>
                <a:lnTo>
                  <a:pt x="0" y="4474"/>
                </a:lnTo>
                <a:lnTo>
                  <a:pt x="0" y="4365"/>
                </a:lnTo>
                <a:lnTo>
                  <a:pt x="37" y="4365"/>
                </a:lnTo>
                <a:moveTo>
                  <a:pt x="37" y="4583"/>
                </a:moveTo>
                <a:lnTo>
                  <a:pt x="37" y="4692"/>
                </a:lnTo>
                <a:lnTo>
                  <a:pt x="0" y="4692"/>
                </a:lnTo>
                <a:lnTo>
                  <a:pt x="0" y="4583"/>
                </a:lnTo>
                <a:lnTo>
                  <a:pt x="37" y="4583"/>
                </a:lnTo>
                <a:moveTo>
                  <a:pt x="37" y="4801"/>
                </a:moveTo>
                <a:lnTo>
                  <a:pt x="37" y="4910"/>
                </a:lnTo>
                <a:lnTo>
                  <a:pt x="0" y="4910"/>
                </a:lnTo>
                <a:lnTo>
                  <a:pt x="0" y="4801"/>
                </a:lnTo>
                <a:lnTo>
                  <a:pt x="37" y="4801"/>
                </a:lnTo>
                <a:moveTo>
                  <a:pt x="37" y="5019"/>
                </a:moveTo>
                <a:lnTo>
                  <a:pt x="37" y="5128"/>
                </a:lnTo>
                <a:lnTo>
                  <a:pt x="0" y="5128"/>
                </a:lnTo>
                <a:lnTo>
                  <a:pt x="0" y="5019"/>
                </a:lnTo>
                <a:lnTo>
                  <a:pt x="37" y="5019"/>
                </a:lnTo>
                <a:moveTo>
                  <a:pt x="37" y="5238"/>
                </a:moveTo>
                <a:lnTo>
                  <a:pt x="37" y="5347"/>
                </a:lnTo>
                <a:lnTo>
                  <a:pt x="0" y="5347"/>
                </a:lnTo>
                <a:lnTo>
                  <a:pt x="0" y="5238"/>
                </a:lnTo>
                <a:lnTo>
                  <a:pt x="37" y="5238"/>
                </a:lnTo>
                <a:moveTo>
                  <a:pt x="37" y="5456"/>
                </a:moveTo>
                <a:lnTo>
                  <a:pt x="37" y="5565"/>
                </a:lnTo>
                <a:lnTo>
                  <a:pt x="0" y="5565"/>
                </a:lnTo>
                <a:lnTo>
                  <a:pt x="0" y="5456"/>
                </a:lnTo>
                <a:lnTo>
                  <a:pt x="37" y="5456"/>
                </a:lnTo>
                <a:moveTo>
                  <a:pt x="37" y="5674"/>
                </a:moveTo>
                <a:lnTo>
                  <a:pt x="37" y="5783"/>
                </a:lnTo>
                <a:lnTo>
                  <a:pt x="0" y="5783"/>
                </a:lnTo>
                <a:lnTo>
                  <a:pt x="0" y="5674"/>
                </a:lnTo>
                <a:lnTo>
                  <a:pt x="37" y="5674"/>
                </a:lnTo>
                <a:moveTo>
                  <a:pt x="37" y="5892"/>
                </a:moveTo>
                <a:lnTo>
                  <a:pt x="37" y="6001"/>
                </a:lnTo>
                <a:lnTo>
                  <a:pt x="0" y="6001"/>
                </a:lnTo>
                <a:lnTo>
                  <a:pt x="0" y="5892"/>
                </a:lnTo>
                <a:lnTo>
                  <a:pt x="37" y="5892"/>
                </a:lnTo>
                <a:moveTo>
                  <a:pt x="37" y="6110"/>
                </a:moveTo>
                <a:lnTo>
                  <a:pt x="37" y="6219"/>
                </a:lnTo>
                <a:lnTo>
                  <a:pt x="0" y="6219"/>
                </a:lnTo>
                <a:lnTo>
                  <a:pt x="0" y="6110"/>
                </a:lnTo>
                <a:lnTo>
                  <a:pt x="37" y="6110"/>
                </a:lnTo>
                <a:moveTo>
                  <a:pt x="37" y="6328"/>
                </a:moveTo>
                <a:lnTo>
                  <a:pt x="37" y="6438"/>
                </a:lnTo>
                <a:lnTo>
                  <a:pt x="0" y="6438"/>
                </a:lnTo>
                <a:lnTo>
                  <a:pt x="0" y="6328"/>
                </a:lnTo>
                <a:lnTo>
                  <a:pt x="37" y="6328"/>
                </a:lnTo>
                <a:moveTo>
                  <a:pt x="37" y="6547"/>
                </a:moveTo>
                <a:lnTo>
                  <a:pt x="37" y="6656"/>
                </a:lnTo>
                <a:lnTo>
                  <a:pt x="0" y="6656"/>
                </a:lnTo>
                <a:lnTo>
                  <a:pt x="0" y="6547"/>
                </a:lnTo>
                <a:lnTo>
                  <a:pt x="37" y="6547"/>
                </a:lnTo>
                <a:moveTo>
                  <a:pt x="37" y="6765"/>
                </a:moveTo>
                <a:lnTo>
                  <a:pt x="37" y="6874"/>
                </a:lnTo>
                <a:lnTo>
                  <a:pt x="0" y="6874"/>
                </a:lnTo>
                <a:lnTo>
                  <a:pt x="0" y="6765"/>
                </a:lnTo>
                <a:lnTo>
                  <a:pt x="37" y="6765"/>
                </a:lnTo>
                <a:moveTo>
                  <a:pt x="37" y="6983"/>
                </a:moveTo>
                <a:lnTo>
                  <a:pt x="37" y="7092"/>
                </a:lnTo>
                <a:lnTo>
                  <a:pt x="0" y="7092"/>
                </a:lnTo>
                <a:lnTo>
                  <a:pt x="0" y="6983"/>
                </a:lnTo>
                <a:lnTo>
                  <a:pt x="37" y="6983"/>
                </a:lnTo>
                <a:moveTo>
                  <a:pt x="37" y="7201"/>
                </a:moveTo>
                <a:lnTo>
                  <a:pt x="37" y="7310"/>
                </a:lnTo>
                <a:lnTo>
                  <a:pt x="0" y="7310"/>
                </a:lnTo>
                <a:lnTo>
                  <a:pt x="0" y="7201"/>
                </a:lnTo>
                <a:lnTo>
                  <a:pt x="37" y="7201"/>
                </a:lnTo>
                <a:moveTo>
                  <a:pt x="37" y="7419"/>
                </a:moveTo>
                <a:lnTo>
                  <a:pt x="37" y="7528"/>
                </a:lnTo>
                <a:lnTo>
                  <a:pt x="0" y="7528"/>
                </a:lnTo>
                <a:lnTo>
                  <a:pt x="0" y="7419"/>
                </a:lnTo>
                <a:lnTo>
                  <a:pt x="37" y="7419"/>
                </a:lnTo>
                <a:moveTo>
                  <a:pt x="37" y="7638"/>
                </a:moveTo>
                <a:lnTo>
                  <a:pt x="37" y="7747"/>
                </a:lnTo>
                <a:lnTo>
                  <a:pt x="0" y="7747"/>
                </a:lnTo>
                <a:lnTo>
                  <a:pt x="0" y="7638"/>
                </a:lnTo>
                <a:lnTo>
                  <a:pt x="37" y="7638"/>
                </a:lnTo>
                <a:moveTo>
                  <a:pt x="37" y="7856"/>
                </a:moveTo>
                <a:lnTo>
                  <a:pt x="37" y="7965"/>
                </a:lnTo>
                <a:lnTo>
                  <a:pt x="0" y="7965"/>
                </a:lnTo>
                <a:lnTo>
                  <a:pt x="0" y="7856"/>
                </a:lnTo>
                <a:lnTo>
                  <a:pt x="37" y="7856"/>
                </a:lnTo>
                <a:moveTo>
                  <a:pt x="37" y="8074"/>
                </a:moveTo>
                <a:lnTo>
                  <a:pt x="37" y="8183"/>
                </a:lnTo>
                <a:lnTo>
                  <a:pt x="0" y="8183"/>
                </a:lnTo>
                <a:lnTo>
                  <a:pt x="0" y="8074"/>
                </a:lnTo>
                <a:lnTo>
                  <a:pt x="37" y="8074"/>
                </a:lnTo>
                <a:moveTo>
                  <a:pt x="37" y="8292"/>
                </a:moveTo>
                <a:lnTo>
                  <a:pt x="37" y="8401"/>
                </a:lnTo>
                <a:lnTo>
                  <a:pt x="0" y="8401"/>
                </a:lnTo>
                <a:lnTo>
                  <a:pt x="0" y="8292"/>
                </a:lnTo>
                <a:lnTo>
                  <a:pt x="37" y="8292"/>
                </a:lnTo>
                <a:moveTo>
                  <a:pt x="37" y="8510"/>
                </a:moveTo>
                <a:lnTo>
                  <a:pt x="37" y="8619"/>
                </a:lnTo>
                <a:lnTo>
                  <a:pt x="0" y="8619"/>
                </a:lnTo>
                <a:lnTo>
                  <a:pt x="0" y="8510"/>
                </a:lnTo>
                <a:lnTo>
                  <a:pt x="37" y="8510"/>
                </a:lnTo>
                <a:moveTo>
                  <a:pt x="37" y="8728"/>
                </a:moveTo>
                <a:lnTo>
                  <a:pt x="37" y="8838"/>
                </a:lnTo>
                <a:lnTo>
                  <a:pt x="0" y="8838"/>
                </a:lnTo>
                <a:lnTo>
                  <a:pt x="0" y="8728"/>
                </a:lnTo>
                <a:lnTo>
                  <a:pt x="37" y="8728"/>
                </a:lnTo>
                <a:moveTo>
                  <a:pt x="37" y="8947"/>
                </a:moveTo>
                <a:lnTo>
                  <a:pt x="37" y="9056"/>
                </a:lnTo>
                <a:lnTo>
                  <a:pt x="0" y="9056"/>
                </a:lnTo>
                <a:lnTo>
                  <a:pt x="0" y="8947"/>
                </a:lnTo>
                <a:lnTo>
                  <a:pt x="37" y="8947"/>
                </a:lnTo>
                <a:moveTo>
                  <a:pt x="37" y="9165"/>
                </a:moveTo>
                <a:lnTo>
                  <a:pt x="37" y="9274"/>
                </a:lnTo>
                <a:lnTo>
                  <a:pt x="0" y="9274"/>
                </a:lnTo>
                <a:lnTo>
                  <a:pt x="0" y="9165"/>
                </a:lnTo>
                <a:lnTo>
                  <a:pt x="37" y="9165"/>
                </a:lnTo>
                <a:moveTo>
                  <a:pt x="37" y="9383"/>
                </a:moveTo>
                <a:lnTo>
                  <a:pt x="37" y="9492"/>
                </a:lnTo>
                <a:lnTo>
                  <a:pt x="0" y="9492"/>
                </a:lnTo>
                <a:lnTo>
                  <a:pt x="0" y="9383"/>
                </a:lnTo>
                <a:lnTo>
                  <a:pt x="37" y="9383"/>
                </a:lnTo>
                <a:moveTo>
                  <a:pt x="37" y="9601"/>
                </a:moveTo>
                <a:lnTo>
                  <a:pt x="37" y="9710"/>
                </a:lnTo>
                <a:lnTo>
                  <a:pt x="0" y="9710"/>
                </a:lnTo>
                <a:lnTo>
                  <a:pt x="0" y="9601"/>
                </a:lnTo>
                <a:lnTo>
                  <a:pt x="37" y="9601"/>
                </a:lnTo>
                <a:moveTo>
                  <a:pt x="37" y="9819"/>
                </a:moveTo>
                <a:lnTo>
                  <a:pt x="37" y="9928"/>
                </a:lnTo>
                <a:lnTo>
                  <a:pt x="0" y="9928"/>
                </a:lnTo>
                <a:lnTo>
                  <a:pt x="0" y="9819"/>
                </a:lnTo>
                <a:lnTo>
                  <a:pt x="37" y="9819"/>
                </a:lnTo>
                <a:moveTo>
                  <a:pt x="37" y="10038"/>
                </a:moveTo>
                <a:lnTo>
                  <a:pt x="37" y="10147"/>
                </a:lnTo>
                <a:lnTo>
                  <a:pt x="0" y="10147"/>
                </a:lnTo>
                <a:lnTo>
                  <a:pt x="0" y="10038"/>
                </a:lnTo>
                <a:lnTo>
                  <a:pt x="37" y="10038"/>
                </a:lnTo>
                <a:moveTo>
                  <a:pt x="37" y="10256"/>
                </a:moveTo>
                <a:lnTo>
                  <a:pt x="37" y="10365"/>
                </a:lnTo>
                <a:lnTo>
                  <a:pt x="0" y="10365"/>
                </a:lnTo>
                <a:lnTo>
                  <a:pt x="0" y="10256"/>
                </a:lnTo>
                <a:lnTo>
                  <a:pt x="37" y="10256"/>
                </a:lnTo>
                <a:moveTo>
                  <a:pt x="37" y="10474"/>
                </a:moveTo>
                <a:lnTo>
                  <a:pt x="37" y="10583"/>
                </a:lnTo>
                <a:lnTo>
                  <a:pt x="0" y="10583"/>
                </a:lnTo>
                <a:lnTo>
                  <a:pt x="0" y="10474"/>
                </a:lnTo>
                <a:lnTo>
                  <a:pt x="37" y="10474"/>
                </a:lnTo>
                <a:moveTo>
                  <a:pt x="37" y="10692"/>
                </a:moveTo>
                <a:lnTo>
                  <a:pt x="37" y="10801"/>
                </a:lnTo>
                <a:lnTo>
                  <a:pt x="0" y="10801"/>
                </a:lnTo>
                <a:lnTo>
                  <a:pt x="0" y="10692"/>
                </a:lnTo>
                <a:lnTo>
                  <a:pt x="37" y="10692"/>
                </a:lnTo>
                <a:moveTo>
                  <a:pt x="37" y="10910"/>
                </a:moveTo>
                <a:lnTo>
                  <a:pt x="37" y="11019"/>
                </a:lnTo>
                <a:lnTo>
                  <a:pt x="0" y="11019"/>
                </a:lnTo>
                <a:lnTo>
                  <a:pt x="0" y="10910"/>
                </a:lnTo>
                <a:lnTo>
                  <a:pt x="37" y="10910"/>
                </a:lnTo>
                <a:moveTo>
                  <a:pt x="37" y="11128"/>
                </a:moveTo>
                <a:lnTo>
                  <a:pt x="37" y="11238"/>
                </a:lnTo>
                <a:lnTo>
                  <a:pt x="0" y="11238"/>
                </a:lnTo>
                <a:lnTo>
                  <a:pt x="0" y="11128"/>
                </a:lnTo>
                <a:lnTo>
                  <a:pt x="37" y="11128"/>
                </a:lnTo>
                <a:moveTo>
                  <a:pt x="37" y="11347"/>
                </a:moveTo>
                <a:lnTo>
                  <a:pt x="37" y="11456"/>
                </a:lnTo>
                <a:lnTo>
                  <a:pt x="0" y="11456"/>
                </a:lnTo>
                <a:lnTo>
                  <a:pt x="0" y="11347"/>
                </a:lnTo>
                <a:lnTo>
                  <a:pt x="37" y="11347"/>
                </a:lnTo>
                <a:moveTo>
                  <a:pt x="37" y="11565"/>
                </a:moveTo>
                <a:lnTo>
                  <a:pt x="37" y="11674"/>
                </a:lnTo>
                <a:lnTo>
                  <a:pt x="0" y="11674"/>
                </a:lnTo>
                <a:lnTo>
                  <a:pt x="0" y="11565"/>
                </a:lnTo>
                <a:lnTo>
                  <a:pt x="37" y="11565"/>
                </a:lnTo>
                <a:moveTo>
                  <a:pt x="37" y="11783"/>
                </a:moveTo>
                <a:lnTo>
                  <a:pt x="37" y="11892"/>
                </a:lnTo>
                <a:lnTo>
                  <a:pt x="0" y="11892"/>
                </a:lnTo>
                <a:lnTo>
                  <a:pt x="0" y="11783"/>
                </a:lnTo>
                <a:lnTo>
                  <a:pt x="37" y="11783"/>
                </a:lnTo>
                <a:moveTo>
                  <a:pt x="37" y="12001"/>
                </a:moveTo>
                <a:lnTo>
                  <a:pt x="37" y="12110"/>
                </a:lnTo>
                <a:lnTo>
                  <a:pt x="0" y="12110"/>
                </a:lnTo>
                <a:lnTo>
                  <a:pt x="0" y="12001"/>
                </a:lnTo>
                <a:lnTo>
                  <a:pt x="37" y="12001"/>
                </a:lnTo>
                <a:moveTo>
                  <a:pt x="37" y="12219"/>
                </a:moveTo>
                <a:lnTo>
                  <a:pt x="37" y="12328"/>
                </a:lnTo>
                <a:lnTo>
                  <a:pt x="0" y="12328"/>
                </a:lnTo>
                <a:lnTo>
                  <a:pt x="0" y="12219"/>
                </a:lnTo>
                <a:lnTo>
                  <a:pt x="37" y="12219"/>
                </a:lnTo>
                <a:moveTo>
                  <a:pt x="37" y="12438"/>
                </a:moveTo>
                <a:lnTo>
                  <a:pt x="37" y="12547"/>
                </a:lnTo>
                <a:lnTo>
                  <a:pt x="0" y="12547"/>
                </a:lnTo>
                <a:lnTo>
                  <a:pt x="0" y="12438"/>
                </a:lnTo>
                <a:lnTo>
                  <a:pt x="37" y="12438"/>
                </a:lnTo>
                <a:moveTo>
                  <a:pt x="37" y="12656"/>
                </a:moveTo>
                <a:lnTo>
                  <a:pt x="37" y="12765"/>
                </a:lnTo>
                <a:lnTo>
                  <a:pt x="0" y="12765"/>
                </a:lnTo>
                <a:lnTo>
                  <a:pt x="0" y="12656"/>
                </a:lnTo>
                <a:lnTo>
                  <a:pt x="37" y="12656"/>
                </a:lnTo>
                <a:moveTo>
                  <a:pt x="37" y="12874"/>
                </a:moveTo>
                <a:lnTo>
                  <a:pt x="37" y="12983"/>
                </a:lnTo>
                <a:lnTo>
                  <a:pt x="0" y="12983"/>
                </a:lnTo>
                <a:lnTo>
                  <a:pt x="0" y="12874"/>
                </a:lnTo>
                <a:lnTo>
                  <a:pt x="37" y="12874"/>
                </a:lnTo>
                <a:moveTo>
                  <a:pt x="37" y="13092"/>
                </a:moveTo>
                <a:lnTo>
                  <a:pt x="37" y="13201"/>
                </a:lnTo>
                <a:lnTo>
                  <a:pt x="0" y="13201"/>
                </a:lnTo>
                <a:lnTo>
                  <a:pt x="0" y="13092"/>
                </a:lnTo>
                <a:lnTo>
                  <a:pt x="37" y="13092"/>
                </a:lnTo>
                <a:moveTo>
                  <a:pt x="37" y="13310"/>
                </a:moveTo>
                <a:lnTo>
                  <a:pt x="37" y="13419"/>
                </a:lnTo>
                <a:lnTo>
                  <a:pt x="0" y="13419"/>
                </a:lnTo>
                <a:lnTo>
                  <a:pt x="0" y="13310"/>
                </a:lnTo>
                <a:lnTo>
                  <a:pt x="37" y="13310"/>
                </a:lnTo>
                <a:moveTo>
                  <a:pt x="37" y="13528"/>
                </a:moveTo>
                <a:lnTo>
                  <a:pt x="37" y="13637"/>
                </a:lnTo>
                <a:lnTo>
                  <a:pt x="0" y="13637"/>
                </a:lnTo>
                <a:lnTo>
                  <a:pt x="0" y="13528"/>
                </a:lnTo>
                <a:lnTo>
                  <a:pt x="37" y="13528"/>
                </a:lnTo>
                <a:moveTo>
                  <a:pt x="37" y="13747"/>
                </a:moveTo>
                <a:lnTo>
                  <a:pt x="37" y="13819"/>
                </a:lnTo>
                <a:lnTo>
                  <a:pt x="0" y="13819"/>
                </a:lnTo>
                <a:lnTo>
                  <a:pt x="0" y="13747"/>
                </a:lnTo>
                <a:lnTo>
                  <a:pt x="37" y="13747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" name=""/>
          <p:cNvSpPr/>
          <p:nvPr/>
        </p:nvSpPr>
        <p:spPr>
          <a:xfrm>
            <a:off x="79524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6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6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4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1" y="1120"/>
                  <a:pt x="53" y="1112"/>
                </a:cubicBezTo>
                <a:cubicBezTo>
                  <a:pt x="45" y="1103"/>
                  <a:pt x="37" y="1094"/>
                  <a:pt x="30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1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7299720" y="49356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3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4" name=""/>
          <p:cNvSpPr/>
          <p:nvPr/>
        </p:nvSpPr>
        <p:spPr>
          <a:xfrm>
            <a:off x="991440" y="199980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0"/>
                </a:cubicBezTo>
                <a:cubicBezTo>
                  <a:pt x="11936" y="37"/>
                  <a:pt x="11945" y="46"/>
                  <a:pt x="11954" y="54"/>
                </a:cubicBezTo>
                <a:cubicBezTo>
                  <a:pt x="11962" y="62"/>
                  <a:pt x="11970" y="72"/>
                  <a:pt x="11976" y="82"/>
                </a:cubicBezTo>
                <a:cubicBezTo>
                  <a:pt x="11983" y="92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9"/>
                  <a:pt x="12007" y="171"/>
                  <a:pt x="12007" y="183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4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2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2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4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2" y="159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2"/>
                  <a:pt x="31" y="82"/>
                </a:cubicBezTo>
                <a:cubicBezTo>
                  <a:pt x="38" y="72"/>
                  <a:pt x="45" y="62"/>
                  <a:pt x="54" y="54"/>
                </a:cubicBezTo>
                <a:cubicBezTo>
                  <a:pt x="62" y="46"/>
                  <a:pt x="71" y="37"/>
                  <a:pt x="81" y="30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5" name=""/>
          <p:cNvSpPr/>
          <p:nvPr/>
        </p:nvSpPr>
        <p:spPr>
          <a:xfrm>
            <a:off x="114876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4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7"/>
                  <a:pt x="474" y="947"/>
                </a:cubicBezTo>
                <a:cubicBezTo>
                  <a:pt x="443" y="947"/>
                  <a:pt x="412" y="943"/>
                  <a:pt x="382" y="937"/>
                </a:cubicBezTo>
                <a:cubicBezTo>
                  <a:pt x="351" y="931"/>
                  <a:pt x="322" y="922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2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2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960920" y="1474200"/>
            <a:ext cx="2378160" cy="183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チャットでコードを書かせる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125388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1613880" y="21182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質問・指⽰をチャットで⼊⼒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9" name=""/>
          <p:cNvSpPr/>
          <p:nvPr/>
        </p:nvSpPr>
        <p:spPr>
          <a:xfrm>
            <a:off x="3152520" y="257580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0" name=""/>
          <p:cNvSpPr/>
          <p:nvPr/>
        </p:nvSpPr>
        <p:spPr>
          <a:xfrm>
            <a:off x="305424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1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2" name=""/>
          <p:cNvSpPr/>
          <p:nvPr/>
        </p:nvSpPr>
        <p:spPr>
          <a:xfrm>
            <a:off x="991440" y="279828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3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8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7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7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8"/>
                  <a:pt x="113" y="14"/>
                </a:cubicBezTo>
                <a:cubicBezTo>
                  <a:pt x="124" y="9"/>
                  <a:pt x="135" y="6"/>
                  <a:pt x="147" y="3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3" name=""/>
          <p:cNvSpPr/>
          <p:nvPr/>
        </p:nvSpPr>
        <p:spPr>
          <a:xfrm>
            <a:off x="114876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6"/>
                </a:cubicBezTo>
                <a:cubicBezTo>
                  <a:pt x="185" y="849"/>
                  <a:pt x="162" y="829"/>
                  <a:pt x="140" y="807"/>
                </a:cubicBezTo>
                <a:cubicBezTo>
                  <a:pt x="118" y="785"/>
                  <a:pt x="97" y="761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1613880" y="233136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「〇〇を作って」と都度依頼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258560" y="3025800"/>
            <a:ext cx="1173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2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AI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613880" y="2916720"/>
            <a:ext cx="157644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コードをテキストで提案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7" name=""/>
          <p:cNvSpPr/>
          <p:nvPr/>
        </p:nvSpPr>
        <p:spPr>
          <a:xfrm>
            <a:off x="3152520" y="337428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8" name=""/>
          <p:cNvSpPr/>
          <p:nvPr/>
        </p:nvSpPr>
        <p:spPr>
          <a:xfrm>
            <a:off x="305424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3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19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0" name=""/>
          <p:cNvSpPr/>
          <p:nvPr/>
        </p:nvSpPr>
        <p:spPr>
          <a:xfrm>
            <a:off x="991440" y="359676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9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7"/>
                  <a:pt x="11945" y="45"/>
                  <a:pt x="11954" y="53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2"/>
                </a:cubicBezTo>
                <a:cubicBezTo>
                  <a:pt x="11998" y="123"/>
                  <a:pt x="12001" y="135"/>
                  <a:pt x="12003" y="146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6"/>
                  <a:pt x="11998" y="1478"/>
                  <a:pt x="11993" y="1489"/>
                </a:cubicBezTo>
                <a:cubicBezTo>
                  <a:pt x="11989" y="1500"/>
                  <a:pt x="11983" y="1510"/>
                  <a:pt x="11976" y="1520"/>
                </a:cubicBezTo>
                <a:cubicBezTo>
                  <a:pt x="11970" y="1530"/>
                  <a:pt x="11962" y="1539"/>
                  <a:pt x="11954" y="1548"/>
                </a:cubicBezTo>
                <a:cubicBezTo>
                  <a:pt x="11945" y="1556"/>
                  <a:pt x="11936" y="1564"/>
                  <a:pt x="11926" y="1570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0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39"/>
                  <a:pt x="38" y="1530"/>
                  <a:pt x="31" y="1520"/>
                </a:cubicBezTo>
                <a:cubicBezTo>
                  <a:pt x="24" y="1510"/>
                  <a:pt x="19" y="1500"/>
                  <a:pt x="14" y="1489"/>
                </a:cubicBezTo>
                <a:cubicBezTo>
                  <a:pt x="10" y="1478"/>
                  <a:pt x="6" y="1466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6"/>
                </a:cubicBezTo>
                <a:cubicBezTo>
                  <a:pt x="6" y="135"/>
                  <a:pt x="10" y="123"/>
                  <a:pt x="14" y="112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3"/>
                </a:cubicBezTo>
                <a:cubicBezTo>
                  <a:pt x="62" y="45"/>
                  <a:pt x="71" y="37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9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1" name=""/>
          <p:cNvSpPr/>
          <p:nvPr/>
        </p:nvSpPr>
        <p:spPr>
          <a:xfrm>
            <a:off x="114876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4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6" y="830"/>
                  <a:pt x="763" y="850"/>
                  <a:pt x="737" y="867"/>
                </a:cubicBezTo>
                <a:cubicBezTo>
                  <a:pt x="711" y="884"/>
                  <a:pt x="684" y="899"/>
                  <a:pt x="655" y="911"/>
                </a:cubicBezTo>
                <a:cubicBezTo>
                  <a:pt x="626" y="923"/>
                  <a:pt x="597" y="932"/>
                  <a:pt x="566" y="938"/>
                </a:cubicBezTo>
                <a:cubicBezTo>
                  <a:pt x="536" y="944"/>
                  <a:pt x="505" y="947"/>
                  <a:pt x="474" y="947"/>
                </a:cubicBezTo>
                <a:cubicBezTo>
                  <a:pt x="443" y="947"/>
                  <a:pt x="412" y="944"/>
                  <a:pt x="382" y="938"/>
                </a:cubicBezTo>
                <a:cubicBezTo>
                  <a:pt x="351" y="932"/>
                  <a:pt x="322" y="923"/>
                  <a:pt x="293" y="911"/>
                </a:cubicBezTo>
                <a:cubicBezTo>
                  <a:pt x="264" y="899"/>
                  <a:pt x="237" y="884"/>
                  <a:pt x="211" y="867"/>
                </a:cubicBezTo>
                <a:cubicBezTo>
                  <a:pt x="185" y="850"/>
                  <a:pt x="162" y="830"/>
                  <a:pt x="140" y="808"/>
                </a:cubicBezTo>
                <a:cubicBezTo>
                  <a:pt x="118" y="786"/>
                  <a:pt x="97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5"/>
                  <a:pt x="118" y="161"/>
                  <a:pt x="140" y="139"/>
                </a:cubicBezTo>
                <a:cubicBezTo>
                  <a:pt x="162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6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6"/>
                  <a:pt x="626" y="24"/>
                  <a:pt x="655" y="36"/>
                </a:cubicBezTo>
                <a:cubicBezTo>
                  <a:pt x="684" y="48"/>
                  <a:pt x="711" y="63"/>
                  <a:pt x="737" y="80"/>
                </a:cubicBezTo>
                <a:cubicBezTo>
                  <a:pt x="763" y="97"/>
                  <a:pt x="786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1613880" y="312984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ファイルは⾃動更新されない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1253880" y="381240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613880" y="3715560"/>
            <a:ext cx="153684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コピー</a:t>
            </a:r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&amp;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ペーストで反映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5" name=""/>
          <p:cNvSpPr/>
          <p:nvPr/>
        </p:nvSpPr>
        <p:spPr>
          <a:xfrm>
            <a:off x="3152520" y="4172760"/>
            <a:ext cx="0" cy="222480"/>
          </a:xfrm>
          <a:prstGeom prst="line">
            <a:avLst/>
          </a:prstGeom>
          <a:ln w="19440">
            <a:solidFill>
              <a:srgbClr val="94A3B8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6" name=""/>
          <p:cNvSpPr/>
          <p:nvPr/>
        </p:nvSpPr>
        <p:spPr>
          <a:xfrm>
            <a:off x="305424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3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7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8" name=""/>
          <p:cNvSpPr/>
          <p:nvPr/>
        </p:nvSpPr>
        <p:spPr>
          <a:xfrm>
            <a:off x="991440" y="4395240"/>
            <a:ext cx="4322520" cy="576360"/>
          </a:xfrm>
          <a:custGeom>
            <a:avLst/>
            <a:gdLst/>
            <a:ahLst/>
            <a:rect l="0" t="0" r="r" b="b"/>
            <a:pathLst>
              <a:path w="12007" h="1601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1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1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419"/>
                </a:lnTo>
                <a:cubicBezTo>
                  <a:pt x="12007" y="1431"/>
                  <a:pt x="12006" y="1443"/>
                  <a:pt x="12003" y="1455"/>
                </a:cubicBezTo>
                <a:cubicBezTo>
                  <a:pt x="12001" y="1467"/>
                  <a:pt x="11998" y="1478"/>
                  <a:pt x="11993" y="1489"/>
                </a:cubicBezTo>
                <a:cubicBezTo>
                  <a:pt x="11989" y="1500"/>
                  <a:pt x="11983" y="1511"/>
                  <a:pt x="11976" y="1520"/>
                </a:cubicBezTo>
                <a:cubicBezTo>
                  <a:pt x="11970" y="1530"/>
                  <a:pt x="11962" y="1540"/>
                  <a:pt x="11954" y="1548"/>
                </a:cubicBezTo>
                <a:cubicBezTo>
                  <a:pt x="11945" y="1556"/>
                  <a:pt x="11936" y="1564"/>
                  <a:pt x="11926" y="1571"/>
                </a:cubicBezTo>
                <a:cubicBezTo>
                  <a:pt x="11916" y="1577"/>
                  <a:pt x="11906" y="1583"/>
                  <a:pt x="11895" y="1587"/>
                </a:cubicBezTo>
                <a:cubicBezTo>
                  <a:pt x="11884" y="1592"/>
                  <a:pt x="11872" y="1595"/>
                  <a:pt x="11861" y="1598"/>
                </a:cubicBezTo>
                <a:cubicBezTo>
                  <a:pt x="11849" y="1600"/>
                  <a:pt x="11837" y="1601"/>
                  <a:pt x="11825" y="1601"/>
                </a:cubicBezTo>
                <a:lnTo>
                  <a:pt x="182" y="1601"/>
                </a:lnTo>
                <a:cubicBezTo>
                  <a:pt x="170" y="1601"/>
                  <a:pt x="159" y="1600"/>
                  <a:pt x="147" y="1598"/>
                </a:cubicBezTo>
                <a:cubicBezTo>
                  <a:pt x="135" y="1595"/>
                  <a:pt x="124" y="1592"/>
                  <a:pt x="113" y="1587"/>
                </a:cubicBezTo>
                <a:cubicBezTo>
                  <a:pt x="102" y="1583"/>
                  <a:pt x="91" y="1577"/>
                  <a:pt x="81" y="1571"/>
                </a:cubicBezTo>
                <a:cubicBezTo>
                  <a:pt x="71" y="1564"/>
                  <a:pt x="62" y="1556"/>
                  <a:pt x="54" y="1548"/>
                </a:cubicBezTo>
                <a:cubicBezTo>
                  <a:pt x="45" y="1540"/>
                  <a:pt x="38" y="1530"/>
                  <a:pt x="31" y="1520"/>
                </a:cubicBezTo>
                <a:cubicBezTo>
                  <a:pt x="24" y="1511"/>
                  <a:pt x="19" y="1500"/>
                  <a:pt x="14" y="1489"/>
                </a:cubicBezTo>
                <a:cubicBezTo>
                  <a:pt x="10" y="1478"/>
                  <a:pt x="6" y="1467"/>
                  <a:pt x="4" y="1455"/>
                </a:cubicBezTo>
                <a:cubicBezTo>
                  <a:pt x="2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1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1"/>
                  <a:pt x="170" y="0"/>
                  <a:pt x="182" y="0"/>
                </a:cubicBezTo>
                <a:close/>
              </a:path>
            </a:pathLst>
          </a:custGeom>
          <a:noFill/>
          <a:ln w="12960">
            <a:solidFill>
              <a:srgbClr val="CBD5E1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29" name=""/>
          <p:cNvSpPr/>
          <p:nvPr/>
        </p:nvSpPr>
        <p:spPr>
          <a:xfrm>
            <a:off x="114876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4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6" y="829"/>
                  <a:pt x="763" y="849"/>
                  <a:pt x="737" y="866"/>
                </a:cubicBezTo>
                <a:cubicBezTo>
                  <a:pt x="711" y="884"/>
                  <a:pt x="684" y="898"/>
                  <a:pt x="655" y="910"/>
                </a:cubicBezTo>
                <a:cubicBezTo>
                  <a:pt x="626" y="922"/>
                  <a:pt x="597" y="931"/>
                  <a:pt x="566" y="937"/>
                </a:cubicBezTo>
                <a:cubicBezTo>
                  <a:pt x="536" y="943"/>
                  <a:pt x="505" y="946"/>
                  <a:pt x="474" y="946"/>
                </a:cubicBezTo>
                <a:cubicBezTo>
                  <a:pt x="443" y="946"/>
                  <a:pt x="412" y="943"/>
                  <a:pt x="382" y="937"/>
                </a:cubicBezTo>
                <a:cubicBezTo>
                  <a:pt x="351" y="931"/>
                  <a:pt x="322" y="922"/>
                  <a:pt x="293" y="910"/>
                </a:cubicBezTo>
                <a:cubicBezTo>
                  <a:pt x="264" y="898"/>
                  <a:pt x="237" y="884"/>
                  <a:pt x="211" y="866"/>
                </a:cubicBezTo>
                <a:cubicBezTo>
                  <a:pt x="185" y="849"/>
                  <a:pt x="162" y="829"/>
                  <a:pt x="140" y="808"/>
                </a:cubicBezTo>
                <a:cubicBezTo>
                  <a:pt x="118" y="786"/>
                  <a:pt x="97" y="762"/>
                  <a:pt x="80" y="736"/>
                </a:cubicBezTo>
                <a:cubicBezTo>
                  <a:pt x="62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0"/>
                </a:cubicBezTo>
                <a:cubicBezTo>
                  <a:pt x="97" y="184"/>
                  <a:pt x="118" y="160"/>
                  <a:pt x="140" y="138"/>
                </a:cubicBezTo>
                <a:cubicBezTo>
                  <a:pt x="162" y="116"/>
                  <a:pt x="185" y="96"/>
                  <a:pt x="211" y="79"/>
                </a:cubicBezTo>
                <a:cubicBezTo>
                  <a:pt x="237" y="62"/>
                  <a:pt x="264" y="47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6" y="9"/>
                </a:cubicBezTo>
                <a:cubicBezTo>
                  <a:pt x="597" y="15"/>
                  <a:pt x="626" y="24"/>
                  <a:pt x="655" y="36"/>
                </a:cubicBezTo>
                <a:cubicBezTo>
                  <a:pt x="684" y="47"/>
                  <a:pt x="711" y="62"/>
                  <a:pt x="737" y="79"/>
                </a:cubicBezTo>
                <a:cubicBezTo>
                  <a:pt x="763" y="96"/>
                  <a:pt x="786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4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1613880" y="3928320"/>
            <a:ext cx="144684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⼿作業でファイルに貼り付け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253880" y="46108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613880" y="4514040"/>
            <a:ext cx="186300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実⾏して動作確認・修正依頼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3" name=""/>
          <p:cNvSpPr/>
          <p:nvPr/>
        </p:nvSpPr>
        <p:spPr>
          <a:xfrm>
            <a:off x="53136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0" y="6655"/>
                </a:moveTo>
                <a:cubicBezTo>
                  <a:pt x="656" y="6655"/>
                  <a:pt x="656" y="0"/>
                  <a:pt x="0" y="0"/>
                </a:cubicBezTo>
              </a:path>
            </a:pathLst>
          </a:custGeom>
          <a:ln w="19440">
            <a:solidFill>
              <a:srgbClr val="DC2626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4" name=""/>
          <p:cNvSpPr/>
          <p:nvPr/>
        </p:nvSpPr>
        <p:spPr>
          <a:xfrm>
            <a:off x="5215320" y="218952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547"/>
                </a:moveTo>
                <a:lnTo>
                  <a:pt x="0" y="274"/>
                </a:lnTo>
                <a:lnTo>
                  <a:pt x="547" y="0"/>
                </a:lnTo>
                <a:lnTo>
                  <a:pt x="547" y="547"/>
                </a:lnTo>
                <a:close/>
              </a:path>
            </a:pathLst>
          </a:custGeom>
          <a:solidFill>
            <a:srgbClr val="DC262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613880" y="4726800"/>
            <a:ext cx="15580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結果を⾒てまたチャットへ戻る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6" name=""/>
          <p:cNvSpPr/>
          <p:nvPr/>
        </p:nvSpPr>
        <p:spPr>
          <a:xfrm>
            <a:off x="991440" y="5193720"/>
            <a:ext cx="4322520" cy="524160"/>
          </a:xfrm>
          <a:custGeom>
            <a:avLst/>
            <a:gdLst/>
            <a:ahLst/>
            <a:rect l="0" t="0" r="r" b="b"/>
            <a:pathLst>
              <a:path w="12007" h="1456">
                <a:moveTo>
                  <a:pt x="182" y="0"/>
                </a:moveTo>
                <a:lnTo>
                  <a:pt x="11825" y="0"/>
                </a:lnTo>
                <a:cubicBezTo>
                  <a:pt x="11837" y="0"/>
                  <a:pt x="11849" y="2"/>
                  <a:pt x="11861" y="4"/>
                </a:cubicBezTo>
                <a:cubicBezTo>
                  <a:pt x="11872" y="6"/>
                  <a:pt x="11884" y="10"/>
                  <a:pt x="11895" y="14"/>
                </a:cubicBezTo>
                <a:cubicBezTo>
                  <a:pt x="11906" y="19"/>
                  <a:pt x="11916" y="24"/>
                  <a:pt x="11926" y="31"/>
                </a:cubicBezTo>
                <a:cubicBezTo>
                  <a:pt x="11936" y="38"/>
                  <a:pt x="11945" y="45"/>
                  <a:pt x="11954" y="54"/>
                </a:cubicBezTo>
                <a:cubicBezTo>
                  <a:pt x="11962" y="62"/>
                  <a:pt x="11970" y="71"/>
                  <a:pt x="11976" y="81"/>
                </a:cubicBezTo>
                <a:cubicBezTo>
                  <a:pt x="11983" y="91"/>
                  <a:pt x="11989" y="102"/>
                  <a:pt x="11993" y="113"/>
                </a:cubicBezTo>
                <a:cubicBezTo>
                  <a:pt x="11998" y="124"/>
                  <a:pt x="12001" y="135"/>
                  <a:pt x="12003" y="147"/>
                </a:cubicBezTo>
                <a:cubicBezTo>
                  <a:pt x="12006" y="158"/>
                  <a:pt x="12007" y="170"/>
                  <a:pt x="12007" y="182"/>
                </a:cubicBezTo>
                <a:lnTo>
                  <a:pt x="12007" y="1274"/>
                </a:lnTo>
                <a:cubicBezTo>
                  <a:pt x="12007" y="1286"/>
                  <a:pt x="12006" y="1298"/>
                  <a:pt x="12003" y="1310"/>
                </a:cubicBezTo>
                <a:cubicBezTo>
                  <a:pt x="12001" y="1321"/>
                  <a:pt x="11998" y="1333"/>
                  <a:pt x="11993" y="1344"/>
                </a:cubicBezTo>
                <a:cubicBezTo>
                  <a:pt x="11989" y="1355"/>
                  <a:pt x="11983" y="1365"/>
                  <a:pt x="11976" y="1375"/>
                </a:cubicBezTo>
                <a:cubicBezTo>
                  <a:pt x="11970" y="1385"/>
                  <a:pt x="11962" y="1394"/>
                  <a:pt x="11954" y="1403"/>
                </a:cubicBezTo>
                <a:cubicBezTo>
                  <a:pt x="11945" y="1411"/>
                  <a:pt x="11936" y="1419"/>
                  <a:pt x="11926" y="1425"/>
                </a:cubicBezTo>
                <a:cubicBezTo>
                  <a:pt x="11916" y="1432"/>
                  <a:pt x="11906" y="1438"/>
                  <a:pt x="11895" y="1442"/>
                </a:cubicBezTo>
                <a:cubicBezTo>
                  <a:pt x="11884" y="1447"/>
                  <a:pt x="11872" y="1450"/>
                  <a:pt x="11861" y="1452"/>
                </a:cubicBezTo>
                <a:cubicBezTo>
                  <a:pt x="11849" y="1455"/>
                  <a:pt x="11837" y="1456"/>
                  <a:pt x="11825" y="1456"/>
                </a:cubicBezTo>
                <a:lnTo>
                  <a:pt x="182" y="1456"/>
                </a:lnTo>
                <a:cubicBezTo>
                  <a:pt x="170" y="1456"/>
                  <a:pt x="159" y="1455"/>
                  <a:pt x="147" y="1452"/>
                </a:cubicBezTo>
                <a:cubicBezTo>
                  <a:pt x="135" y="1450"/>
                  <a:pt x="124" y="1447"/>
                  <a:pt x="113" y="1442"/>
                </a:cubicBezTo>
                <a:cubicBezTo>
                  <a:pt x="102" y="1438"/>
                  <a:pt x="91" y="1432"/>
                  <a:pt x="81" y="1425"/>
                </a:cubicBezTo>
                <a:cubicBezTo>
                  <a:pt x="71" y="1419"/>
                  <a:pt x="62" y="1411"/>
                  <a:pt x="54" y="1403"/>
                </a:cubicBezTo>
                <a:cubicBezTo>
                  <a:pt x="45" y="1394"/>
                  <a:pt x="38" y="1385"/>
                  <a:pt x="31" y="1375"/>
                </a:cubicBezTo>
                <a:cubicBezTo>
                  <a:pt x="24" y="1365"/>
                  <a:pt x="19" y="1355"/>
                  <a:pt x="14" y="1344"/>
                </a:cubicBezTo>
                <a:cubicBezTo>
                  <a:pt x="10" y="1333"/>
                  <a:pt x="6" y="1321"/>
                  <a:pt x="4" y="1310"/>
                </a:cubicBezTo>
                <a:cubicBezTo>
                  <a:pt x="2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2" y="158"/>
                  <a:pt x="4" y="147"/>
                </a:cubicBezTo>
                <a:cubicBezTo>
                  <a:pt x="6" y="135"/>
                  <a:pt x="10" y="124"/>
                  <a:pt x="14" y="113"/>
                </a:cubicBezTo>
                <a:cubicBezTo>
                  <a:pt x="19" y="102"/>
                  <a:pt x="24" y="91"/>
                  <a:pt x="31" y="81"/>
                </a:cubicBezTo>
                <a:cubicBezTo>
                  <a:pt x="38" y="71"/>
                  <a:pt x="45" y="62"/>
                  <a:pt x="54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2" y="19"/>
                  <a:pt x="113" y="14"/>
                </a:cubicBezTo>
                <a:cubicBezTo>
                  <a:pt x="124" y="10"/>
                  <a:pt x="135" y="6"/>
                  <a:pt x="147" y="4"/>
                </a:cubicBezTo>
                <a:cubicBezTo>
                  <a:pt x="159" y="2"/>
                  <a:pt x="170" y="0"/>
                  <a:pt x="182" y="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7" name=""/>
          <p:cNvSpPr/>
          <p:nvPr/>
        </p:nvSpPr>
        <p:spPr>
          <a:xfrm>
            <a:off x="984960" y="5187240"/>
            <a:ext cx="4335480" cy="537120"/>
          </a:xfrm>
          <a:custGeom>
            <a:avLst/>
            <a:gdLst/>
            <a:ahLst/>
            <a:rect l="0" t="0" r="r" b="b"/>
            <a:pathLst>
              <a:path w="12043" h="1492">
                <a:moveTo>
                  <a:pt x="419" y="0"/>
                </a:moveTo>
                <a:lnTo>
                  <a:pt x="528" y="0"/>
                </a:lnTo>
                <a:lnTo>
                  <a:pt x="528" y="37"/>
                </a:lnTo>
                <a:lnTo>
                  <a:pt x="419" y="37"/>
                </a:lnTo>
                <a:lnTo>
                  <a:pt x="419" y="0"/>
                </a:lnTo>
                <a:moveTo>
                  <a:pt x="637" y="0"/>
                </a:moveTo>
                <a:lnTo>
                  <a:pt x="746" y="0"/>
                </a:lnTo>
                <a:lnTo>
                  <a:pt x="746" y="37"/>
                </a:lnTo>
                <a:lnTo>
                  <a:pt x="637" y="37"/>
                </a:lnTo>
                <a:lnTo>
                  <a:pt x="637" y="0"/>
                </a:lnTo>
                <a:moveTo>
                  <a:pt x="855" y="0"/>
                </a:moveTo>
                <a:lnTo>
                  <a:pt x="964" y="0"/>
                </a:lnTo>
                <a:lnTo>
                  <a:pt x="964" y="37"/>
                </a:lnTo>
                <a:lnTo>
                  <a:pt x="855" y="37"/>
                </a:lnTo>
                <a:lnTo>
                  <a:pt x="855" y="0"/>
                </a:lnTo>
                <a:moveTo>
                  <a:pt x="1073" y="0"/>
                </a:moveTo>
                <a:lnTo>
                  <a:pt x="1183" y="0"/>
                </a:lnTo>
                <a:lnTo>
                  <a:pt x="1183" y="37"/>
                </a:lnTo>
                <a:lnTo>
                  <a:pt x="1073" y="37"/>
                </a:lnTo>
                <a:lnTo>
                  <a:pt x="1073" y="0"/>
                </a:lnTo>
                <a:moveTo>
                  <a:pt x="1292" y="0"/>
                </a:moveTo>
                <a:lnTo>
                  <a:pt x="1401" y="0"/>
                </a:lnTo>
                <a:lnTo>
                  <a:pt x="1401" y="37"/>
                </a:lnTo>
                <a:lnTo>
                  <a:pt x="1292" y="37"/>
                </a:lnTo>
                <a:lnTo>
                  <a:pt x="1292" y="0"/>
                </a:lnTo>
                <a:moveTo>
                  <a:pt x="1510" y="0"/>
                </a:moveTo>
                <a:lnTo>
                  <a:pt x="1619" y="0"/>
                </a:lnTo>
                <a:lnTo>
                  <a:pt x="1619" y="37"/>
                </a:lnTo>
                <a:lnTo>
                  <a:pt x="1510" y="37"/>
                </a:lnTo>
                <a:lnTo>
                  <a:pt x="1510" y="0"/>
                </a:lnTo>
                <a:moveTo>
                  <a:pt x="1728" y="0"/>
                </a:moveTo>
                <a:lnTo>
                  <a:pt x="1837" y="0"/>
                </a:lnTo>
                <a:lnTo>
                  <a:pt x="1837" y="37"/>
                </a:lnTo>
                <a:lnTo>
                  <a:pt x="1728" y="37"/>
                </a:lnTo>
                <a:lnTo>
                  <a:pt x="1728" y="0"/>
                </a:lnTo>
                <a:moveTo>
                  <a:pt x="1947" y="0"/>
                </a:moveTo>
                <a:lnTo>
                  <a:pt x="2056" y="0"/>
                </a:lnTo>
                <a:lnTo>
                  <a:pt x="2056" y="37"/>
                </a:lnTo>
                <a:lnTo>
                  <a:pt x="1947" y="37"/>
                </a:lnTo>
                <a:lnTo>
                  <a:pt x="1947" y="0"/>
                </a:lnTo>
                <a:moveTo>
                  <a:pt x="2165" y="0"/>
                </a:moveTo>
                <a:lnTo>
                  <a:pt x="2274" y="0"/>
                </a:lnTo>
                <a:lnTo>
                  <a:pt x="2274" y="37"/>
                </a:lnTo>
                <a:lnTo>
                  <a:pt x="2165" y="37"/>
                </a:lnTo>
                <a:lnTo>
                  <a:pt x="2165" y="0"/>
                </a:lnTo>
                <a:moveTo>
                  <a:pt x="2383" y="0"/>
                </a:moveTo>
                <a:lnTo>
                  <a:pt x="2492" y="0"/>
                </a:lnTo>
                <a:lnTo>
                  <a:pt x="2492" y="37"/>
                </a:lnTo>
                <a:lnTo>
                  <a:pt x="2383" y="37"/>
                </a:lnTo>
                <a:lnTo>
                  <a:pt x="2383" y="0"/>
                </a:lnTo>
                <a:moveTo>
                  <a:pt x="2601" y="0"/>
                </a:moveTo>
                <a:lnTo>
                  <a:pt x="2711" y="0"/>
                </a:lnTo>
                <a:lnTo>
                  <a:pt x="2711" y="37"/>
                </a:lnTo>
                <a:lnTo>
                  <a:pt x="2601" y="37"/>
                </a:lnTo>
                <a:lnTo>
                  <a:pt x="2601" y="0"/>
                </a:lnTo>
                <a:moveTo>
                  <a:pt x="2820" y="0"/>
                </a:moveTo>
                <a:lnTo>
                  <a:pt x="2929" y="0"/>
                </a:lnTo>
                <a:lnTo>
                  <a:pt x="2929" y="37"/>
                </a:lnTo>
                <a:lnTo>
                  <a:pt x="2820" y="37"/>
                </a:lnTo>
                <a:lnTo>
                  <a:pt x="2820" y="0"/>
                </a:lnTo>
                <a:moveTo>
                  <a:pt x="3038" y="0"/>
                </a:moveTo>
                <a:lnTo>
                  <a:pt x="3147" y="0"/>
                </a:lnTo>
                <a:lnTo>
                  <a:pt x="3147" y="37"/>
                </a:lnTo>
                <a:lnTo>
                  <a:pt x="3038" y="37"/>
                </a:lnTo>
                <a:lnTo>
                  <a:pt x="3038" y="0"/>
                </a:lnTo>
                <a:moveTo>
                  <a:pt x="3256" y="0"/>
                </a:moveTo>
                <a:lnTo>
                  <a:pt x="3366" y="0"/>
                </a:lnTo>
                <a:lnTo>
                  <a:pt x="3366" y="37"/>
                </a:lnTo>
                <a:lnTo>
                  <a:pt x="3256" y="37"/>
                </a:lnTo>
                <a:lnTo>
                  <a:pt x="3256" y="0"/>
                </a:lnTo>
                <a:moveTo>
                  <a:pt x="3476" y="0"/>
                </a:moveTo>
                <a:lnTo>
                  <a:pt x="3585" y="0"/>
                </a:lnTo>
                <a:lnTo>
                  <a:pt x="3585" y="37"/>
                </a:lnTo>
                <a:lnTo>
                  <a:pt x="3476" y="37"/>
                </a:lnTo>
                <a:lnTo>
                  <a:pt x="3476" y="0"/>
                </a:lnTo>
                <a:moveTo>
                  <a:pt x="3694" y="0"/>
                </a:moveTo>
                <a:lnTo>
                  <a:pt x="3803" y="0"/>
                </a:lnTo>
                <a:lnTo>
                  <a:pt x="3803" y="37"/>
                </a:lnTo>
                <a:lnTo>
                  <a:pt x="3694" y="37"/>
                </a:lnTo>
                <a:lnTo>
                  <a:pt x="3694" y="0"/>
                </a:lnTo>
                <a:moveTo>
                  <a:pt x="3912" y="0"/>
                </a:moveTo>
                <a:lnTo>
                  <a:pt x="4021" y="0"/>
                </a:lnTo>
                <a:lnTo>
                  <a:pt x="4021" y="37"/>
                </a:lnTo>
                <a:lnTo>
                  <a:pt x="3912" y="37"/>
                </a:lnTo>
                <a:lnTo>
                  <a:pt x="3912" y="0"/>
                </a:lnTo>
                <a:moveTo>
                  <a:pt x="4130" y="0"/>
                </a:moveTo>
                <a:lnTo>
                  <a:pt x="4240" y="0"/>
                </a:lnTo>
                <a:lnTo>
                  <a:pt x="4240" y="37"/>
                </a:lnTo>
                <a:lnTo>
                  <a:pt x="4130" y="37"/>
                </a:lnTo>
                <a:lnTo>
                  <a:pt x="4130" y="0"/>
                </a:lnTo>
                <a:moveTo>
                  <a:pt x="4349" y="0"/>
                </a:moveTo>
                <a:lnTo>
                  <a:pt x="4458" y="0"/>
                </a:lnTo>
                <a:lnTo>
                  <a:pt x="4458" y="37"/>
                </a:lnTo>
                <a:lnTo>
                  <a:pt x="4349" y="37"/>
                </a:lnTo>
                <a:lnTo>
                  <a:pt x="4349" y="0"/>
                </a:lnTo>
                <a:moveTo>
                  <a:pt x="4567" y="0"/>
                </a:moveTo>
                <a:lnTo>
                  <a:pt x="4676" y="0"/>
                </a:lnTo>
                <a:lnTo>
                  <a:pt x="4676" y="37"/>
                </a:lnTo>
                <a:lnTo>
                  <a:pt x="4567" y="37"/>
                </a:lnTo>
                <a:lnTo>
                  <a:pt x="4567" y="0"/>
                </a:lnTo>
                <a:moveTo>
                  <a:pt x="4785" y="0"/>
                </a:moveTo>
                <a:lnTo>
                  <a:pt x="4894" y="0"/>
                </a:lnTo>
                <a:lnTo>
                  <a:pt x="4894" y="37"/>
                </a:lnTo>
                <a:lnTo>
                  <a:pt x="4785" y="37"/>
                </a:lnTo>
                <a:lnTo>
                  <a:pt x="4785" y="0"/>
                </a:lnTo>
                <a:moveTo>
                  <a:pt x="5004" y="0"/>
                </a:moveTo>
                <a:lnTo>
                  <a:pt x="5113" y="0"/>
                </a:lnTo>
                <a:lnTo>
                  <a:pt x="5113" y="37"/>
                </a:lnTo>
                <a:lnTo>
                  <a:pt x="5004" y="37"/>
                </a:lnTo>
                <a:lnTo>
                  <a:pt x="5004" y="0"/>
                </a:lnTo>
                <a:moveTo>
                  <a:pt x="5222" y="0"/>
                </a:moveTo>
                <a:lnTo>
                  <a:pt x="5331" y="0"/>
                </a:lnTo>
                <a:lnTo>
                  <a:pt x="5331" y="37"/>
                </a:lnTo>
                <a:lnTo>
                  <a:pt x="5222" y="37"/>
                </a:lnTo>
                <a:lnTo>
                  <a:pt x="5222" y="0"/>
                </a:lnTo>
                <a:moveTo>
                  <a:pt x="5440" y="0"/>
                </a:moveTo>
                <a:lnTo>
                  <a:pt x="5549" y="0"/>
                </a:lnTo>
                <a:lnTo>
                  <a:pt x="5549" y="37"/>
                </a:lnTo>
                <a:lnTo>
                  <a:pt x="5440" y="37"/>
                </a:lnTo>
                <a:lnTo>
                  <a:pt x="5440" y="0"/>
                </a:lnTo>
                <a:moveTo>
                  <a:pt x="5658" y="0"/>
                </a:moveTo>
                <a:lnTo>
                  <a:pt x="5768" y="0"/>
                </a:lnTo>
                <a:lnTo>
                  <a:pt x="5768" y="37"/>
                </a:lnTo>
                <a:lnTo>
                  <a:pt x="5658" y="37"/>
                </a:lnTo>
                <a:lnTo>
                  <a:pt x="5658" y="0"/>
                </a:lnTo>
                <a:moveTo>
                  <a:pt x="5877" y="0"/>
                </a:moveTo>
                <a:lnTo>
                  <a:pt x="5986" y="0"/>
                </a:lnTo>
                <a:lnTo>
                  <a:pt x="5986" y="37"/>
                </a:lnTo>
                <a:lnTo>
                  <a:pt x="5877" y="37"/>
                </a:lnTo>
                <a:lnTo>
                  <a:pt x="5877" y="0"/>
                </a:lnTo>
                <a:moveTo>
                  <a:pt x="6095" y="0"/>
                </a:moveTo>
                <a:lnTo>
                  <a:pt x="6204" y="0"/>
                </a:lnTo>
                <a:lnTo>
                  <a:pt x="6204" y="37"/>
                </a:lnTo>
                <a:lnTo>
                  <a:pt x="6095" y="37"/>
                </a:lnTo>
                <a:lnTo>
                  <a:pt x="6095" y="0"/>
                </a:lnTo>
                <a:moveTo>
                  <a:pt x="6313" y="0"/>
                </a:moveTo>
                <a:lnTo>
                  <a:pt x="6422" y="0"/>
                </a:lnTo>
                <a:lnTo>
                  <a:pt x="6422" y="37"/>
                </a:lnTo>
                <a:lnTo>
                  <a:pt x="6313" y="37"/>
                </a:lnTo>
                <a:lnTo>
                  <a:pt x="6313" y="0"/>
                </a:lnTo>
                <a:moveTo>
                  <a:pt x="6532" y="0"/>
                </a:moveTo>
                <a:lnTo>
                  <a:pt x="6641" y="0"/>
                </a:lnTo>
                <a:lnTo>
                  <a:pt x="6641" y="37"/>
                </a:lnTo>
                <a:lnTo>
                  <a:pt x="6532" y="37"/>
                </a:lnTo>
                <a:lnTo>
                  <a:pt x="6532" y="0"/>
                </a:lnTo>
                <a:moveTo>
                  <a:pt x="6750" y="0"/>
                </a:moveTo>
                <a:lnTo>
                  <a:pt x="6859" y="0"/>
                </a:lnTo>
                <a:lnTo>
                  <a:pt x="6859" y="37"/>
                </a:lnTo>
                <a:lnTo>
                  <a:pt x="6750" y="37"/>
                </a:lnTo>
                <a:lnTo>
                  <a:pt x="6750" y="0"/>
                </a:lnTo>
                <a:moveTo>
                  <a:pt x="6968" y="0"/>
                </a:moveTo>
                <a:lnTo>
                  <a:pt x="7077" y="0"/>
                </a:lnTo>
                <a:lnTo>
                  <a:pt x="7077" y="37"/>
                </a:lnTo>
                <a:lnTo>
                  <a:pt x="6968" y="37"/>
                </a:lnTo>
                <a:lnTo>
                  <a:pt x="6968" y="0"/>
                </a:lnTo>
                <a:moveTo>
                  <a:pt x="7186" y="0"/>
                </a:moveTo>
                <a:lnTo>
                  <a:pt x="7296" y="0"/>
                </a:lnTo>
                <a:lnTo>
                  <a:pt x="7296" y="37"/>
                </a:lnTo>
                <a:lnTo>
                  <a:pt x="7186" y="37"/>
                </a:lnTo>
                <a:lnTo>
                  <a:pt x="7186" y="0"/>
                </a:lnTo>
                <a:moveTo>
                  <a:pt x="7405" y="0"/>
                </a:moveTo>
                <a:lnTo>
                  <a:pt x="7514" y="0"/>
                </a:lnTo>
                <a:lnTo>
                  <a:pt x="7514" y="37"/>
                </a:lnTo>
                <a:lnTo>
                  <a:pt x="7405" y="37"/>
                </a:lnTo>
                <a:lnTo>
                  <a:pt x="7405" y="0"/>
                </a:lnTo>
                <a:moveTo>
                  <a:pt x="7623" y="0"/>
                </a:moveTo>
                <a:lnTo>
                  <a:pt x="7732" y="0"/>
                </a:lnTo>
                <a:lnTo>
                  <a:pt x="7732" y="37"/>
                </a:lnTo>
                <a:lnTo>
                  <a:pt x="7623" y="37"/>
                </a:lnTo>
                <a:lnTo>
                  <a:pt x="7623" y="0"/>
                </a:lnTo>
                <a:moveTo>
                  <a:pt x="7841" y="0"/>
                </a:moveTo>
                <a:lnTo>
                  <a:pt x="7950" y="0"/>
                </a:lnTo>
                <a:lnTo>
                  <a:pt x="7950" y="37"/>
                </a:lnTo>
                <a:lnTo>
                  <a:pt x="7841" y="37"/>
                </a:lnTo>
                <a:lnTo>
                  <a:pt x="7841" y="0"/>
                </a:lnTo>
                <a:moveTo>
                  <a:pt x="8059" y="0"/>
                </a:moveTo>
                <a:lnTo>
                  <a:pt x="8169" y="0"/>
                </a:lnTo>
                <a:lnTo>
                  <a:pt x="8169" y="37"/>
                </a:lnTo>
                <a:lnTo>
                  <a:pt x="8059" y="37"/>
                </a:lnTo>
                <a:lnTo>
                  <a:pt x="8059" y="0"/>
                </a:lnTo>
                <a:moveTo>
                  <a:pt x="8278" y="0"/>
                </a:moveTo>
                <a:lnTo>
                  <a:pt x="8387" y="0"/>
                </a:lnTo>
                <a:lnTo>
                  <a:pt x="8387" y="37"/>
                </a:lnTo>
                <a:lnTo>
                  <a:pt x="8278" y="37"/>
                </a:lnTo>
                <a:lnTo>
                  <a:pt x="8278" y="0"/>
                </a:lnTo>
                <a:moveTo>
                  <a:pt x="8496" y="0"/>
                </a:moveTo>
                <a:lnTo>
                  <a:pt x="8605" y="0"/>
                </a:lnTo>
                <a:lnTo>
                  <a:pt x="8605" y="37"/>
                </a:lnTo>
                <a:lnTo>
                  <a:pt x="8496" y="37"/>
                </a:lnTo>
                <a:lnTo>
                  <a:pt x="8496" y="0"/>
                </a:lnTo>
                <a:moveTo>
                  <a:pt x="8714" y="0"/>
                </a:moveTo>
                <a:lnTo>
                  <a:pt x="8823" y="0"/>
                </a:lnTo>
                <a:lnTo>
                  <a:pt x="8823" y="37"/>
                </a:lnTo>
                <a:lnTo>
                  <a:pt x="8714" y="37"/>
                </a:lnTo>
                <a:lnTo>
                  <a:pt x="8714" y="0"/>
                </a:lnTo>
                <a:moveTo>
                  <a:pt x="8933" y="0"/>
                </a:moveTo>
                <a:lnTo>
                  <a:pt x="9042" y="0"/>
                </a:lnTo>
                <a:lnTo>
                  <a:pt x="9042" y="37"/>
                </a:lnTo>
                <a:lnTo>
                  <a:pt x="8933" y="37"/>
                </a:lnTo>
                <a:lnTo>
                  <a:pt x="8933" y="0"/>
                </a:lnTo>
                <a:moveTo>
                  <a:pt x="9151" y="0"/>
                </a:moveTo>
                <a:lnTo>
                  <a:pt x="9260" y="0"/>
                </a:lnTo>
                <a:lnTo>
                  <a:pt x="9260" y="37"/>
                </a:lnTo>
                <a:lnTo>
                  <a:pt x="9151" y="37"/>
                </a:lnTo>
                <a:lnTo>
                  <a:pt x="9151" y="0"/>
                </a:lnTo>
                <a:moveTo>
                  <a:pt x="9369" y="0"/>
                </a:moveTo>
                <a:lnTo>
                  <a:pt x="9478" y="0"/>
                </a:lnTo>
                <a:lnTo>
                  <a:pt x="9478" y="37"/>
                </a:lnTo>
                <a:lnTo>
                  <a:pt x="9369" y="37"/>
                </a:lnTo>
                <a:lnTo>
                  <a:pt x="9369" y="0"/>
                </a:lnTo>
                <a:moveTo>
                  <a:pt x="9587" y="0"/>
                </a:moveTo>
                <a:lnTo>
                  <a:pt x="9697" y="0"/>
                </a:lnTo>
                <a:lnTo>
                  <a:pt x="9697" y="37"/>
                </a:lnTo>
                <a:lnTo>
                  <a:pt x="9587" y="37"/>
                </a:lnTo>
                <a:lnTo>
                  <a:pt x="9587" y="0"/>
                </a:lnTo>
                <a:moveTo>
                  <a:pt x="9806" y="0"/>
                </a:moveTo>
                <a:lnTo>
                  <a:pt x="9915" y="0"/>
                </a:lnTo>
                <a:lnTo>
                  <a:pt x="9915" y="37"/>
                </a:lnTo>
                <a:lnTo>
                  <a:pt x="9806" y="37"/>
                </a:lnTo>
                <a:lnTo>
                  <a:pt x="9806" y="0"/>
                </a:lnTo>
                <a:moveTo>
                  <a:pt x="10024" y="0"/>
                </a:moveTo>
                <a:lnTo>
                  <a:pt x="10133" y="0"/>
                </a:lnTo>
                <a:lnTo>
                  <a:pt x="10133" y="37"/>
                </a:lnTo>
                <a:lnTo>
                  <a:pt x="10024" y="37"/>
                </a:lnTo>
                <a:lnTo>
                  <a:pt x="10024" y="0"/>
                </a:lnTo>
                <a:moveTo>
                  <a:pt x="10242" y="0"/>
                </a:moveTo>
                <a:lnTo>
                  <a:pt x="10351" y="0"/>
                </a:lnTo>
                <a:lnTo>
                  <a:pt x="10351" y="37"/>
                </a:lnTo>
                <a:lnTo>
                  <a:pt x="10242" y="37"/>
                </a:lnTo>
                <a:lnTo>
                  <a:pt x="10242" y="0"/>
                </a:lnTo>
                <a:moveTo>
                  <a:pt x="10461" y="0"/>
                </a:moveTo>
                <a:lnTo>
                  <a:pt x="10570" y="0"/>
                </a:lnTo>
                <a:lnTo>
                  <a:pt x="10570" y="37"/>
                </a:lnTo>
                <a:lnTo>
                  <a:pt x="10461" y="37"/>
                </a:lnTo>
                <a:lnTo>
                  <a:pt x="10461" y="0"/>
                </a:lnTo>
                <a:moveTo>
                  <a:pt x="10679" y="0"/>
                </a:moveTo>
                <a:lnTo>
                  <a:pt x="10788" y="0"/>
                </a:lnTo>
                <a:lnTo>
                  <a:pt x="10788" y="37"/>
                </a:lnTo>
                <a:lnTo>
                  <a:pt x="10679" y="37"/>
                </a:lnTo>
                <a:lnTo>
                  <a:pt x="10679" y="0"/>
                </a:lnTo>
                <a:moveTo>
                  <a:pt x="10897" y="0"/>
                </a:moveTo>
                <a:lnTo>
                  <a:pt x="11006" y="0"/>
                </a:lnTo>
                <a:lnTo>
                  <a:pt x="11006" y="37"/>
                </a:lnTo>
                <a:lnTo>
                  <a:pt x="10897" y="37"/>
                </a:lnTo>
                <a:lnTo>
                  <a:pt x="10897" y="0"/>
                </a:lnTo>
                <a:moveTo>
                  <a:pt x="11115" y="0"/>
                </a:moveTo>
                <a:lnTo>
                  <a:pt x="11225" y="0"/>
                </a:lnTo>
                <a:lnTo>
                  <a:pt x="11225" y="37"/>
                </a:lnTo>
                <a:lnTo>
                  <a:pt x="11115" y="37"/>
                </a:lnTo>
                <a:lnTo>
                  <a:pt x="11115" y="0"/>
                </a:lnTo>
                <a:moveTo>
                  <a:pt x="11334" y="0"/>
                </a:moveTo>
                <a:lnTo>
                  <a:pt x="11443" y="0"/>
                </a:lnTo>
                <a:lnTo>
                  <a:pt x="11443" y="37"/>
                </a:lnTo>
                <a:lnTo>
                  <a:pt x="11334" y="37"/>
                </a:lnTo>
                <a:lnTo>
                  <a:pt x="11334" y="0"/>
                </a:lnTo>
                <a:moveTo>
                  <a:pt x="11552" y="0"/>
                </a:moveTo>
                <a:lnTo>
                  <a:pt x="11661" y="0"/>
                </a:lnTo>
                <a:lnTo>
                  <a:pt x="11661" y="37"/>
                </a:lnTo>
                <a:lnTo>
                  <a:pt x="11552" y="37"/>
                </a:lnTo>
                <a:lnTo>
                  <a:pt x="11552" y="0"/>
                </a:lnTo>
                <a:moveTo>
                  <a:pt x="11770" y="0"/>
                </a:moveTo>
                <a:lnTo>
                  <a:pt x="11843" y="0"/>
                </a:lnTo>
                <a:cubicBezTo>
                  <a:pt x="11856" y="0"/>
                  <a:pt x="11869" y="2"/>
                  <a:pt x="11882" y="4"/>
                </a:cubicBezTo>
                <a:lnTo>
                  <a:pt x="11875" y="40"/>
                </a:lnTo>
                <a:cubicBezTo>
                  <a:pt x="11864" y="38"/>
                  <a:pt x="11854" y="37"/>
                  <a:pt x="11843" y="37"/>
                </a:cubicBezTo>
                <a:lnTo>
                  <a:pt x="11770" y="37"/>
                </a:lnTo>
                <a:lnTo>
                  <a:pt x="11770" y="0"/>
                </a:lnTo>
                <a:moveTo>
                  <a:pt x="11987" y="62"/>
                </a:moveTo>
                <a:cubicBezTo>
                  <a:pt x="12016" y="92"/>
                  <a:pt x="12034" y="128"/>
                  <a:pt x="12041" y="169"/>
                </a:cubicBezTo>
                <a:lnTo>
                  <a:pt x="12005" y="175"/>
                </a:lnTo>
                <a:cubicBezTo>
                  <a:pt x="11999" y="141"/>
                  <a:pt x="11985" y="112"/>
                  <a:pt x="11961" y="87"/>
                </a:cubicBezTo>
                <a:lnTo>
                  <a:pt x="11987" y="62"/>
                </a:lnTo>
                <a:moveTo>
                  <a:pt x="12043" y="280"/>
                </a:moveTo>
                <a:lnTo>
                  <a:pt x="12043" y="389"/>
                </a:lnTo>
                <a:lnTo>
                  <a:pt x="12007" y="389"/>
                </a:lnTo>
                <a:lnTo>
                  <a:pt x="12007" y="280"/>
                </a:lnTo>
                <a:lnTo>
                  <a:pt x="12043" y="280"/>
                </a:lnTo>
                <a:moveTo>
                  <a:pt x="12043" y="498"/>
                </a:moveTo>
                <a:lnTo>
                  <a:pt x="12043" y="607"/>
                </a:lnTo>
                <a:lnTo>
                  <a:pt x="12007" y="607"/>
                </a:lnTo>
                <a:lnTo>
                  <a:pt x="12007" y="498"/>
                </a:lnTo>
                <a:lnTo>
                  <a:pt x="12043" y="498"/>
                </a:lnTo>
                <a:moveTo>
                  <a:pt x="12043" y="716"/>
                </a:moveTo>
                <a:lnTo>
                  <a:pt x="12043" y="826"/>
                </a:lnTo>
                <a:lnTo>
                  <a:pt x="12007" y="826"/>
                </a:lnTo>
                <a:lnTo>
                  <a:pt x="12007" y="716"/>
                </a:lnTo>
                <a:lnTo>
                  <a:pt x="12043" y="716"/>
                </a:lnTo>
                <a:moveTo>
                  <a:pt x="12043" y="935"/>
                </a:moveTo>
                <a:lnTo>
                  <a:pt x="12043" y="1044"/>
                </a:lnTo>
                <a:lnTo>
                  <a:pt x="12007" y="1044"/>
                </a:lnTo>
                <a:lnTo>
                  <a:pt x="12007" y="935"/>
                </a:lnTo>
                <a:lnTo>
                  <a:pt x="12043" y="935"/>
                </a:lnTo>
                <a:moveTo>
                  <a:pt x="12043" y="1153"/>
                </a:moveTo>
                <a:lnTo>
                  <a:pt x="12043" y="1263"/>
                </a:lnTo>
                <a:lnTo>
                  <a:pt x="12007" y="1263"/>
                </a:lnTo>
                <a:lnTo>
                  <a:pt x="12007" y="1153"/>
                </a:lnTo>
                <a:lnTo>
                  <a:pt x="12043" y="1153"/>
                </a:lnTo>
                <a:moveTo>
                  <a:pt x="12024" y="1377"/>
                </a:moveTo>
                <a:cubicBezTo>
                  <a:pt x="12006" y="1415"/>
                  <a:pt x="11979" y="1445"/>
                  <a:pt x="11943" y="1465"/>
                </a:cubicBezTo>
                <a:lnTo>
                  <a:pt x="11925" y="1434"/>
                </a:lnTo>
                <a:cubicBezTo>
                  <a:pt x="11954" y="1417"/>
                  <a:pt x="11977" y="1393"/>
                  <a:pt x="11991" y="1362"/>
                </a:cubicBezTo>
                <a:lnTo>
                  <a:pt x="12024" y="1377"/>
                </a:lnTo>
                <a:moveTo>
                  <a:pt x="11829" y="1492"/>
                </a:moveTo>
                <a:lnTo>
                  <a:pt x="11720" y="1492"/>
                </a:lnTo>
                <a:lnTo>
                  <a:pt x="11720" y="1456"/>
                </a:lnTo>
                <a:lnTo>
                  <a:pt x="11829" y="1456"/>
                </a:lnTo>
                <a:lnTo>
                  <a:pt x="11829" y="1492"/>
                </a:lnTo>
                <a:moveTo>
                  <a:pt x="11610" y="1492"/>
                </a:moveTo>
                <a:lnTo>
                  <a:pt x="11501" y="1492"/>
                </a:lnTo>
                <a:lnTo>
                  <a:pt x="11501" y="1456"/>
                </a:lnTo>
                <a:lnTo>
                  <a:pt x="11610" y="1456"/>
                </a:lnTo>
                <a:lnTo>
                  <a:pt x="11610" y="1492"/>
                </a:lnTo>
                <a:moveTo>
                  <a:pt x="11392" y="1492"/>
                </a:moveTo>
                <a:lnTo>
                  <a:pt x="11283" y="1492"/>
                </a:lnTo>
                <a:lnTo>
                  <a:pt x="11283" y="1456"/>
                </a:lnTo>
                <a:lnTo>
                  <a:pt x="11392" y="1456"/>
                </a:lnTo>
                <a:lnTo>
                  <a:pt x="11392" y="1492"/>
                </a:lnTo>
                <a:moveTo>
                  <a:pt x="11174" y="1492"/>
                </a:moveTo>
                <a:lnTo>
                  <a:pt x="11065" y="1492"/>
                </a:lnTo>
                <a:lnTo>
                  <a:pt x="11065" y="1456"/>
                </a:lnTo>
                <a:lnTo>
                  <a:pt x="11174" y="1456"/>
                </a:lnTo>
                <a:lnTo>
                  <a:pt x="11174" y="1492"/>
                </a:lnTo>
                <a:moveTo>
                  <a:pt x="10956" y="1492"/>
                </a:moveTo>
                <a:lnTo>
                  <a:pt x="10846" y="1492"/>
                </a:lnTo>
                <a:lnTo>
                  <a:pt x="10846" y="1456"/>
                </a:lnTo>
                <a:lnTo>
                  <a:pt x="10956" y="1456"/>
                </a:lnTo>
                <a:lnTo>
                  <a:pt x="10956" y="1492"/>
                </a:lnTo>
                <a:moveTo>
                  <a:pt x="10737" y="1492"/>
                </a:moveTo>
                <a:lnTo>
                  <a:pt x="10628" y="1492"/>
                </a:lnTo>
                <a:lnTo>
                  <a:pt x="10628" y="1456"/>
                </a:lnTo>
                <a:lnTo>
                  <a:pt x="10737" y="1456"/>
                </a:lnTo>
                <a:lnTo>
                  <a:pt x="10737" y="1492"/>
                </a:lnTo>
                <a:moveTo>
                  <a:pt x="10519" y="1492"/>
                </a:moveTo>
                <a:lnTo>
                  <a:pt x="10410" y="1492"/>
                </a:lnTo>
                <a:lnTo>
                  <a:pt x="10410" y="1456"/>
                </a:lnTo>
                <a:lnTo>
                  <a:pt x="10519" y="1456"/>
                </a:lnTo>
                <a:lnTo>
                  <a:pt x="10519" y="1492"/>
                </a:lnTo>
                <a:moveTo>
                  <a:pt x="10301" y="1492"/>
                </a:moveTo>
                <a:lnTo>
                  <a:pt x="10192" y="1492"/>
                </a:lnTo>
                <a:lnTo>
                  <a:pt x="10192" y="1456"/>
                </a:lnTo>
                <a:lnTo>
                  <a:pt x="10301" y="1456"/>
                </a:lnTo>
                <a:lnTo>
                  <a:pt x="10301" y="1492"/>
                </a:lnTo>
                <a:moveTo>
                  <a:pt x="10082" y="1492"/>
                </a:moveTo>
                <a:lnTo>
                  <a:pt x="9973" y="1492"/>
                </a:lnTo>
                <a:lnTo>
                  <a:pt x="9973" y="1456"/>
                </a:lnTo>
                <a:lnTo>
                  <a:pt x="10082" y="1456"/>
                </a:lnTo>
                <a:lnTo>
                  <a:pt x="10082" y="1492"/>
                </a:lnTo>
                <a:moveTo>
                  <a:pt x="9864" y="1492"/>
                </a:moveTo>
                <a:lnTo>
                  <a:pt x="9755" y="1492"/>
                </a:lnTo>
                <a:lnTo>
                  <a:pt x="9755" y="1456"/>
                </a:lnTo>
                <a:lnTo>
                  <a:pt x="9864" y="1456"/>
                </a:lnTo>
                <a:lnTo>
                  <a:pt x="9864" y="1492"/>
                </a:lnTo>
                <a:moveTo>
                  <a:pt x="9646" y="1492"/>
                </a:moveTo>
                <a:lnTo>
                  <a:pt x="9537" y="1492"/>
                </a:lnTo>
                <a:lnTo>
                  <a:pt x="9537" y="1456"/>
                </a:lnTo>
                <a:lnTo>
                  <a:pt x="9646" y="1456"/>
                </a:lnTo>
                <a:lnTo>
                  <a:pt x="9646" y="1492"/>
                </a:lnTo>
                <a:moveTo>
                  <a:pt x="9428" y="1492"/>
                </a:moveTo>
                <a:lnTo>
                  <a:pt x="9318" y="1492"/>
                </a:lnTo>
                <a:lnTo>
                  <a:pt x="9318" y="1456"/>
                </a:lnTo>
                <a:lnTo>
                  <a:pt x="9428" y="1456"/>
                </a:lnTo>
                <a:lnTo>
                  <a:pt x="9428" y="1492"/>
                </a:lnTo>
                <a:moveTo>
                  <a:pt x="9209" y="1492"/>
                </a:moveTo>
                <a:lnTo>
                  <a:pt x="9100" y="1492"/>
                </a:lnTo>
                <a:lnTo>
                  <a:pt x="9100" y="1456"/>
                </a:lnTo>
                <a:lnTo>
                  <a:pt x="9209" y="1456"/>
                </a:lnTo>
                <a:lnTo>
                  <a:pt x="9209" y="1492"/>
                </a:lnTo>
                <a:moveTo>
                  <a:pt x="8991" y="1492"/>
                </a:moveTo>
                <a:lnTo>
                  <a:pt x="8882" y="1492"/>
                </a:lnTo>
                <a:lnTo>
                  <a:pt x="8882" y="1456"/>
                </a:lnTo>
                <a:lnTo>
                  <a:pt x="8991" y="1456"/>
                </a:lnTo>
                <a:lnTo>
                  <a:pt x="8991" y="1492"/>
                </a:lnTo>
                <a:moveTo>
                  <a:pt x="8773" y="1492"/>
                </a:moveTo>
                <a:lnTo>
                  <a:pt x="8664" y="1492"/>
                </a:lnTo>
                <a:lnTo>
                  <a:pt x="8664" y="1456"/>
                </a:lnTo>
                <a:lnTo>
                  <a:pt x="8773" y="1456"/>
                </a:lnTo>
                <a:lnTo>
                  <a:pt x="8773" y="1492"/>
                </a:lnTo>
                <a:moveTo>
                  <a:pt x="8555" y="1492"/>
                </a:moveTo>
                <a:lnTo>
                  <a:pt x="8445" y="1492"/>
                </a:lnTo>
                <a:lnTo>
                  <a:pt x="8445" y="1456"/>
                </a:lnTo>
                <a:lnTo>
                  <a:pt x="8555" y="1456"/>
                </a:lnTo>
                <a:lnTo>
                  <a:pt x="8555" y="1492"/>
                </a:lnTo>
                <a:moveTo>
                  <a:pt x="8336" y="1492"/>
                </a:moveTo>
                <a:lnTo>
                  <a:pt x="8227" y="1492"/>
                </a:lnTo>
                <a:lnTo>
                  <a:pt x="8227" y="1456"/>
                </a:lnTo>
                <a:lnTo>
                  <a:pt x="8336" y="1456"/>
                </a:lnTo>
                <a:lnTo>
                  <a:pt x="8336" y="1492"/>
                </a:lnTo>
                <a:moveTo>
                  <a:pt x="8118" y="1492"/>
                </a:moveTo>
                <a:lnTo>
                  <a:pt x="8009" y="1492"/>
                </a:lnTo>
                <a:lnTo>
                  <a:pt x="8009" y="1456"/>
                </a:lnTo>
                <a:lnTo>
                  <a:pt x="8118" y="1456"/>
                </a:lnTo>
                <a:lnTo>
                  <a:pt x="8118" y="1492"/>
                </a:lnTo>
                <a:moveTo>
                  <a:pt x="7900" y="1492"/>
                </a:moveTo>
                <a:lnTo>
                  <a:pt x="7791" y="1492"/>
                </a:lnTo>
                <a:lnTo>
                  <a:pt x="7791" y="1456"/>
                </a:lnTo>
                <a:lnTo>
                  <a:pt x="7900" y="1456"/>
                </a:lnTo>
                <a:lnTo>
                  <a:pt x="7900" y="1492"/>
                </a:lnTo>
                <a:moveTo>
                  <a:pt x="7681" y="1492"/>
                </a:moveTo>
                <a:lnTo>
                  <a:pt x="7572" y="1492"/>
                </a:lnTo>
                <a:lnTo>
                  <a:pt x="7572" y="1456"/>
                </a:lnTo>
                <a:lnTo>
                  <a:pt x="7681" y="1456"/>
                </a:lnTo>
                <a:lnTo>
                  <a:pt x="7681" y="1492"/>
                </a:lnTo>
                <a:moveTo>
                  <a:pt x="7463" y="1492"/>
                </a:moveTo>
                <a:lnTo>
                  <a:pt x="7354" y="1492"/>
                </a:lnTo>
                <a:lnTo>
                  <a:pt x="7354" y="1456"/>
                </a:lnTo>
                <a:lnTo>
                  <a:pt x="7463" y="1456"/>
                </a:lnTo>
                <a:lnTo>
                  <a:pt x="7463" y="1492"/>
                </a:lnTo>
                <a:moveTo>
                  <a:pt x="7245" y="1492"/>
                </a:moveTo>
                <a:lnTo>
                  <a:pt x="7136" y="1492"/>
                </a:lnTo>
                <a:lnTo>
                  <a:pt x="7136" y="1456"/>
                </a:lnTo>
                <a:lnTo>
                  <a:pt x="7245" y="1456"/>
                </a:lnTo>
                <a:lnTo>
                  <a:pt x="7245" y="1492"/>
                </a:lnTo>
                <a:moveTo>
                  <a:pt x="7027" y="1492"/>
                </a:moveTo>
                <a:lnTo>
                  <a:pt x="6917" y="1492"/>
                </a:lnTo>
                <a:lnTo>
                  <a:pt x="6917" y="1456"/>
                </a:lnTo>
                <a:lnTo>
                  <a:pt x="7027" y="1456"/>
                </a:lnTo>
                <a:lnTo>
                  <a:pt x="7027" y="1492"/>
                </a:lnTo>
                <a:moveTo>
                  <a:pt x="6808" y="1492"/>
                </a:moveTo>
                <a:lnTo>
                  <a:pt x="6699" y="1492"/>
                </a:lnTo>
                <a:lnTo>
                  <a:pt x="6699" y="1456"/>
                </a:lnTo>
                <a:lnTo>
                  <a:pt x="6808" y="1456"/>
                </a:lnTo>
                <a:lnTo>
                  <a:pt x="6808" y="1492"/>
                </a:lnTo>
                <a:moveTo>
                  <a:pt x="6590" y="1492"/>
                </a:moveTo>
                <a:lnTo>
                  <a:pt x="6481" y="1492"/>
                </a:lnTo>
                <a:lnTo>
                  <a:pt x="6481" y="1456"/>
                </a:lnTo>
                <a:lnTo>
                  <a:pt x="6590" y="1456"/>
                </a:lnTo>
                <a:lnTo>
                  <a:pt x="6590" y="1492"/>
                </a:lnTo>
                <a:moveTo>
                  <a:pt x="6372" y="1492"/>
                </a:moveTo>
                <a:lnTo>
                  <a:pt x="6263" y="1492"/>
                </a:lnTo>
                <a:lnTo>
                  <a:pt x="6263" y="1456"/>
                </a:lnTo>
                <a:lnTo>
                  <a:pt x="6372" y="1456"/>
                </a:lnTo>
                <a:lnTo>
                  <a:pt x="6372" y="1492"/>
                </a:lnTo>
                <a:moveTo>
                  <a:pt x="6153" y="1492"/>
                </a:moveTo>
                <a:lnTo>
                  <a:pt x="6044" y="1492"/>
                </a:lnTo>
                <a:lnTo>
                  <a:pt x="6044" y="1456"/>
                </a:lnTo>
                <a:lnTo>
                  <a:pt x="6153" y="1456"/>
                </a:lnTo>
                <a:lnTo>
                  <a:pt x="6153" y="1492"/>
                </a:lnTo>
                <a:moveTo>
                  <a:pt x="5935" y="1492"/>
                </a:moveTo>
                <a:lnTo>
                  <a:pt x="5826" y="1492"/>
                </a:lnTo>
                <a:lnTo>
                  <a:pt x="5826" y="1456"/>
                </a:lnTo>
                <a:lnTo>
                  <a:pt x="5935" y="1456"/>
                </a:lnTo>
                <a:lnTo>
                  <a:pt x="5935" y="1492"/>
                </a:lnTo>
                <a:moveTo>
                  <a:pt x="5717" y="1492"/>
                </a:moveTo>
                <a:lnTo>
                  <a:pt x="5608" y="1492"/>
                </a:lnTo>
                <a:lnTo>
                  <a:pt x="5608" y="1456"/>
                </a:lnTo>
                <a:lnTo>
                  <a:pt x="5717" y="1456"/>
                </a:lnTo>
                <a:lnTo>
                  <a:pt x="5717" y="1492"/>
                </a:lnTo>
                <a:moveTo>
                  <a:pt x="5499" y="1492"/>
                </a:moveTo>
                <a:lnTo>
                  <a:pt x="5389" y="1492"/>
                </a:lnTo>
                <a:lnTo>
                  <a:pt x="5389" y="1456"/>
                </a:lnTo>
                <a:lnTo>
                  <a:pt x="5499" y="1456"/>
                </a:lnTo>
                <a:lnTo>
                  <a:pt x="5499" y="1492"/>
                </a:lnTo>
                <a:moveTo>
                  <a:pt x="5280" y="1492"/>
                </a:moveTo>
                <a:lnTo>
                  <a:pt x="5171" y="1492"/>
                </a:lnTo>
                <a:lnTo>
                  <a:pt x="5171" y="1456"/>
                </a:lnTo>
                <a:lnTo>
                  <a:pt x="5280" y="1456"/>
                </a:lnTo>
                <a:lnTo>
                  <a:pt x="5280" y="1492"/>
                </a:lnTo>
                <a:moveTo>
                  <a:pt x="5062" y="1492"/>
                </a:moveTo>
                <a:lnTo>
                  <a:pt x="4953" y="1492"/>
                </a:lnTo>
                <a:lnTo>
                  <a:pt x="4953" y="1456"/>
                </a:lnTo>
                <a:lnTo>
                  <a:pt x="5062" y="1456"/>
                </a:lnTo>
                <a:lnTo>
                  <a:pt x="5062" y="1492"/>
                </a:lnTo>
                <a:moveTo>
                  <a:pt x="4844" y="1492"/>
                </a:moveTo>
                <a:lnTo>
                  <a:pt x="4735" y="1492"/>
                </a:lnTo>
                <a:lnTo>
                  <a:pt x="4735" y="1456"/>
                </a:lnTo>
                <a:lnTo>
                  <a:pt x="4844" y="1456"/>
                </a:lnTo>
                <a:lnTo>
                  <a:pt x="4844" y="1492"/>
                </a:lnTo>
                <a:moveTo>
                  <a:pt x="4625" y="1492"/>
                </a:moveTo>
                <a:lnTo>
                  <a:pt x="4516" y="1492"/>
                </a:lnTo>
                <a:lnTo>
                  <a:pt x="4516" y="1456"/>
                </a:lnTo>
                <a:lnTo>
                  <a:pt x="4625" y="1456"/>
                </a:lnTo>
                <a:lnTo>
                  <a:pt x="4625" y="1492"/>
                </a:lnTo>
                <a:moveTo>
                  <a:pt x="4407" y="1492"/>
                </a:moveTo>
                <a:lnTo>
                  <a:pt x="4298" y="1492"/>
                </a:lnTo>
                <a:lnTo>
                  <a:pt x="4298" y="1456"/>
                </a:lnTo>
                <a:lnTo>
                  <a:pt x="4407" y="1456"/>
                </a:lnTo>
                <a:lnTo>
                  <a:pt x="4407" y="1492"/>
                </a:lnTo>
                <a:moveTo>
                  <a:pt x="4189" y="1492"/>
                </a:moveTo>
                <a:lnTo>
                  <a:pt x="4080" y="1492"/>
                </a:lnTo>
                <a:lnTo>
                  <a:pt x="4080" y="1456"/>
                </a:lnTo>
                <a:lnTo>
                  <a:pt x="4189" y="1456"/>
                </a:lnTo>
                <a:lnTo>
                  <a:pt x="4189" y="1492"/>
                </a:lnTo>
                <a:moveTo>
                  <a:pt x="3971" y="1492"/>
                </a:moveTo>
                <a:lnTo>
                  <a:pt x="3861" y="1492"/>
                </a:lnTo>
                <a:lnTo>
                  <a:pt x="3861" y="1456"/>
                </a:lnTo>
                <a:lnTo>
                  <a:pt x="3971" y="1456"/>
                </a:lnTo>
                <a:lnTo>
                  <a:pt x="3971" y="1492"/>
                </a:lnTo>
                <a:moveTo>
                  <a:pt x="3752" y="1492"/>
                </a:moveTo>
                <a:lnTo>
                  <a:pt x="3643" y="1492"/>
                </a:lnTo>
                <a:lnTo>
                  <a:pt x="3643" y="1456"/>
                </a:lnTo>
                <a:lnTo>
                  <a:pt x="3752" y="1456"/>
                </a:lnTo>
                <a:lnTo>
                  <a:pt x="3752" y="1492"/>
                </a:lnTo>
                <a:moveTo>
                  <a:pt x="3534" y="1492"/>
                </a:moveTo>
                <a:lnTo>
                  <a:pt x="3425" y="1492"/>
                </a:lnTo>
                <a:lnTo>
                  <a:pt x="3425" y="1456"/>
                </a:lnTo>
                <a:lnTo>
                  <a:pt x="3534" y="1456"/>
                </a:lnTo>
                <a:lnTo>
                  <a:pt x="3534" y="1492"/>
                </a:lnTo>
                <a:moveTo>
                  <a:pt x="3316" y="1492"/>
                </a:moveTo>
                <a:lnTo>
                  <a:pt x="3206" y="1492"/>
                </a:lnTo>
                <a:lnTo>
                  <a:pt x="3206" y="1456"/>
                </a:lnTo>
                <a:lnTo>
                  <a:pt x="3316" y="1456"/>
                </a:lnTo>
                <a:lnTo>
                  <a:pt x="3316" y="1492"/>
                </a:lnTo>
                <a:moveTo>
                  <a:pt x="3096" y="1492"/>
                </a:moveTo>
                <a:lnTo>
                  <a:pt x="2987" y="1492"/>
                </a:lnTo>
                <a:lnTo>
                  <a:pt x="2987" y="1456"/>
                </a:lnTo>
                <a:lnTo>
                  <a:pt x="3096" y="1456"/>
                </a:lnTo>
                <a:lnTo>
                  <a:pt x="3096" y="1492"/>
                </a:lnTo>
                <a:moveTo>
                  <a:pt x="2878" y="1492"/>
                </a:moveTo>
                <a:lnTo>
                  <a:pt x="2769" y="1492"/>
                </a:lnTo>
                <a:lnTo>
                  <a:pt x="2769" y="1456"/>
                </a:lnTo>
                <a:lnTo>
                  <a:pt x="2878" y="1456"/>
                </a:lnTo>
                <a:lnTo>
                  <a:pt x="2878" y="1492"/>
                </a:lnTo>
                <a:moveTo>
                  <a:pt x="2660" y="1492"/>
                </a:moveTo>
                <a:lnTo>
                  <a:pt x="2551" y="1492"/>
                </a:lnTo>
                <a:lnTo>
                  <a:pt x="2551" y="1456"/>
                </a:lnTo>
                <a:lnTo>
                  <a:pt x="2660" y="1456"/>
                </a:lnTo>
                <a:lnTo>
                  <a:pt x="2660" y="1492"/>
                </a:lnTo>
                <a:moveTo>
                  <a:pt x="2442" y="1492"/>
                </a:moveTo>
                <a:lnTo>
                  <a:pt x="2332" y="1492"/>
                </a:lnTo>
                <a:lnTo>
                  <a:pt x="2332" y="1456"/>
                </a:lnTo>
                <a:lnTo>
                  <a:pt x="2442" y="1456"/>
                </a:lnTo>
                <a:lnTo>
                  <a:pt x="2442" y="1492"/>
                </a:lnTo>
                <a:moveTo>
                  <a:pt x="2223" y="1492"/>
                </a:moveTo>
                <a:lnTo>
                  <a:pt x="2114" y="1492"/>
                </a:lnTo>
                <a:lnTo>
                  <a:pt x="2114" y="1456"/>
                </a:lnTo>
                <a:lnTo>
                  <a:pt x="2223" y="1456"/>
                </a:lnTo>
                <a:lnTo>
                  <a:pt x="2223" y="1492"/>
                </a:lnTo>
                <a:moveTo>
                  <a:pt x="2005" y="1492"/>
                </a:moveTo>
                <a:lnTo>
                  <a:pt x="1896" y="1492"/>
                </a:lnTo>
                <a:lnTo>
                  <a:pt x="1896" y="1456"/>
                </a:lnTo>
                <a:lnTo>
                  <a:pt x="2005" y="1456"/>
                </a:lnTo>
                <a:lnTo>
                  <a:pt x="2005" y="1492"/>
                </a:lnTo>
                <a:moveTo>
                  <a:pt x="1787" y="1492"/>
                </a:moveTo>
                <a:lnTo>
                  <a:pt x="1678" y="1492"/>
                </a:lnTo>
                <a:lnTo>
                  <a:pt x="1678" y="1456"/>
                </a:lnTo>
                <a:lnTo>
                  <a:pt x="1787" y="1456"/>
                </a:lnTo>
                <a:lnTo>
                  <a:pt x="1787" y="1492"/>
                </a:lnTo>
                <a:moveTo>
                  <a:pt x="1569" y="1492"/>
                </a:moveTo>
                <a:lnTo>
                  <a:pt x="1459" y="1492"/>
                </a:lnTo>
                <a:lnTo>
                  <a:pt x="1459" y="1456"/>
                </a:lnTo>
                <a:lnTo>
                  <a:pt x="1569" y="1456"/>
                </a:lnTo>
                <a:lnTo>
                  <a:pt x="1569" y="1492"/>
                </a:lnTo>
                <a:moveTo>
                  <a:pt x="1350" y="1492"/>
                </a:moveTo>
                <a:lnTo>
                  <a:pt x="1241" y="1492"/>
                </a:lnTo>
                <a:lnTo>
                  <a:pt x="1241" y="1456"/>
                </a:lnTo>
                <a:lnTo>
                  <a:pt x="1350" y="1456"/>
                </a:lnTo>
                <a:lnTo>
                  <a:pt x="1350" y="1492"/>
                </a:lnTo>
                <a:moveTo>
                  <a:pt x="1132" y="1492"/>
                </a:moveTo>
                <a:lnTo>
                  <a:pt x="1023" y="1492"/>
                </a:lnTo>
                <a:lnTo>
                  <a:pt x="1023" y="1456"/>
                </a:lnTo>
                <a:lnTo>
                  <a:pt x="1132" y="1456"/>
                </a:lnTo>
                <a:lnTo>
                  <a:pt x="1132" y="1492"/>
                </a:lnTo>
                <a:moveTo>
                  <a:pt x="914" y="1492"/>
                </a:moveTo>
                <a:lnTo>
                  <a:pt x="805" y="1492"/>
                </a:lnTo>
                <a:lnTo>
                  <a:pt x="805" y="1456"/>
                </a:lnTo>
                <a:lnTo>
                  <a:pt x="914" y="1456"/>
                </a:lnTo>
                <a:lnTo>
                  <a:pt x="914" y="1492"/>
                </a:lnTo>
                <a:moveTo>
                  <a:pt x="695" y="1492"/>
                </a:moveTo>
                <a:lnTo>
                  <a:pt x="586" y="1492"/>
                </a:lnTo>
                <a:lnTo>
                  <a:pt x="586" y="1456"/>
                </a:lnTo>
                <a:lnTo>
                  <a:pt x="695" y="1456"/>
                </a:lnTo>
                <a:lnTo>
                  <a:pt x="695" y="1492"/>
                </a:lnTo>
                <a:moveTo>
                  <a:pt x="477" y="1492"/>
                </a:moveTo>
                <a:lnTo>
                  <a:pt x="368" y="1492"/>
                </a:lnTo>
                <a:lnTo>
                  <a:pt x="368" y="1456"/>
                </a:lnTo>
                <a:lnTo>
                  <a:pt x="477" y="1456"/>
                </a:lnTo>
                <a:lnTo>
                  <a:pt x="477" y="1492"/>
                </a:lnTo>
                <a:moveTo>
                  <a:pt x="259" y="1492"/>
                </a:moveTo>
                <a:lnTo>
                  <a:pt x="200" y="1492"/>
                </a:lnTo>
                <a:cubicBezTo>
                  <a:pt x="182" y="1492"/>
                  <a:pt x="164" y="1490"/>
                  <a:pt x="146" y="1485"/>
                </a:cubicBezTo>
                <a:lnTo>
                  <a:pt x="156" y="1450"/>
                </a:lnTo>
                <a:cubicBezTo>
                  <a:pt x="170" y="1454"/>
                  <a:pt x="185" y="1456"/>
                  <a:pt x="200" y="1456"/>
                </a:cubicBezTo>
                <a:lnTo>
                  <a:pt x="259" y="1456"/>
                </a:lnTo>
                <a:lnTo>
                  <a:pt x="259" y="1492"/>
                </a:lnTo>
                <a:moveTo>
                  <a:pt x="45" y="1419"/>
                </a:moveTo>
                <a:cubicBezTo>
                  <a:pt x="19" y="1386"/>
                  <a:pt x="4" y="1349"/>
                  <a:pt x="1" y="1308"/>
                </a:cubicBezTo>
                <a:lnTo>
                  <a:pt x="37" y="1305"/>
                </a:lnTo>
                <a:cubicBezTo>
                  <a:pt x="40" y="1339"/>
                  <a:pt x="52" y="1369"/>
                  <a:pt x="74" y="1396"/>
                </a:cubicBezTo>
                <a:lnTo>
                  <a:pt x="45" y="1419"/>
                </a:lnTo>
                <a:moveTo>
                  <a:pt x="0" y="1197"/>
                </a:moveTo>
                <a:lnTo>
                  <a:pt x="0" y="1088"/>
                </a:lnTo>
                <a:lnTo>
                  <a:pt x="37" y="1088"/>
                </a:lnTo>
                <a:lnTo>
                  <a:pt x="37" y="1197"/>
                </a:lnTo>
                <a:lnTo>
                  <a:pt x="0" y="1197"/>
                </a:lnTo>
                <a:moveTo>
                  <a:pt x="0" y="979"/>
                </a:moveTo>
                <a:lnTo>
                  <a:pt x="0" y="870"/>
                </a:lnTo>
                <a:lnTo>
                  <a:pt x="37" y="870"/>
                </a:lnTo>
                <a:lnTo>
                  <a:pt x="37" y="979"/>
                </a:lnTo>
                <a:lnTo>
                  <a:pt x="0" y="979"/>
                </a:lnTo>
                <a:moveTo>
                  <a:pt x="0" y="761"/>
                </a:moveTo>
                <a:lnTo>
                  <a:pt x="0" y="652"/>
                </a:lnTo>
                <a:lnTo>
                  <a:pt x="37" y="652"/>
                </a:lnTo>
                <a:lnTo>
                  <a:pt x="37" y="761"/>
                </a:lnTo>
                <a:lnTo>
                  <a:pt x="0" y="761"/>
                </a:lnTo>
                <a:moveTo>
                  <a:pt x="0" y="542"/>
                </a:moveTo>
                <a:lnTo>
                  <a:pt x="0" y="433"/>
                </a:lnTo>
                <a:lnTo>
                  <a:pt x="37" y="433"/>
                </a:lnTo>
                <a:lnTo>
                  <a:pt x="37" y="542"/>
                </a:lnTo>
                <a:lnTo>
                  <a:pt x="0" y="542"/>
                </a:lnTo>
                <a:moveTo>
                  <a:pt x="0" y="324"/>
                </a:moveTo>
                <a:lnTo>
                  <a:pt x="0" y="215"/>
                </a:lnTo>
                <a:lnTo>
                  <a:pt x="37" y="215"/>
                </a:lnTo>
                <a:lnTo>
                  <a:pt x="37" y="324"/>
                </a:lnTo>
                <a:lnTo>
                  <a:pt x="0" y="324"/>
                </a:lnTo>
                <a:moveTo>
                  <a:pt x="27" y="101"/>
                </a:moveTo>
                <a:cubicBezTo>
                  <a:pt x="47" y="65"/>
                  <a:pt x="77" y="38"/>
                  <a:pt x="114" y="20"/>
                </a:cubicBezTo>
                <a:lnTo>
                  <a:pt x="130" y="52"/>
                </a:lnTo>
                <a:cubicBezTo>
                  <a:pt x="99" y="67"/>
                  <a:pt x="75" y="89"/>
                  <a:pt x="58" y="119"/>
                </a:cubicBezTo>
                <a:lnTo>
                  <a:pt x="27" y="101"/>
                </a:lnTo>
                <a:moveTo>
                  <a:pt x="200" y="0"/>
                </a:moveTo>
                <a:lnTo>
                  <a:pt x="310" y="0"/>
                </a:lnTo>
                <a:lnTo>
                  <a:pt x="310" y="37"/>
                </a:lnTo>
                <a:lnTo>
                  <a:pt x="200" y="37"/>
                </a:lnTo>
                <a:lnTo>
                  <a:pt x="200" y="0"/>
                </a:lnTo>
                <a:close/>
              </a:path>
            </a:pathLst>
          </a:custGeom>
          <a:solidFill>
            <a:srgbClr val="CBD5E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8" name=""/>
          <p:cNvSpPr txBox="1"/>
          <p:nvPr/>
        </p:nvSpPr>
        <p:spPr>
          <a:xfrm rot="5400000">
            <a:off x="4837320" y="347220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DC2626"/>
                </a:solidFill>
                <a:effectLst/>
                <a:uFillTx/>
                <a:latin typeface="HiraginoSans-W6"/>
                <a:ea typeface="HiraginoSans-W6"/>
              </a:rPr>
              <a:t>都度、⼈が確認・修正を仲介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228204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64748B"/>
                </a:solidFill>
                <a:effectLst/>
                <a:uFillTx/>
                <a:latin typeface="HiraginoSans-W7"/>
                <a:ea typeface="HiraginoSans-W7"/>
              </a:rPr>
              <a:t>⼀往復ごとに⼈⼿の作業が発⽣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0" name=""/>
          <p:cNvSpPr/>
          <p:nvPr/>
        </p:nvSpPr>
        <p:spPr>
          <a:xfrm>
            <a:off x="6033960" y="1371240"/>
            <a:ext cx="4715280" cy="419400"/>
          </a:xfrm>
          <a:custGeom>
            <a:avLst/>
            <a:gdLst/>
            <a:ahLst/>
            <a:rect l="0" t="0" r="r" b="b"/>
            <a:pathLst>
              <a:path w="13098" h="1165">
                <a:moveTo>
                  <a:pt x="182" y="0"/>
                </a:moveTo>
                <a:lnTo>
                  <a:pt x="12916" y="0"/>
                </a:lnTo>
                <a:cubicBezTo>
                  <a:pt x="12928" y="0"/>
                  <a:pt x="12940" y="2"/>
                  <a:pt x="12951" y="4"/>
                </a:cubicBezTo>
                <a:cubicBezTo>
                  <a:pt x="12963" y="6"/>
                  <a:pt x="12974" y="10"/>
                  <a:pt x="12985" y="14"/>
                </a:cubicBezTo>
                <a:cubicBezTo>
                  <a:pt x="12996" y="19"/>
                  <a:pt x="13007" y="24"/>
                  <a:pt x="13017" y="31"/>
                </a:cubicBezTo>
                <a:cubicBezTo>
                  <a:pt x="13027" y="38"/>
                  <a:pt x="13036" y="45"/>
                  <a:pt x="13044" y="54"/>
                </a:cubicBezTo>
                <a:cubicBezTo>
                  <a:pt x="13053" y="62"/>
                  <a:pt x="13060" y="71"/>
                  <a:pt x="13067" y="81"/>
                </a:cubicBezTo>
                <a:cubicBezTo>
                  <a:pt x="13074" y="91"/>
                  <a:pt x="13079" y="102"/>
                  <a:pt x="13084" y="113"/>
                </a:cubicBezTo>
                <a:cubicBezTo>
                  <a:pt x="13088" y="124"/>
                  <a:pt x="13092" y="135"/>
                  <a:pt x="13094" y="147"/>
                </a:cubicBezTo>
                <a:cubicBezTo>
                  <a:pt x="13097" y="158"/>
                  <a:pt x="13098" y="170"/>
                  <a:pt x="13098" y="182"/>
                </a:cubicBezTo>
                <a:lnTo>
                  <a:pt x="13098" y="983"/>
                </a:lnTo>
                <a:cubicBezTo>
                  <a:pt x="13098" y="995"/>
                  <a:pt x="13097" y="1007"/>
                  <a:pt x="13094" y="1019"/>
                </a:cubicBezTo>
                <a:cubicBezTo>
                  <a:pt x="13092" y="1030"/>
                  <a:pt x="13088" y="1042"/>
                  <a:pt x="13084" y="1053"/>
                </a:cubicBezTo>
                <a:cubicBezTo>
                  <a:pt x="13079" y="1064"/>
                  <a:pt x="13074" y="1074"/>
                  <a:pt x="13067" y="1084"/>
                </a:cubicBezTo>
                <a:cubicBezTo>
                  <a:pt x="13060" y="1094"/>
                  <a:pt x="13053" y="1103"/>
                  <a:pt x="13044" y="1112"/>
                </a:cubicBezTo>
                <a:cubicBezTo>
                  <a:pt x="13036" y="1120"/>
                  <a:pt x="13027" y="1128"/>
                  <a:pt x="13017" y="1134"/>
                </a:cubicBezTo>
                <a:cubicBezTo>
                  <a:pt x="13007" y="1141"/>
                  <a:pt x="12996" y="1147"/>
                  <a:pt x="12985" y="1151"/>
                </a:cubicBezTo>
                <a:cubicBezTo>
                  <a:pt x="12974" y="1156"/>
                  <a:pt x="12963" y="1159"/>
                  <a:pt x="12951" y="1161"/>
                </a:cubicBezTo>
                <a:cubicBezTo>
                  <a:pt x="12940" y="1164"/>
                  <a:pt x="12928" y="1165"/>
                  <a:pt x="12916" y="1165"/>
                </a:cubicBezTo>
                <a:lnTo>
                  <a:pt x="182" y="1165"/>
                </a:lnTo>
                <a:cubicBezTo>
                  <a:pt x="170" y="1165"/>
                  <a:pt x="158" y="1164"/>
                  <a:pt x="146" y="1161"/>
                </a:cubicBezTo>
                <a:cubicBezTo>
                  <a:pt x="135" y="1159"/>
                  <a:pt x="123" y="1156"/>
                  <a:pt x="112" y="1151"/>
                </a:cubicBezTo>
                <a:cubicBezTo>
                  <a:pt x="101" y="1147"/>
                  <a:pt x="91" y="1141"/>
                  <a:pt x="81" y="1134"/>
                </a:cubicBezTo>
                <a:cubicBezTo>
                  <a:pt x="71" y="1128"/>
                  <a:pt x="62" y="1120"/>
                  <a:pt x="53" y="1112"/>
                </a:cubicBezTo>
                <a:cubicBezTo>
                  <a:pt x="45" y="1103"/>
                  <a:pt x="37" y="1094"/>
                  <a:pt x="31" y="1084"/>
                </a:cubicBezTo>
                <a:cubicBezTo>
                  <a:pt x="24" y="1074"/>
                  <a:pt x="18" y="1064"/>
                  <a:pt x="14" y="1053"/>
                </a:cubicBezTo>
                <a:cubicBezTo>
                  <a:pt x="9" y="1042"/>
                  <a:pt x="6" y="1030"/>
                  <a:pt x="3" y="1019"/>
                </a:cubicBezTo>
                <a:cubicBezTo>
                  <a:pt x="1" y="1007"/>
                  <a:pt x="0" y="995"/>
                  <a:pt x="0" y="983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6" y="135"/>
                  <a:pt x="9" y="124"/>
                  <a:pt x="14" y="113"/>
                </a:cubicBezTo>
                <a:cubicBezTo>
                  <a:pt x="18" y="102"/>
                  <a:pt x="24" y="91"/>
                  <a:pt x="31" y="81"/>
                </a:cubicBezTo>
                <a:cubicBezTo>
                  <a:pt x="37" y="71"/>
                  <a:pt x="45" y="62"/>
                  <a:pt x="53" y="54"/>
                </a:cubicBezTo>
                <a:cubicBezTo>
                  <a:pt x="62" y="45"/>
                  <a:pt x="71" y="38"/>
                  <a:pt x="81" y="31"/>
                </a:cubicBezTo>
                <a:cubicBezTo>
                  <a:pt x="91" y="24"/>
                  <a:pt x="101" y="19"/>
                  <a:pt x="112" y="14"/>
                </a:cubicBezTo>
                <a:cubicBezTo>
                  <a:pt x="123" y="10"/>
                  <a:pt x="135" y="6"/>
                  <a:pt x="146" y="4"/>
                </a:cubicBezTo>
                <a:cubicBezTo>
                  <a:pt x="158" y="2"/>
                  <a:pt x="170" y="0"/>
                  <a:pt x="182" y="0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2367000" y="5511600"/>
            <a:ext cx="1578240" cy="105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64748B"/>
                </a:solidFill>
                <a:effectLst/>
                <a:uFillTx/>
                <a:latin typeface="HiraginoSans-W4"/>
                <a:ea typeface="HiraginoSans-W4"/>
              </a:rPr>
              <a:t>試作・単発の作業には⼿軽で有効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2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3" name=""/>
          <p:cNvSpPr/>
          <p:nvPr/>
        </p:nvSpPr>
        <p:spPr>
          <a:xfrm>
            <a:off x="6230520" y="199980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0"/>
                </a:cubicBezTo>
                <a:cubicBezTo>
                  <a:pt x="11935" y="37"/>
                  <a:pt x="11944" y="46"/>
                  <a:pt x="11953" y="54"/>
                </a:cubicBezTo>
                <a:cubicBezTo>
                  <a:pt x="11961" y="62"/>
                  <a:pt x="11969" y="72"/>
                  <a:pt x="11975" y="82"/>
                </a:cubicBezTo>
                <a:cubicBezTo>
                  <a:pt x="11982" y="92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9"/>
                  <a:pt x="12006" y="171"/>
                  <a:pt x="12006" y="183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4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2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2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4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3"/>
                </a:lnTo>
                <a:cubicBezTo>
                  <a:pt x="0" y="171"/>
                  <a:pt x="1" y="159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2"/>
                  <a:pt x="30" y="82"/>
                </a:cubicBezTo>
                <a:cubicBezTo>
                  <a:pt x="37" y="72"/>
                  <a:pt x="44" y="62"/>
                  <a:pt x="53" y="54"/>
                </a:cubicBezTo>
                <a:cubicBezTo>
                  <a:pt x="61" y="46"/>
                  <a:pt x="70" y="37"/>
                  <a:pt x="80" y="30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4" name=""/>
          <p:cNvSpPr/>
          <p:nvPr/>
        </p:nvSpPr>
        <p:spPr>
          <a:xfrm>
            <a:off x="6387480" y="211752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4"/>
                </a:moveTo>
                <a:cubicBezTo>
                  <a:pt x="947" y="505"/>
                  <a:pt x="944" y="536"/>
                  <a:pt x="938" y="566"/>
                </a:cubicBezTo>
                <a:cubicBezTo>
                  <a:pt x="932" y="596"/>
                  <a:pt x="923" y="626"/>
                  <a:pt x="911" y="655"/>
                </a:cubicBezTo>
                <a:cubicBezTo>
                  <a:pt x="899" y="683"/>
                  <a:pt x="885" y="711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7"/>
                  <a:pt x="473" y="947"/>
                </a:cubicBezTo>
                <a:cubicBezTo>
                  <a:pt x="442" y="947"/>
                  <a:pt x="411" y="943"/>
                  <a:pt x="381" y="937"/>
                </a:cubicBezTo>
                <a:cubicBezTo>
                  <a:pt x="350" y="931"/>
                  <a:pt x="321" y="922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1"/>
                  <a:pt x="48" y="683"/>
                  <a:pt x="36" y="655"/>
                </a:cubicBezTo>
                <a:cubicBezTo>
                  <a:pt x="24" y="626"/>
                  <a:pt x="15" y="596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2"/>
                </a:cubicBezTo>
                <a:cubicBezTo>
                  <a:pt x="15" y="351"/>
                  <a:pt x="24" y="322"/>
                  <a:pt x="36" y="293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2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2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3"/>
                </a:cubicBezTo>
                <a:cubicBezTo>
                  <a:pt x="923" y="322"/>
                  <a:pt x="932" y="351"/>
                  <a:pt x="938" y="382"/>
                </a:cubicBezTo>
                <a:cubicBezTo>
                  <a:pt x="944" y="412"/>
                  <a:pt x="947" y="443"/>
                  <a:pt x="947" y="474"/>
                </a:cubicBezTo>
                <a:close/>
              </a:path>
            </a:pathLst>
          </a:custGeom>
          <a:solidFill>
            <a:srgbClr val="6474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45" name=""/>
          <p:cNvSpPr txBox="1"/>
          <p:nvPr/>
        </p:nvSpPr>
        <p:spPr>
          <a:xfrm>
            <a:off x="6903360" y="1474200"/>
            <a:ext cx="2764440" cy="20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Claude Code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（</a:t>
            </a: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AI</a:t>
            </a:r>
            <a:r>
              <a:rPr lang="ja-JP" sz="145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エージェント）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6492600" y="2215080"/>
            <a:ext cx="131760" cy="13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03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⼈</a:t>
            </a:r>
            <a:endParaRPr lang="en-US" sz="10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6852600" y="2118240"/>
            <a:ext cx="71712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要件を指⽰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8" name=""/>
          <p:cNvSpPr/>
          <p:nvPr/>
        </p:nvSpPr>
        <p:spPr>
          <a:xfrm>
            <a:off x="8391240" y="257580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49" name=""/>
          <p:cNvSpPr/>
          <p:nvPr/>
        </p:nvSpPr>
        <p:spPr>
          <a:xfrm>
            <a:off x="8292960" y="270000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0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1" name=""/>
          <p:cNvSpPr/>
          <p:nvPr/>
        </p:nvSpPr>
        <p:spPr>
          <a:xfrm>
            <a:off x="6230520" y="279828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3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8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7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7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8"/>
                  <a:pt x="112" y="14"/>
                </a:cubicBezTo>
                <a:cubicBezTo>
                  <a:pt x="123" y="9"/>
                  <a:pt x="134" y="6"/>
                  <a:pt x="146" y="3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2" name=""/>
          <p:cNvSpPr/>
          <p:nvPr/>
        </p:nvSpPr>
        <p:spPr>
          <a:xfrm>
            <a:off x="6387480" y="291600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1"/>
                  <a:pt x="830" y="785"/>
                  <a:pt x="808" y="807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6"/>
                </a:cubicBezTo>
                <a:cubicBezTo>
                  <a:pt x="184" y="849"/>
                  <a:pt x="161" y="829"/>
                  <a:pt x="139" y="807"/>
                </a:cubicBezTo>
                <a:cubicBezTo>
                  <a:pt x="117" y="785"/>
                  <a:pt x="97" y="761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3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3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6852600" y="2331360"/>
            <a:ext cx="184284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CLAUDE.md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r>
              <a:rPr lang="en-US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plan.md </a:t>
            </a:r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に⽅針を蓄積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6407640" y="303696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6852600" y="2916720"/>
            <a:ext cx="1289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ファイルを直接編集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6" name=""/>
          <p:cNvSpPr/>
          <p:nvPr/>
        </p:nvSpPr>
        <p:spPr>
          <a:xfrm>
            <a:off x="8391240" y="337428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7" name=""/>
          <p:cNvSpPr/>
          <p:nvPr/>
        </p:nvSpPr>
        <p:spPr>
          <a:xfrm>
            <a:off x="8292960" y="3498480"/>
            <a:ext cx="196920" cy="196920"/>
          </a:xfrm>
          <a:custGeom>
            <a:avLst/>
            <a:gdLst/>
            <a:ahLst/>
            <a:rect l="0" t="0" r="r" b="b"/>
            <a:pathLst>
              <a:path w="547" h="547">
                <a:moveTo>
                  <a:pt x="547" y="0"/>
                </a:moveTo>
                <a:lnTo>
                  <a:pt x="274" y="547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58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59" name=""/>
          <p:cNvSpPr/>
          <p:nvPr/>
        </p:nvSpPr>
        <p:spPr>
          <a:xfrm>
            <a:off x="6230520" y="359676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9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7"/>
                  <a:pt x="11944" y="45"/>
                  <a:pt x="11953" y="53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2"/>
                </a:cubicBezTo>
                <a:cubicBezTo>
                  <a:pt x="11997" y="123"/>
                  <a:pt x="12000" y="135"/>
                  <a:pt x="12003" y="146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6"/>
                  <a:pt x="11997" y="1478"/>
                  <a:pt x="11992" y="1489"/>
                </a:cubicBezTo>
                <a:cubicBezTo>
                  <a:pt x="11988" y="1500"/>
                  <a:pt x="11982" y="1510"/>
                  <a:pt x="11975" y="1520"/>
                </a:cubicBezTo>
                <a:cubicBezTo>
                  <a:pt x="11969" y="1530"/>
                  <a:pt x="11961" y="1539"/>
                  <a:pt x="11953" y="1548"/>
                </a:cubicBezTo>
                <a:cubicBezTo>
                  <a:pt x="11944" y="1556"/>
                  <a:pt x="11935" y="1564"/>
                  <a:pt x="11925" y="1570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0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39"/>
                  <a:pt x="37" y="1530"/>
                  <a:pt x="30" y="1520"/>
                </a:cubicBezTo>
                <a:cubicBezTo>
                  <a:pt x="24" y="1510"/>
                  <a:pt x="18" y="1500"/>
                  <a:pt x="13" y="1489"/>
                </a:cubicBezTo>
                <a:cubicBezTo>
                  <a:pt x="9" y="1478"/>
                  <a:pt x="5" y="1466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6"/>
                </a:cubicBezTo>
                <a:cubicBezTo>
                  <a:pt x="5" y="135"/>
                  <a:pt x="9" y="123"/>
                  <a:pt x="13" y="112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3"/>
                </a:cubicBezTo>
                <a:cubicBezTo>
                  <a:pt x="61" y="45"/>
                  <a:pt x="70" y="37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9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0" name=""/>
          <p:cNvSpPr/>
          <p:nvPr/>
        </p:nvSpPr>
        <p:spPr>
          <a:xfrm>
            <a:off x="6387480" y="3714480"/>
            <a:ext cx="340920" cy="340920"/>
          </a:xfrm>
          <a:custGeom>
            <a:avLst/>
            <a:gdLst/>
            <a:ahLst/>
            <a:rect l="0" t="0" r="r" b="b"/>
            <a:pathLst>
              <a:path w="947" h="947">
                <a:moveTo>
                  <a:pt x="947" y="473"/>
                </a:moveTo>
                <a:cubicBezTo>
                  <a:pt x="947" y="504"/>
                  <a:pt x="944" y="535"/>
                  <a:pt x="938" y="566"/>
                </a:cubicBezTo>
                <a:cubicBezTo>
                  <a:pt x="932" y="597"/>
                  <a:pt x="923" y="626"/>
                  <a:pt x="911" y="655"/>
                </a:cubicBezTo>
                <a:cubicBezTo>
                  <a:pt x="899" y="684"/>
                  <a:pt x="885" y="711"/>
                  <a:pt x="867" y="737"/>
                </a:cubicBezTo>
                <a:cubicBezTo>
                  <a:pt x="850" y="763"/>
                  <a:pt x="830" y="786"/>
                  <a:pt x="808" y="808"/>
                </a:cubicBezTo>
                <a:cubicBezTo>
                  <a:pt x="787" y="830"/>
                  <a:pt x="763" y="850"/>
                  <a:pt x="737" y="867"/>
                </a:cubicBezTo>
                <a:cubicBezTo>
                  <a:pt x="711" y="884"/>
                  <a:pt x="683" y="899"/>
                  <a:pt x="654" y="911"/>
                </a:cubicBezTo>
                <a:cubicBezTo>
                  <a:pt x="625" y="923"/>
                  <a:pt x="596" y="932"/>
                  <a:pt x="565" y="938"/>
                </a:cubicBezTo>
                <a:cubicBezTo>
                  <a:pt x="535" y="944"/>
                  <a:pt x="504" y="947"/>
                  <a:pt x="473" y="947"/>
                </a:cubicBezTo>
                <a:cubicBezTo>
                  <a:pt x="442" y="947"/>
                  <a:pt x="411" y="944"/>
                  <a:pt x="381" y="938"/>
                </a:cubicBezTo>
                <a:cubicBezTo>
                  <a:pt x="350" y="932"/>
                  <a:pt x="321" y="923"/>
                  <a:pt x="292" y="911"/>
                </a:cubicBezTo>
                <a:cubicBezTo>
                  <a:pt x="263" y="899"/>
                  <a:pt x="236" y="884"/>
                  <a:pt x="210" y="867"/>
                </a:cubicBezTo>
                <a:cubicBezTo>
                  <a:pt x="184" y="850"/>
                  <a:pt x="161" y="830"/>
                  <a:pt x="139" y="808"/>
                </a:cubicBezTo>
                <a:cubicBezTo>
                  <a:pt x="117" y="786"/>
                  <a:pt x="97" y="763"/>
                  <a:pt x="80" y="737"/>
                </a:cubicBezTo>
                <a:cubicBezTo>
                  <a:pt x="63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0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5"/>
                  <a:pt x="117" y="161"/>
                  <a:pt x="139" y="139"/>
                </a:cubicBezTo>
                <a:cubicBezTo>
                  <a:pt x="161" y="117"/>
                  <a:pt x="184" y="97"/>
                  <a:pt x="210" y="80"/>
                </a:cubicBezTo>
                <a:cubicBezTo>
                  <a:pt x="236" y="63"/>
                  <a:pt x="263" y="48"/>
                  <a:pt x="292" y="36"/>
                </a:cubicBezTo>
                <a:cubicBezTo>
                  <a:pt x="321" y="24"/>
                  <a:pt x="350" y="16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6"/>
                  <a:pt x="625" y="24"/>
                  <a:pt x="654" y="36"/>
                </a:cubicBezTo>
                <a:cubicBezTo>
                  <a:pt x="683" y="48"/>
                  <a:pt x="711" y="63"/>
                  <a:pt x="737" y="80"/>
                </a:cubicBezTo>
                <a:cubicBezTo>
                  <a:pt x="763" y="97"/>
                  <a:pt x="787" y="117"/>
                  <a:pt x="808" y="139"/>
                </a:cubicBezTo>
                <a:cubicBezTo>
                  <a:pt x="830" y="161"/>
                  <a:pt x="850" y="185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0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6852600" y="3129840"/>
            <a:ext cx="178092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リポジトリを読み込み⾃律的に変更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6407640" y="383544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6852600" y="3715560"/>
            <a:ext cx="143316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テスト実⾏・動作確認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4" name=""/>
          <p:cNvSpPr/>
          <p:nvPr/>
        </p:nvSpPr>
        <p:spPr>
          <a:xfrm>
            <a:off x="8391240" y="4172760"/>
            <a:ext cx="0" cy="222480"/>
          </a:xfrm>
          <a:prstGeom prst="line">
            <a:avLst/>
          </a:prstGeom>
          <a:ln w="19440">
            <a:solidFill>
              <a:srgbClr val="2563EB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5" name=""/>
          <p:cNvSpPr/>
          <p:nvPr/>
        </p:nvSpPr>
        <p:spPr>
          <a:xfrm>
            <a:off x="8292960" y="4297320"/>
            <a:ext cx="196920" cy="196560"/>
          </a:xfrm>
          <a:custGeom>
            <a:avLst/>
            <a:gdLst/>
            <a:ahLst/>
            <a:rect l="0" t="0" r="r" b="b"/>
            <a:pathLst>
              <a:path w="547" h="546">
                <a:moveTo>
                  <a:pt x="547" y="0"/>
                </a:moveTo>
                <a:lnTo>
                  <a:pt x="274" y="546"/>
                </a:lnTo>
                <a:lnTo>
                  <a:pt x="0" y="0"/>
                </a:lnTo>
                <a:lnTo>
                  <a:pt x="547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6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7" name=""/>
          <p:cNvSpPr/>
          <p:nvPr/>
        </p:nvSpPr>
        <p:spPr>
          <a:xfrm>
            <a:off x="6230520" y="4395240"/>
            <a:ext cx="4322160" cy="576360"/>
          </a:xfrm>
          <a:custGeom>
            <a:avLst/>
            <a:gdLst/>
            <a:ahLst/>
            <a:rect l="0" t="0" r="r" b="b"/>
            <a:pathLst>
              <a:path w="12006" h="1601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1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1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419"/>
                </a:lnTo>
                <a:cubicBezTo>
                  <a:pt x="12006" y="1431"/>
                  <a:pt x="12005" y="1443"/>
                  <a:pt x="12003" y="1455"/>
                </a:cubicBezTo>
                <a:cubicBezTo>
                  <a:pt x="12000" y="1467"/>
                  <a:pt x="11997" y="1478"/>
                  <a:pt x="11992" y="1489"/>
                </a:cubicBezTo>
                <a:cubicBezTo>
                  <a:pt x="11988" y="1500"/>
                  <a:pt x="11982" y="1511"/>
                  <a:pt x="11975" y="1520"/>
                </a:cubicBezTo>
                <a:cubicBezTo>
                  <a:pt x="11969" y="1530"/>
                  <a:pt x="11961" y="1540"/>
                  <a:pt x="11953" y="1548"/>
                </a:cubicBezTo>
                <a:cubicBezTo>
                  <a:pt x="11944" y="1556"/>
                  <a:pt x="11935" y="1564"/>
                  <a:pt x="11925" y="1571"/>
                </a:cubicBezTo>
                <a:cubicBezTo>
                  <a:pt x="11915" y="1577"/>
                  <a:pt x="11905" y="1583"/>
                  <a:pt x="11894" y="1587"/>
                </a:cubicBezTo>
                <a:cubicBezTo>
                  <a:pt x="11883" y="1592"/>
                  <a:pt x="11871" y="1595"/>
                  <a:pt x="11860" y="1598"/>
                </a:cubicBezTo>
                <a:cubicBezTo>
                  <a:pt x="11848" y="1600"/>
                  <a:pt x="11836" y="1601"/>
                  <a:pt x="11824" y="1601"/>
                </a:cubicBezTo>
                <a:lnTo>
                  <a:pt x="181" y="1601"/>
                </a:lnTo>
                <a:cubicBezTo>
                  <a:pt x="170" y="1601"/>
                  <a:pt x="158" y="1600"/>
                  <a:pt x="146" y="1598"/>
                </a:cubicBezTo>
                <a:cubicBezTo>
                  <a:pt x="134" y="1595"/>
                  <a:pt x="123" y="1592"/>
                  <a:pt x="112" y="1587"/>
                </a:cubicBezTo>
                <a:cubicBezTo>
                  <a:pt x="101" y="1583"/>
                  <a:pt x="90" y="1577"/>
                  <a:pt x="80" y="1571"/>
                </a:cubicBezTo>
                <a:cubicBezTo>
                  <a:pt x="70" y="1564"/>
                  <a:pt x="61" y="1556"/>
                  <a:pt x="53" y="1548"/>
                </a:cubicBezTo>
                <a:cubicBezTo>
                  <a:pt x="44" y="1540"/>
                  <a:pt x="37" y="1530"/>
                  <a:pt x="30" y="1520"/>
                </a:cubicBezTo>
                <a:cubicBezTo>
                  <a:pt x="24" y="1511"/>
                  <a:pt x="18" y="1500"/>
                  <a:pt x="13" y="1489"/>
                </a:cubicBezTo>
                <a:cubicBezTo>
                  <a:pt x="9" y="1478"/>
                  <a:pt x="5" y="1467"/>
                  <a:pt x="3" y="1455"/>
                </a:cubicBezTo>
                <a:cubicBezTo>
                  <a:pt x="1" y="1443"/>
                  <a:pt x="0" y="1431"/>
                  <a:pt x="0" y="1419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1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1"/>
                  <a:pt x="170" y="0"/>
                  <a:pt x="181" y="0"/>
                </a:cubicBezTo>
                <a:close/>
              </a:path>
            </a:pathLst>
          </a:custGeom>
          <a:noFill/>
          <a:ln w="12960">
            <a:solidFill>
              <a:srgbClr val="2563EB"/>
            </a:solidFill>
            <a:miter/>
          </a:ln>
        </p:spPr>
        <p:txBody>
          <a:bodyPr lIns="6480" tIns="6480" rIns="6480" bIns="64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68" name=""/>
          <p:cNvSpPr/>
          <p:nvPr/>
        </p:nvSpPr>
        <p:spPr>
          <a:xfrm>
            <a:off x="6387480" y="4513320"/>
            <a:ext cx="340920" cy="340560"/>
          </a:xfrm>
          <a:custGeom>
            <a:avLst/>
            <a:gdLst/>
            <a:ahLst/>
            <a:rect l="0" t="0" r="r" b="b"/>
            <a:pathLst>
              <a:path w="947" h="946">
                <a:moveTo>
                  <a:pt x="947" y="473"/>
                </a:moveTo>
                <a:cubicBezTo>
                  <a:pt x="947" y="504"/>
                  <a:pt x="944" y="535"/>
                  <a:pt x="938" y="565"/>
                </a:cubicBezTo>
                <a:cubicBezTo>
                  <a:pt x="932" y="596"/>
                  <a:pt x="923" y="625"/>
                  <a:pt x="911" y="654"/>
                </a:cubicBezTo>
                <a:cubicBezTo>
                  <a:pt x="899" y="683"/>
                  <a:pt x="885" y="710"/>
                  <a:pt x="867" y="736"/>
                </a:cubicBezTo>
                <a:cubicBezTo>
                  <a:pt x="850" y="762"/>
                  <a:pt x="830" y="786"/>
                  <a:pt x="808" y="808"/>
                </a:cubicBezTo>
                <a:cubicBezTo>
                  <a:pt x="787" y="829"/>
                  <a:pt x="763" y="849"/>
                  <a:pt x="737" y="866"/>
                </a:cubicBezTo>
                <a:cubicBezTo>
                  <a:pt x="711" y="884"/>
                  <a:pt x="683" y="898"/>
                  <a:pt x="654" y="910"/>
                </a:cubicBezTo>
                <a:cubicBezTo>
                  <a:pt x="625" y="922"/>
                  <a:pt x="596" y="931"/>
                  <a:pt x="565" y="937"/>
                </a:cubicBezTo>
                <a:cubicBezTo>
                  <a:pt x="535" y="943"/>
                  <a:pt x="504" y="946"/>
                  <a:pt x="473" y="946"/>
                </a:cubicBezTo>
                <a:cubicBezTo>
                  <a:pt x="442" y="946"/>
                  <a:pt x="411" y="943"/>
                  <a:pt x="381" y="937"/>
                </a:cubicBezTo>
                <a:cubicBezTo>
                  <a:pt x="350" y="931"/>
                  <a:pt x="321" y="922"/>
                  <a:pt x="292" y="910"/>
                </a:cubicBezTo>
                <a:cubicBezTo>
                  <a:pt x="263" y="898"/>
                  <a:pt x="236" y="884"/>
                  <a:pt x="210" y="866"/>
                </a:cubicBezTo>
                <a:cubicBezTo>
                  <a:pt x="184" y="849"/>
                  <a:pt x="161" y="829"/>
                  <a:pt x="139" y="808"/>
                </a:cubicBezTo>
                <a:cubicBezTo>
                  <a:pt x="117" y="786"/>
                  <a:pt x="97" y="762"/>
                  <a:pt x="80" y="736"/>
                </a:cubicBezTo>
                <a:cubicBezTo>
                  <a:pt x="63" y="710"/>
                  <a:pt x="48" y="683"/>
                  <a:pt x="36" y="654"/>
                </a:cubicBezTo>
                <a:cubicBezTo>
                  <a:pt x="24" y="625"/>
                  <a:pt x="15" y="596"/>
                  <a:pt x="9" y="565"/>
                </a:cubicBezTo>
                <a:cubicBezTo>
                  <a:pt x="3" y="535"/>
                  <a:pt x="0" y="504"/>
                  <a:pt x="0" y="473"/>
                </a:cubicBezTo>
                <a:cubicBezTo>
                  <a:pt x="0" y="442"/>
                  <a:pt x="3" y="411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3" y="236"/>
                  <a:pt x="80" y="210"/>
                </a:cubicBezTo>
                <a:cubicBezTo>
                  <a:pt x="97" y="184"/>
                  <a:pt x="117" y="160"/>
                  <a:pt x="139" y="138"/>
                </a:cubicBezTo>
                <a:cubicBezTo>
                  <a:pt x="161" y="116"/>
                  <a:pt x="184" y="96"/>
                  <a:pt x="210" y="79"/>
                </a:cubicBezTo>
                <a:cubicBezTo>
                  <a:pt x="236" y="62"/>
                  <a:pt x="263" y="47"/>
                  <a:pt x="292" y="36"/>
                </a:cubicBezTo>
                <a:cubicBezTo>
                  <a:pt x="321" y="24"/>
                  <a:pt x="350" y="15"/>
                  <a:pt x="381" y="9"/>
                </a:cubicBezTo>
                <a:cubicBezTo>
                  <a:pt x="411" y="3"/>
                  <a:pt x="442" y="0"/>
                  <a:pt x="473" y="0"/>
                </a:cubicBezTo>
                <a:cubicBezTo>
                  <a:pt x="504" y="0"/>
                  <a:pt x="535" y="3"/>
                  <a:pt x="565" y="9"/>
                </a:cubicBezTo>
                <a:cubicBezTo>
                  <a:pt x="596" y="15"/>
                  <a:pt x="625" y="24"/>
                  <a:pt x="654" y="36"/>
                </a:cubicBezTo>
                <a:cubicBezTo>
                  <a:pt x="683" y="47"/>
                  <a:pt x="711" y="62"/>
                  <a:pt x="737" y="79"/>
                </a:cubicBezTo>
                <a:cubicBezTo>
                  <a:pt x="763" y="96"/>
                  <a:pt x="787" y="116"/>
                  <a:pt x="808" y="138"/>
                </a:cubicBezTo>
                <a:cubicBezTo>
                  <a:pt x="830" y="160"/>
                  <a:pt x="850" y="184"/>
                  <a:pt x="867" y="210"/>
                </a:cubicBezTo>
                <a:cubicBezTo>
                  <a:pt x="885" y="236"/>
                  <a:pt x="899" y="264"/>
                  <a:pt x="911" y="292"/>
                </a:cubicBezTo>
                <a:cubicBezTo>
                  <a:pt x="923" y="321"/>
                  <a:pt x="932" y="351"/>
                  <a:pt x="938" y="381"/>
                </a:cubicBezTo>
                <a:cubicBezTo>
                  <a:pt x="944" y="411"/>
                  <a:pt x="947" y="442"/>
                  <a:pt x="947" y="473"/>
                </a:cubicBez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6852600" y="392832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実⾏結果を⾒て⾃らコードを修正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6407640" y="4633920"/>
            <a:ext cx="255600" cy="11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77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Agent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852600" y="4514040"/>
            <a:ext cx="2301120" cy="16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commit → push → </a:t>
            </a:r>
            <a:r>
              <a:rPr lang="ja-JP" sz="1130" b="1" u="none" strike="noStrike">
                <a:solidFill>
                  <a:srgbClr val="1A1A2E"/>
                </a:solidFill>
                <a:effectLst/>
                <a:uFillTx/>
                <a:latin typeface="HiraginoSans-W6"/>
                <a:ea typeface="HiraginoSans-W6"/>
              </a:rPr>
              <a:t>ドキュメント化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2" name=""/>
          <p:cNvSpPr/>
          <p:nvPr/>
        </p:nvSpPr>
        <p:spPr>
          <a:xfrm>
            <a:off x="6053400" y="2287800"/>
            <a:ext cx="177120" cy="2395800"/>
          </a:xfrm>
          <a:custGeom>
            <a:avLst/>
            <a:gdLst/>
            <a:ahLst/>
            <a:rect l="0" t="0" r="r" b="b"/>
            <a:pathLst>
              <a:path fill="none" w="492" h="6655">
                <a:moveTo>
                  <a:pt x="492" y="6655"/>
                </a:moveTo>
                <a:cubicBezTo>
                  <a:pt x="-164" y="6655"/>
                  <a:pt x="-164" y="0"/>
                  <a:pt x="492" y="0"/>
                </a:cubicBezTo>
              </a:path>
            </a:pathLst>
          </a:custGeom>
          <a:ln w="19440">
            <a:solidFill>
              <a:srgbClr val="2563EB"/>
            </a:solidFill>
            <a:miter/>
          </a:ln>
        </p:spPr>
        <p:txBody>
          <a:bodyPr lIns="9720" tIns="9720" rIns="9720" bIns="972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3" name=""/>
          <p:cNvSpPr/>
          <p:nvPr/>
        </p:nvSpPr>
        <p:spPr>
          <a:xfrm>
            <a:off x="6132240" y="2189520"/>
            <a:ext cx="196560" cy="196920"/>
          </a:xfrm>
          <a:custGeom>
            <a:avLst/>
            <a:gdLst/>
            <a:ahLst/>
            <a:rect l="0" t="0" r="r" b="b"/>
            <a:pathLst>
              <a:path w="546" h="547">
                <a:moveTo>
                  <a:pt x="0" y="0"/>
                </a:moveTo>
                <a:lnTo>
                  <a:pt x="546" y="274"/>
                </a:lnTo>
                <a:lnTo>
                  <a:pt x="0" y="54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6852600" y="4726800"/>
            <a:ext cx="1669680" cy="111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80" b="0" u="none" strike="noStrike">
                <a:solidFill>
                  <a:srgbClr val="2563EB"/>
                </a:solidFill>
                <a:effectLst/>
                <a:uFillTx/>
                <a:latin typeface="HiraginoSans-W4"/>
                <a:ea typeface="HiraginoSans-W4"/>
              </a:rPr>
              <a:t>⼀連の流れを⼈の介在少なく反復</a:t>
            </a:r>
            <a:endParaRPr lang="en-US" sz="8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5" name=""/>
          <p:cNvSpPr/>
          <p:nvPr/>
        </p:nvSpPr>
        <p:spPr>
          <a:xfrm>
            <a:off x="6230520" y="5193720"/>
            <a:ext cx="4322160" cy="524160"/>
          </a:xfrm>
          <a:custGeom>
            <a:avLst/>
            <a:gdLst/>
            <a:ahLst/>
            <a:rect l="0" t="0" r="r" b="b"/>
            <a:pathLst>
              <a:path w="12006" h="1456">
                <a:moveTo>
                  <a:pt x="181" y="0"/>
                </a:moveTo>
                <a:lnTo>
                  <a:pt x="11824" y="0"/>
                </a:lnTo>
                <a:cubicBezTo>
                  <a:pt x="11836" y="0"/>
                  <a:pt x="11848" y="2"/>
                  <a:pt x="11860" y="4"/>
                </a:cubicBezTo>
                <a:cubicBezTo>
                  <a:pt x="11871" y="6"/>
                  <a:pt x="11883" y="10"/>
                  <a:pt x="11894" y="14"/>
                </a:cubicBezTo>
                <a:cubicBezTo>
                  <a:pt x="11905" y="19"/>
                  <a:pt x="11915" y="24"/>
                  <a:pt x="11925" y="31"/>
                </a:cubicBezTo>
                <a:cubicBezTo>
                  <a:pt x="11935" y="38"/>
                  <a:pt x="11944" y="45"/>
                  <a:pt x="11953" y="54"/>
                </a:cubicBezTo>
                <a:cubicBezTo>
                  <a:pt x="11961" y="62"/>
                  <a:pt x="11969" y="71"/>
                  <a:pt x="11975" y="81"/>
                </a:cubicBezTo>
                <a:cubicBezTo>
                  <a:pt x="11982" y="91"/>
                  <a:pt x="11988" y="102"/>
                  <a:pt x="11992" y="113"/>
                </a:cubicBezTo>
                <a:cubicBezTo>
                  <a:pt x="11997" y="124"/>
                  <a:pt x="12000" y="135"/>
                  <a:pt x="12003" y="147"/>
                </a:cubicBezTo>
                <a:cubicBezTo>
                  <a:pt x="12005" y="158"/>
                  <a:pt x="12006" y="170"/>
                  <a:pt x="12006" y="182"/>
                </a:cubicBezTo>
                <a:lnTo>
                  <a:pt x="12006" y="1274"/>
                </a:lnTo>
                <a:cubicBezTo>
                  <a:pt x="12006" y="1286"/>
                  <a:pt x="12005" y="1298"/>
                  <a:pt x="12003" y="1310"/>
                </a:cubicBezTo>
                <a:cubicBezTo>
                  <a:pt x="12000" y="1321"/>
                  <a:pt x="11997" y="1333"/>
                  <a:pt x="11992" y="1344"/>
                </a:cubicBezTo>
                <a:cubicBezTo>
                  <a:pt x="11988" y="1355"/>
                  <a:pt x="11982" y="1365"/>
                  <a:pt x="11975" y="1375"/>
                </a:cubicBezTo>
                <a:cubicBezTo>
                  <a:pt x="11969" y="1385"/>
                  <a:pt x="11961" y="1394"/>
                  <a:pt x="11953" y="1403"/>
                </a:cubicBezTo>
                <a:cubicBezTo>
                  <a:pt x="11944" y="1411"/>
                  <a:pt x="11935" y="1419"/>
                  <a:pt x="11925" y="1425"/>
                </a:cubicBezTo>
                <a:cubicBezTo>
                  <a:pt x="11915" y="1432"/>
                  <a:pt x="11905" y="1438"/>
                  <a:pt x="11894" y="1442"/>
                </a:cubicBezTo>
                <a:cubicBezTo>
                  <a:pt x="11883" y="1447"/>
                  <a:pt x="11871" y="1450"/>
                  <a:pt x="11860" y="1452"/>
                </a:cubicBezTo>
                <a:cubicBezTo>
                  <a:pt x="11848" y="1455"/>
                  <a:pt x="11836" y="1456"/>
                  <a:pt x="11824" y="1456"/>
                </a:cubicBezTo>
                <a:lnTo>
                  <a:pt x="181" y="1456"/>
                </a:lnTo>
                <a:cubicBezTo>
                  <a:pt x="170" y="1456"/>
                  <a:pt x="158" y="1455"/>
                  <a:pt x="146" y="1452"/>
                </a:cubicBezTo>
                <a:cubicBezTo>
                  <a:pt x="134" y="1450"/>
                  <a:pt x="123" y="1447"/>
                  <a:pt x="112" y="1442"/>
                </a:cubicBezTo>
                <a:cubicBezTo>
                  <a:pt x="101" y="1438"/>
                  <a:pt x="90" y="1432"/>
                  <a:pt x="80" y="1425"/>
                </a:cubicBezTo>
                <a:cubicBezTo>
                  <a:pt x="70" y="1419"/>
                  <a:pt x="61" y="1411"/>
                  <a:pt x="53" y="1403"/>
                </a:cubicBezTo>
                <a:cubicBezTo>
                  <a:pt x="44" y="1394"/>
                  <a:pt x="37" y="1385"/>
                  <a:pt x="30" y="1375"/>
                </a:cubicBezTo>
                <a:cubicBezTo>
                  <a:pt x="24" y="1365"/>
                  <a:pt x="18" y="1355"/>
                  <a:pt x="13" y="1344"/>
                </a:cubicBezTo>
                <a:cubicBezTo>
                  <a:pt x="9" y="1333"/>
                  <a:pt x="5" y="1321"/>
                  <a:pt x="3" y="1310"/>
                </a:cubicBezTo>
                <a:cubicBezTo>
                  <a:pt x="1" y="1298"/>
                  <a:pt x="0" y="1286"/>
                  <a:pt x="0" y="1274"/>
                </a:cubicBezTo>
                <a:lnTo>
                  <a:pt x="0" y="182"/>
                </a:lnTo>
                <a:cubicBezTo>
                  <a:pt x="0" y="170"/>
                  <a:pt x="1" y="158"/>
                  <a:pt x="3" y="147"/>
                </a:cubicBezTo>
                <a:cubicBezTo>
                  <a:pt x="5" y="135"/>
                  <a:pt x="9" y="124"/>
                  <a:pt x="13" y="113"/>
                </a:cubicBezTo>
                <a:cubicBezTo>
                  <a:pt x="18" y="102"/>
                  <a:pt x="24" y="91"/>
                  <a:pt x="30" y="81"/>
                </a:cubicBezTo>
                <a:cubicBezTo>
                  <a:pt x="37" y="71"/>
                  <a:pt x="44" y="62"/>
                  <a:pt x="53" y="54"/>
                </a:cubicBezTo>
                <a:cubicBezTo>
                  <a:pt x="61" y="45"/>
                  <a:pt x="70" y="38"/>
                  <a:pt x="80" y="31"/>
                </a:cubicBezTo>
                <a:cubicBezTo>
                  <a:pt x="90" y="24"/>
                  <a:pt x="101" y="19"/>
                  <a:pt x="112" y="14"/>
                </a:cubicBezTo>
                <a:cubicBezTo>
                  <a:pt x="123" y="10"/>
                  <a:pt x="134" y="6"/>
                  <a:pt x="146" y="4"/>
                </a:cubicBezTo>
                <a:cubicBezTo>
                  <a:pt x="158" y="2"/>
                  <a:pt x="170" y="0"/>
                  <a:pt x="181" y="0"/>
                </a:cubicBez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76" name=""/>
          <p:cNvSpPr txBox="1"/>
          <p:nvPr/>
        </p:nvSpPr>
        <p:spPr>
          <a:xfrm rot="5400000">
            <a:off x="5518440" y="3475080"/>
            <a:ext cx="1268640" cy="9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77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エージェントが⾃律的に反復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7520760" y="5323680"/>
            <a:ext cx="1750320" cy="12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98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⼈の介在を最⼩化し⾼速に反復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82600" y="5511600"/>
            <a:ext cx="1800000" cy="117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半年間で</a:t>
            </a:r>
            <a:r>
              <a:rPr lang="en-US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34</a:t>
            </a:r>
            <a:r>
              <a:rPr lang="ja-JP" sz="820" b="0" u="none" strike="noStrike">
                <a:solidFill>
                  <a:srgbClr val="DBEAFE"/>
                </a:solidFill>
                <a:effectLst/>
                <a:uFillTx/>
                <a:latin typeface="HiraginoSans-W4"/>
                <a:ea typeface="HiraginoSans-W4"/>
              </a:rPr>
              <a:t>件のリポジトリを継続開発</a:t>
            </a:r>
            <a:endParaRPr lang="en-US" sz="82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3" name=""/>
          <p:cNvSpPr/>
          <p:nvPr/>
        </p:nvSpPr>
        <p:spPr>
          <a:xfrm>
            <a:off x="533160" y="25142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4" name=""/>
          <p:cNvSpPr/>
          <p:nvPr/>
        </p:nvSpPr>
        <p:spPr>
          <a:xfrm>
            <a:off x="552240" y="44384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5" name=""/>
          <p:cNvSpPr/>
          <p:nvPr/>
        </p:nvSpPr>
        <p:spPr>
          <a:xfrm>
            <a:off x="533160" y="44384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6" name=""/>
          <p:cNvSpPr/>
          <p:nvPr/>
        </p:nvSpPr>
        <p:spPr>
          <a:xfrm>
            <a:off x="618840" y="29239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87" name=""/>
          <p:cNvSpPr txBox="1"/>
          <p:nvPr/>
        </p:nvSpPr>
        <p:spPr>
          <a:xfrm>
            <a:off x="533520" y="199836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学習教材と参考資料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99920" y="282852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360800" y="28375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「気象データ分析チャレンジ」にて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397400" y="2828520"/>
            <a:ext cx="653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Python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1" name=""/>
          <p:cNvSpPr/>
          <p:nvPr/>
        </p:nvSpPr>
        <p:spPr>
          <a:xfrm>
            <a:off x="618840" y="33145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5050440" y="283752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・気象データの取り扱い・機械学習の基礎を習得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799920" y="32281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同講座を通じて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213372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2267640" y="32281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5315760" y="32191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5739120" y="32281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5929560" y="32191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**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99" name=""/>
          <p:cNvSpPr/>
          <p:nvPr/>
        </p:nvSpPr>
        <p:spPr>
          <a:xfrm>
            <a:off x="618840" y="37051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6063840" y="322812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の存在を確認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799920" y="36187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⿊良⽒の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1562040" y="3609720"/>
            <a:ext cx="515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Note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2077200" y="3618720"/>
            <a:ext cx="1524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連載記事を参考に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4" name=""/>
          <p:cNvSpPr txBox="1"/>
          <p:nvPr/>
        </p:nvSpPr>
        <p:spPr>
          <a:xfrm>
            <a:off x="3601080" y="3609720"/>
            <a:ext cx="667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GRIB2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5" name=""/>
          <p:cNvSpPr/>
          <p:nvPr/>
        </p:nvSpPr>
        <p:spPr>
          <a:xfrm>
            <a:off x="618840" y="4095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267800" y="361872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データの読み込み処理を実装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799920" y="400896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公開されている教材コードをベースに、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4194720" y="3999960"/>
            <a:ext cx="1172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366160" y="400896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で機能追加・改修を実施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23960" y="4570200"/>
            <a:ext cx="30837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教材・サンプルコードを⼟台として、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3767760" y="4561560"/>
            <a:ext cx="11160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Claude Code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4880880" y="4570200"/>
            <a:ext cx="32652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と共に機能を拡張していく開発スタイル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17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533520" y="317952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開発したプロダクト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2" name=""/>
          <p:cNvSpPr/>
          <p:nvPr/>
        </p:nvSpPr>
        <p:spPr>
          <a:xfrm>
            <a:off x="533160" y="11523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3" name=""/>
          <p:cNvSpPr/>
          <p:nvPr/>
        </p:nvSpPr>
        <p:spPr>
          <a:xfrm>
            <a:off x="552240" y="580068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1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65"/>
                </a:lnTo>
                <a:cubicBezTo>
                  <a:pt x="30851" y="1179"/>
                  <a:pt x="30849" y="1192"/>
                  <a:pt x="30843" y="1205"/>
                </a:cubicBezTo>
                <a:cubicBezTo>
                  <a:pt x="30838" y="1218"/>
                  <a:pt x="30830" y="1230"/>
                  <a:pt x="30820" y="1240"/>
                </a:cubicBezTo>
                <a:cubicBezTo>
                  <a:pt x="30811" y="1250"/>
                  <a:pt x="30799" y="1257"/>
                  <a:pt x="30786" y="1263"/>
                </a:cubicBezTo>
                <a:cubicBezTo>
                  <a:pt x="30773" y="1268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4" name=""/>
          <p:cNvSpPr/>
          <p:nvPr/>
        </p:nvSpPr>
        <p:spPr>
          <a:xfrm>
            <a:off x="533160" y="580068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533520" y="61848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5200" y="636120"/>
            <a:ext cx="5715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気象モデルによる進路予測の⽐較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533520" y="1437840"/>
            <a:ext cx="43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67320" y="14468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（気象庁）・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2015280" y="1437840"/>
            <a:ext cx="706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2720880" y="1446840"/>
            <a:ext cx="2477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（欧州中期予報センター）・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5101920" y="1437840"/>
            <a:ext cx="378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5479200" y="144684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（⽶国）・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6336720" y="1437840"/>
            <a:ext cx="40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AIFS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6742080" y="14468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6932520" y="1437840"/>
            <a:ext cx="9320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ECMWF 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7864200" y="144684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予測）による地上気圧予報を並列表⽰。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53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723960" y="1723680"/>
            <a:ext cx="530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2026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125352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1443960" y="17236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154980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1740240" y="1723680"/>
            <a:ext cx="2124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1952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2142720" y="1723680"/>
            <a:ext cx="59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00UTC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27388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初期値、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3501000" y="1723680"/>
            <a:ext cx="318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156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3818880" y="17326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時間予報（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4771440" y="1723680"/>
            <a:ext cx="6465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6/25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5417280" y="17326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5607720" y="1723680"/>
            <a:ext cx="3322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JST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51" name=""/>
          <p:cNvPicPr/>
          <p:nvPr/>
        </p:nvPicPr>
        <p:blipFill>
          <a:blip r:embed="rId1"/>
          <a:stretch/>
        </p:blipFill>
        <p:spPr>
          <a:xfrm>
            <a:off x="1333440" y="2133720"/>
            <a:ext cx="9524520" cy="343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2" name=""/>
          <p:cNvSpPr txBox="1"/>
          <p:nvPr/>
        </p:nvSpPr>
        <p:spPr>
          <a:xfrm>
            <a:off x="5939280" y="17326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時点）。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723960" y="5923800"/>
            <a:ext cx="46440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GSM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1186560" y="593208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を含む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1729440" y="5923800"/>
            <a:ext cx="1807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4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1829880" y="5932080"/>
            <a:ext cx="54414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モデル⽐較表⽰は独⾃開発。台⾵接近時の進路確認に活⽤している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7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1" name=""/>
          <p:cNvSpPr/>
          <p:nvPr/>
        </p:nvSpPr>
        <p:spPr>
          <a:xfrm>
            <a:off x="533160" y="11808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2" name=""/>
          <p:cNvSpPr/>
          <p:nvPr/>
        </p:nvSpPr>
        <p:spPr>
          <a:xfrm>
            <a:off x="618840" y="1590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533520" y="664920"/>
            <a:ext cx="6096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気象レーダー・衛星画像表⽰アプリ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79992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公開されている実装を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2697480" y="1495080"/>
            <a:ext cx="1225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Claude Code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921840" y="150408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に読み込ませ、機能単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7" name=""/>
          <p:cNvSpPr/>
          <p:nvPr/>
        </p:nvSpPr>
        <p:spPr>
          <a:xfrm>
            <a:off x="618840" y="2323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0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799920" y="1846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位に分割したアプリを開発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799920" y="2228400"/>
            <a:ext cx="445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Web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123372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995840" y="2228400"/>
            <a:ext cx="3643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iOS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2359440" y="22374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3" name=""/>
          <p:cNvSpPr txBox="1"/>
          <p:nvPr/>
        </p:nvSpPr>
        <p:spPr>
          <a:xfrm>
            <a:off x="3121200" y="2228400"/>
            <a:ext cx="723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Android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841200" y="2237400"/>
            <a:ext cx="2096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アプリを実装（現時点で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5" name=""/>
          <p:cNvSpPr/>
          <p:nvPr/>
        </p:nvSpPr>
        <p:spPr>
          <a:xfrm>
            <a:off x="618840" y="305748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90"/>
                  <a:pt x="158" y="100"/>
                  <a:pt x="154" y="109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09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799920" y="2580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は⾮公開）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99920" y="297072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既存の実装を参考に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514600" y="2961720"/>
            <a:ext cx="279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AI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2793240" y="297072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で機能を移植・改修する開発⼿法を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799920" y="33138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533520" y="37803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公開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282" name=""/>
          <p:cNvPicPr/>
          <p:nvPr/>
        </p:nvPicPr>
        <p:blipFill>
          <a:blip r:embed="rId1"/>
          <a:stretch/>
        </p:blipFill>
        <p:spPr>
          <a:xfrm>
            <a:off x="7534440" y="1438200"/>
            <a:ext cx="2800080" cy="4571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3" name=""/>
          <p:cNvSpPr txBox="1"/>
          <p:nvPr/>
        </p:nvSpPr>
        <p:spPr>
          <a:xfrm>
            <a:off x="914400" y="3771360"/>
            <a:ext cx="503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URL: </a:t>
            </a:r>
            <a:r>
              <a:rPr lang="en-US" sz="1500" b="0" u="none" strike="noStrike">
                <a:solidFill>
                  <a:srgbClr val="0969DA"/>
                </a:solidFill>
                <a:effectLst/>
                <a:uFillTx/>
                <a:latin typeface="HelveticaNeue"/>
                <a:ea typeface="HelveticaNeue"/>
              </a:rPr>
              <a:t>https://masauehr.github.io/iphone-weather-app/radar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1837520" y="6492600"/>
            <a:ext cx="1234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DBEAF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88" name=""/>
          <p:cNvSpPr/>
          <p:nvPr/>
        </p:nvSpPr>
        <p:spPr>
          <a:xfrm>
            <a:off x="533160" y="369540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89" name=""/>
          <p:cNvSpPr txBox="1"/>
          <p:nvPr/>
        </p:nvSpPr>
        <p:spPr>
          <a:xfrm>
            <a:off x="533520" y="3179520"/>
            <a:ext cx="266760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農研機構データ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200400" y="3161520"/>
            <a:ext cx="268380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1E3A8A"/>
                </a:solidFill>
                <a:effectLst/>
                <a:uFillTx/>
                <a:latin typeface="HelveticaNeue"/>
                <a:ea typeface="HelveticaNeue"/>
              </a:rPr>
              <a:t> × ml_forecast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5876640" y="317952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1E3A8A"/>
                </a:solidFill>
                <a:effectLst/>
                <a:uFillTx/>
                <a:latin typeface="HiraginoSans-W7"/>
                <a:ea typeface="HiraginoSans-W7"/>
              </a:rPr>
              <a:t>の取り組み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5" name=""/>
          <p:cNvSpPr/>
          <p:nvPr/>
        </p:nvSpPr>
        <p:spPr>
          <a:xfrm>
            <a:off x="533160" y="101916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296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7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8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299" name=""/>
          <p:cNvSpPr/>
          <p:nvPr/>
        </p:nvSpPr>
        <p:spPr>
          <a:xfrm>
            <a:off x="542880" y="3981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0" name=""/>
          <p:cNvSpPr/>
          <p:nvPr/>
        </p:nvSpPr>
        <p:spPr>
          <a:xfrm>
            <a:off x="2190600" y="3981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1" name=""/>
          <p:cNvSpPr/>
          <p:nvPr/>
        </p:nvSpPr>
        <p:spPr>
          <a:xfrm>
            <a:off x="3352680" y="3981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02" name=""/>
          <p:cNvSpPr/>
          <p:nvPr/>
        </p:nvSpPr>
        <p:spPr>
          <a:xfrm>
            <a:off x="542880" y="4362120"/>
            <a:ext cx="1648080" cy="381600"/>
          </a:xfrm>
          <a:custGeom>
            <a:avLst/>
            <a:gdLst/>
            <a:ahLst/>
            <a:rect l="0" t="0" r="r" b="b"/>
            <a:pathLst>
              <a:path w="4578" h="1060">
                <a:moveTo>
                  <a:pt x="0" y="0"/>
                </a:moveTo>
                <a:lnTo>
                  <a:pt x="4578" y="0"/>
                </a:lnTo>
                <a:lnTo>
                  <a:pt x="457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3" name=""/>
          <p:cNvSpPr/>
          <p:nvPr/>
        </p:nvSpPr>
        <p:spPr>
          <a:xfrm>
            <a:off x="2190600" y="4362120"/>
            <a:ext cx="1162440" cy="381600"/>
          </a:xfrm>
          <a:custGeom>
            <a:avLst/>
            <a:gdLst/>
            <a:ahLst/>
            <a:rect l="0" t="0" r="r" b="b"/>
            <a:pathLst>
              <a:path w="3229" h="1060">
                <a:moveTo>
                  <a:pt x="0" y="0"/>
                </a:moveTo>
                <a:lnTo>
                  <a:pt x="3229" y="0"/>
                </a:lnTo>
                <a:lnTo>
                  <a:pt x="3229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4" name=""/>
          <p:cNvSpPr/>
          <p:nvPr/>
        </p:nvSpPr>
        <p:spPr>
          <a:xfrm>
            <a:off x="3352680" y="4362120"/>
            <a:ext cx="1381320" cy="381600"/>
          </a:xfrm>
          <a:custGeom>
            <a:avLst/>
            <a:gdLst/>
            <a:ahLst/>
            <a:rect l="0" t="0" r="r" b="b"/>
            <a:pathLst>
              <a:path w="3837" h="1060">
                <a:moveTo>
                  <a:pt x="0" y="0"/>
                </a:moveTo>
                <a:lnTo>
                  <a:pt x="3837" y="0"/>
                </a:lnTo>
                <a:lnTo>
                  <a:pt x="383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5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6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7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8" name=""/>
          <p:cNvSpPr/>
          <p:nvPr/>
        </p:nvSpPr>
        <p:spPr>
          <a:xfrm>
            <a:off x="542880" y="474336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09" name=""/>
          <p:cNvSpPr/>
          <p:nvPr/>
        </p:nvSpPr>
        <p:spPr>
          <a:xfrm>
            <a:off x="2190600" y="474336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0" name=""/>
          <p:cNvSpPr/>
          <p:nvPr/>
        </p:nvSpPr>
        <p:spPr>
          <a:xfrm>
            <a:off x="3352680" y="474336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1" name=""/>
          <p:cNvSpPr/>
          <p:nvPr/>
        </p:nvSpPr>
        <p:spPr>
          <a:xfrm>
            <a:off x="542880" y="5124240"/>
            <a:ext cx="1648080" cy="381240"/>
          </a:xfrm>
          <a:custGeom>
            <a:avLst/>
            <a:gdLst/>
            <a:ahLst/>
            <a:rect l="0" t="0" r="r" b="b"/>
            <a:pathLst>
              <a:path w="4578" h="1059">
                <a:moveTo>
                  <a:pt x="0" y="0"/>
                </a:moveTo>
                <a:lnTo>
                  <a:pt x="4578" y="0"/>
                </a:lnTo>
                <a:lnTo>
                  <a:pt x="457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2" name=""/>
          <p:cNvSpPr/>
          <p:nvPr/>
        </p:nvSpPr>
        <p:spPr>
          <a:xfrm>
            <a:off x="2190600" y="5124240"/>
            <a:ext cx="1162440" cy="381240"/>
          </a:xfrm>
          <a:custGeom>
            <a:avLst/>
            <a:gdLst/>
            <a:ahLst/>
            <a:rect l="0" t="0" r="r" b="b"/>
            <a:pathLst>
              <a:path w="3229" h="1059">
                <a:moveTo>
                  <a:pt x="0" y="0"/>
                </a:moveTo>
                <a:lnTo>
                  <a:pt x="3229" y="0"/>
                </a:lnTo>
                <a:lnTo>
                  <a:pt x="3229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3" name=""/>
          <p:cNvSpPr/>
          <p:nvPr/>
        </p:nvSpPr>
        <p:spPr>
          <a:xfrm>
            <a:off x="3352680" y="5124240"/>
            <a:ext cx="1381320" cy="381240"/>
          </a:xfrm>
          <a:custGeom>
            <a:avLst/>
            <a:gdLst/>
            <a:ahLst/>
            <a:rect l="0" t="0" r="r" b="b"/>
            <a:pathLst>
              <a:path w="3837" h="1059">
                <a:moveTo>
                  <a:pt x="0" y="0"/>
                </a:moveTo>
                <a:lnTo>
                  <a:pt x="3837" y="0"/>
                </a:lnTo>
                <a:lnTo>
                  <a:pt x="383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4" name=""/>
          <p:cNvSpPr/>
          <p:nvPr/>
        </p:nvSpPr>
        <p:spPr>
          <a:xfrm>
            <a:off x="5331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5" name=""/>
          <p:cNvSpPr/>
          <p:nvPr/>
        </p:nvSpPr>
        <p:spPr>
          <a:xfrm>
            <a:off x="533160" y="3971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6" name=""/>
          <p:cNvSpPr/>
          <p:nvPr/>
        </p:nvSpPr>
        <p:spPr>
          <a:xfrm>
            <a:off x="218088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7" name=""/>
          <p:cNvSpPr/>
          <p:nvPr/>
        </p:nvSpPr>
        <p:spPr>
          <a:xfrm>
            <a:off x="2190600" y="3971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8" name=""/>
          <p:cNvSpPr/>
          <p:nvPr/>
        </p:nvSpPr>
        <p:spPr>
          <a:xfrm>
            <a:off x="334296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19" name=""/>
          <p:cNvSpPr/>
          <p:nvPr/>
        </p:nvSpPr>
        <p:spPr>
          <a:xfrm>
            <a:off x="3352680" y="3971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0" name=""/>
          <p:cNvSpPr/>
          <p:nvPr/>
        </p:nvSpPr>
        <p:spPr>
          <a:xfrm>
            <a:off x="4733640" y="397188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1" name=""/>
          <p:cNvSpPr/>
          <p:nvPr/>
        </p:nvSpPr>
        <p:spPr>
          <a:xfrm>
            <a:off x="533160" y="4352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2" name=""/>
          <p:cNvSpPr/>
          <p:nvPr/>
        </p:nvSpPr>
        <p:spPr>
          <a:xfrm>
            <a:off x="2190600" y="4352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3" name=""/>
          <p:cNvSpPr/>
          <p:nvPr/>
        </p:nvSpPr>
        <p:spPr>
          <a:xfrm>
            <a:off x="3352680" y="4352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4" name=""/>
          <p:cNvSpPr/>
          <p:nvPr/>
        </p:nvSpPr>
        <p:spPr>
          <a:xfrm>
            <a:off x="5331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5" name=""/>
          <p:cNvSpPr/>
          <p:nvPr/>
        </p:nvSpPr>
        <p:spPr>
          <a:xfrm>
            <a:off x="218088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6" name=""/>
          <p:cNvSpPr/>
          <p:nvPr/>
        </p:nvSpPr>
        <p:spPr>
          <a:xfrm>
            <a:off x="334296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7" name=""/>
          <p:cNvSpPr/>
          <p:nvPr/>
        </p:nvSpPr>
        <p:spPr>
          <a:xfrm>
            <a:off x="4733640" y="43621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8" name=""/>
          <p:cNvSpPr/>
          <p:nvPr/>
        </p:nvSpPr>
        <p:spPr>
          <a:xfrm>
            <a:off x="5331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29" name=""/>
          <p:cNvSpPr/>
          <p:nvPr/>
        </p:nvSpPr>
        <p:spPr>
          <a:xfrm>
            <a:off x="533160" y="47336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0" name=""/>
          <p:cNvSpPr/>
          <p:nvPr/>
        </p:nvSpPr>
        <p:spPr>
          <a:xfrm>
            <a:off x="218088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1" name=""/>
          <p:cNvSpPr/>
          <p:nvPr/>
        </p:nvSpPr>
        <p:spPr>
          <a:xfrm>
            <a:off x="2190600" y="4733640"/>
            <a:ext cx="1162440" cy="10080"/>
          </a:xfrm>
          <a:custGeom>
            <a:avLst/>
            <a:gdLst/>
            <a:ahLst/>
            <a:rect l="0" t="0" r="r" b="b"/>
            <a:pathLst>
              <a:path w="3229" h="28">
                <a:moveTo>
                  <a:pt x="0" y="0"/>
                </a:moveTo>
                <a:lnTo>
                  <a:pt x="3229" y="0"/>
                </a:lnTo>
                <a:lnTo>
                  <a:pt x="32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2" name=""/>
          <p:cNvSpPr/>
          <p:nvPr/>
        </p:nvSpPr>
        <p:spPr>
          <a:xfrm>
            <a:off x="334296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3" name=""/>
          <p:cNvSpPr/>
          <p:nvPr/>
        </p:nvSpPr>
        <p:spPr>
          <a:xfrm>
            <a:off x="3352680" y="47336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4" name=""/>
          <p:cNvSpPr/>
          <p:nvPr/>
        </p:nvSpPr>
        <p:spPr>
          <a:xfrm>
            <a:off x="4733640" y="47433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5" name=""/>
          <p:cNvSpPr/>
          <p:nvPr/>
        </p:nvSpPr>
        <p:spPr>
          <a:xfrm>
            <a:off x="5331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6" name=""/>
          <p:cNvSpPr/>
          <p:nvPr/>
        </p:nvSpPr>
        <p:spPr>
          <a:xfrm>
            <a:off x="533160" y="511488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7" name=""/>
          <p:cNvSpPr/>
          <p:nvPr/>
        </p:nvSpPr>
        <p:spPr>
          <a:xfrm>
            <a:off x="218088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8" name=""/>
          <p:cNvSpPr/>
          <p:nvPr/>
        </p:nvSpPr>
        <p:spPr>
          <a:xfrm>
            <a:off x="2190600" y="511488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39" name=""/>
          <p:cNvSpPr/>
          <p:nvPr/>
        </p:nvSpPr>
        <p:spPr>
          <a:xfrm>
            <a:off x="334296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0" name=""/>
          <p:cNvSpPr/>
          <p:nvPr/>
        </p:nvSpPr>
        <p:spPr>
          <a:xfrm>
            <a:off x="3352680" y="51148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1" name=""/>
          <p:cNvSpPr/>
          <p:nvPr/>
        </p:nvSpPr>
        <p:spPr>
          <a:xfrm>
            <a:off x="4733640" y="51242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2" name=""/>
          <p:cNvSpPr/>
          <p:nvPr/>
        </p:nvSpPr>
        <p:spPr>
          <a:xfrm>
            <a:off x="533160" y="54957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3" name=""/>
          <p:cNvSpPr/>
          <p:nvPr/>
        </p:nvSpPr>
        <p:spPr>
          <a:xfrm>
            <a:off x="2190600" y="5495760"/>
            <a:ext cx="1162440" cy="9720"/>
          </a:xfrm>
          <a:custGeom>
            <a:avLst/>
            <a:gdLst/>
            <a:ahLst/>
            <a:rect l="0" t="0" r="r" b="b"/>
            <a:pathLst>
              <a:path w="3229" h="27">
                <a:moveTo>
                  <a:pt x="0" y="0"/>
                </a:moveTo>
                <a:lnTo>
                  <a:pt x="3229" y="0"/>
                </a:lnTo>
                <a:lnTo>
                  <a:pt x="32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4" name=""/>
          <p:cNvSpPr/>
          <p:nvPr/>
        </p:nvSpPr>
        <p:spPr>
          <a:xfrm>
            <a:off x="3352680" y="549576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5" name=""/>
          <p:cNvSpPr/>
          <p:nvPr/>
        </p:nvSpPr>
        <p:spPr>
          <a:xfrm>
            <a:off x="618840" y="1428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40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70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533520" y="502920"/>
            <a:ext cx="6858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農業気象データによる太陽光発電量予測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799920" y="134208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農研機構メッシュ農業気象データ（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848040" y="133308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4271760" y="134208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4462200" y="1333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4568040" y="134208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全国をメッシュ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2" name=""/>
          <p:cNvSpPr/>
          <p:nvPr/>
        </p:nvSpPr>
        <p:spPr>
          <a:xfrm>
            <a:off x="618840" y="21621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799920" y="16848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単位で網羅する気象データ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99920" y="2066400"/>
            <a:ext cx="56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WXBC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1360800" y="20754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「アメダス解析チャレンジ」の公開コードを参考にモ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6" name=""/>
          <p:cNvSpPr/>
          <p:nvPr/>
        </p:nvSpPr>
        <p:spPr>
          <a:xfrm>
            <a:off x="618840" y="289548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99920" y="241848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デルを構築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99920" y="280908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156204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1667880" y="2809080"/>
            <a:ext cx="4191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全天⽇射量・⽇照時間等の気象予報値／⽬的変数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1" name=""/>
          <p:cNvSpPr txBox="1"/>
          <p:nvPr/>
        </p:nvSpPr>
        <p:spPr>
          <a:xfrm>
            <a:off x="5859000" y="280008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2" name=""/>
          <p:cNvSpPr/>
          <p:nvPr/>
        </p:nvSpPr>
        <p:spPr>
          <a:xfrm>
            <a:off x="618840" y="362880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0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0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799920" y="31518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実測発電量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799920" y="3542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毎朝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181160" y="3533400"/>
            <a:ext cx="371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6:30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1551960" y="3542400"/>
            <a:ext cx="1905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に予測を⾃動更新し、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3456720" y="3533400"/>
            <a:ext cx="6570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GitHub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113000" y="3542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で結果を公開・検証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666720" y="40737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2317680" y="4065840"/>
            <a:ext cx="1908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R²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250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2680200" y="4065840"/>
            <a:ext cx="367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OOF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04884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477240" y="4065840"/>
            <a:ext cx="904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 (kWh/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4385520" y="40737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4556880" y="406584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7" name=""/>
          <p:cNvSpPr txBox="1"/>
          <p:nvPr/>
        </p:nvSpPr>
        <p:spPr>
          <a:xfrm>
            <a:off x="666720" y="4446720"/>
            <a:ext cx="1255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2317680" y="4446720"/>
            <a:ext cx="4276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0.846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3477240" y="444672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1.89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666720" y="4827960"/>
            <a:ext cx="13885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Gradient Boosting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2317680" y="482796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0.840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3477240" y="48279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1.93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666720" y="5208840"/>
            <a:ext cx="4939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Ridge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1162080" y="52167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回帰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2317680" y="5208840"/>
            <a:ext cx="427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0.813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3477240" y="52088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2.14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533520" y="56948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723960" y="5686200"/>
            <a:ext cx="19008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76880" y="56948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複数モデルを⽐較検討し、精度が最も⾼い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4386960" y="5686200"/>
            <a:ext cx="1454040" cy="227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391" name=""/>
          <p:cNvPicPr/>
          <p:nvPr/>
        </p:nvPicPr>
        <p:blipFill>
          <a:blip r:embed="rId1"/>
          <a:stretch/>
        </p:blipFill>
        <p:spPr>
          <a:xfrm>
            <a:off x="7829640" y="1276200"/>
            <a:ext cx="2209320" cy="2190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92" name=""/>
          <p:cNvPicPr/>
          <p:nvPr/>
        </p:nvPicPr>
        <p:blipFill>
          <a:blip r:embed="rId2"/>
          <a:stretch/>
        </p:blipFill>
        <p:spPr>
          <a:xfrm>
            <a:off x="7058160" y="3695760"/>
            <a:ext cx="3752640" cy="2190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3" name=""/>
          <p:cNvSpPr txBox="1"/>
          <p:nvPr/>
        </p:nvSpPr>
        <p:spPr>
          <a:xfrm>
            <a:off x="533520" y="5990400"/>
            <a:ext cx="1715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を現⾏モデルに採⽤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10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398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399" name=""/>
          <p:cNvSpPr/>
          <p:nvPr/>
        </p:nvSpPr>
        <p:spPr>
          <a:xfrm>
            <a:off x="552240" y="6048360"/>
            <a:ext cx="11106360" cy="466920"/>
          </a:xfrm>
          <a:custGeom>
            <a:avLst/>
            <a:gdLst/>
            <a:ahLst/>
            <a:rect l="0" t="0" r="r" b="b"/>
            <a:pathLst>
              <a:path w="30851" h="1297">
                <a:moveTo>
                  <a:pt x="0" y="1297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2"/>
                  <a:pt x="30786" y="8"/>
                </a:cubicBezTo>
                <a:cubicBezTo>
                  <a:pt x="30799" y="13"/>
                  <a:pt x="30811" y="21"/>
                  <a:pt x="30820" y="31"/>
                </a:cubicBezTo>
                <a:cubicBezTo>
                  <a:pt x="30830" y="40"/>
                  <a:pt x="30838" y="52"/>
                  <a:pt x="30843" y="65"/>
                </a:cubicBezTo>
                <a:cubicBezTo>
                  <a:pt x="30849" y="78"/>
                  <a:pt x="30851" y="91"/>
                  <a:pt x="30851" y="105"/>
                </a:cubicBezTo>
                <a:lnTo>
                  <a:pt x="30851" y="1191"/>
                </a:lnTo>
                <a:cubicBezTo>
                  <a:pt x="30851" y="1205"/>
                  <a:pt x="30849" y="1219"/>
                  <a:pt x="30843" y="1232"/>
                </a:cubicBezTo>
                <a:cubicBezTo>
                  <a:pt x="30838" y="1245"/>
                  <a:pt x="30830" y="1256"/>
                  <a:pt x="30820" y="1266"/>
                </a:cubicBezTo>
                <a:cubicBezTo>
                  <a:pt x="30811" y="1276"/>
                  <a:pt x="30799" y="1284"/>
                  <a:pt x="30786" y="1289"/>
                </a:cubicBezTo>
                <a:cubicBezTo>
                  <a:pt x="30773" y="1294"/>
                  <a:pt x="30760" y="1297"/>
                  <a:pt x="30746" y="1297"/>
                </a:cubicBezTo>
                <a:lnTo>
                  <a:pt x="0" y="1297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0" name=""/>
          <p:cNvSpPr/>
          <p:nvPr/>
        </p:nvSpPr>
        <p:spPr>
          <a:xfrm>
            <a:off x="533160" y="6048360"/>
            <a:ext cx="38520" cy="466920"/>
          </a:xfrm>
          <a:custGeom>
            <a:avLst/>
            <a:gdLst/>
            <a:ahLst/>
            <a:rect l="0" t="0" r="r" b="b"/>
            <a:pathLst>
              <a:path w="107" h="1297">
                <a:moveTo>
                  <a:pt x="0" y="0"/>
                </a:moveTo>
                <a:lnTo>
                  <a:pt x="107" y="0"/>
                </a:lnTo>
                <a:lnTo>
                  <a:pt x="107" y="1297"/>
                </a:lnTo>
                <a:lnTo>
                  <a:pt x="0" y="1297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533520" y="475560"/>
            <a:ext cx="273024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ml_forecast —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256200" y="493560"/>
            <a:ext cx="3048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⾃宅太陽光発電量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6303960" y="475560"/>
            <a:ext cx="38052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4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5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6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7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8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09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0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1" name=""/>
          <p:cNvSpPr/>
          <p:nvPr/>
        </p:nvSpPr>
        <p:spPr>
          <a:xfrm>
            <a:off x="542880" y="2752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2" name=""/>
          <p:cNvSpPr/>
          <p:nvPr/>
        </p:nvSpPr>
        <p:spPr>
          <a:xfrm>
            <a:off x="1495080" y="2752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3" name=""/>
          <p:cNvSpPr/>
          <p:nvPr/>
        </p:nvSpPr>
        <p:spPr>
          <a:xfrm>
            <a:off x="2114280" y="2752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4" name=""/>
          <p:cNvSpPr/>
          <p:nvPr/>
        </p:nvSpPr>
        <p:spPr>
          <a:xfrm>
            <a:off x="2885760" y="2752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5" name=""/>
          <p:cNvSpPr/>
          <p:nvPr/>
        </p:nvSpPr>
        <p:spPr>
          <a:xfrm>
            <a:off x="3495600" y="2752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6" name=""/>
          <p:cNvSpPr/>
          <p:nvPr/>
        </p:nvSpPr>
        <p:spPr>
          <a:xfrm>
            <a:off x="40957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7" name=""/>
          <p:cNvSpPr/>
          <p:nvPr/>
        </p:nvSpPr>
        <p:spPr>
          <a:xfrm>
            <a:off x="4686120" y="2752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418" name=""/>
          <p:cNvSpPr/>
          <p:nvPr/>
        </p:nvSpPr>
        <p:spPr>
          <a:xfrm>
            <a:off x="542880" y="3133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19" name=""/>
          <p:cNvSpPr/>
          <p:nvPr/>
        </p:nvSpPr>
        <p:spPr>
          <a:xfrm>
            <a:off x="1495080" y="3133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0" name=""/>
          <p:cNvSpPr/>
          <p:nvPr/>
        </p:nvSpPr>
        <p:spPr>
          <a:xfrm>
            <a:off x="2114280" y="3133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1" name=""/>
          <p:cNvSpPr/>
          <p:nvPr/>
        </p:nvSpPr>
        <p:spPr>
          <a:xfrm>
            <a:off x="2885760" y="3133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2" name=""/>
          <p:cNvSpPr/>
          <p:nvPr/>
        </p:nvSpPr>
        <p:spPr>
          <a:xfrm>
            <a:off x="3495600" y="3133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3" name=""/>
          <p:cNvSpPr/>
          <p:nvPr/>
        </p:nvSpPr>
        <p:spPr>
          <a:xfrm>
            <a:off x="40957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4" name=""/>
          <p:cNvSpPr/>
          <p:nvPr/>
        </p:nvSpPr>
        <p:spPr>
          <a:xfrm>
            <a:off x="4686120" y="3133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5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6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7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8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29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0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1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2" name=""/>
          <p:cNvSpPr/>
          <p:nvPr/>
        </p:nvSpPr>
        <p:spPr>
          <a:xfrm>
            <a:off x="542880" y="3514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3" name=""/>
          <p:cNvSpPr/>
          <p:nvPr/>
        </p:nvSpPr>
        <p:spPr>
          <a:xfrm>
            <a:off x="1495080" y="3514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4" name=""/>
          <p:cNvSpPr/>
          <p:nvPr/>
        </p:nvSpPr>
        <p:spPr>
          <a:xfrm>
            <a:off x="2114280" y="3514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5" name=""/>
          <p:cNvSpPr/>
          <p:nvPr/>
        </p:nvSpPr>
        <p:spPr>
          <a:xfrm>
            <a:off x="2885760" y="3514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6" name=""/>
          <p:cNvSpPr/>
          <p:nvPr/>
        </p:nvSpPr>
        <p:spPr>
          <a:xfrm>
            <a:off x="3495600" y="3514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7" name=""/>
          <p:cNvSpPr/>
          <p:nvPr/>
        </p:nvSpPr>
        <p:spPr>
          <a:xfrm>
            <a:off x="40957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8" name=""/>
          <p:cNvSpPr/>
          <p:nvPr/>
        </p:nvSpPr>
        <p:spPr>
          <a:xfrm>
            <a:off x="4686120" y="3514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39" name=""/>
          <p:cNvSpPr/>
          <p:nvPr/>
        </p:nvSpPr>
        <p:spPr>
          <a:xfrm>
            <a:off x="542880" y="389556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0" name=""/>
          <p:cNvSpPr/>
          <p:nvPr/>
        </p:nvSpPr>
        <p:spPr>
          <a:xfrm>
            <a:off x="1495080" y="389556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1" name=""/>
          <p:cNvSpPr/>
          <p:nvPr/>
        </p:nvSpPr>
        <p:spPr>
          <a:xfrm>
            <a:off x="2114280" y="389556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2" name=""/>
          <p:cNvSpPr/>
          <p:nvPr/>
        </p:nvSpPr>
        <p:spPr>
          <a:xfrm>
            <a:off x="2885760" y="389556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3" name=""/>
          <p:cNvSpPr/>
          <p:nvPr/>
        </p:nvSpPr>
        <p:spPr>
          <a:xfrm>
            <a:off x="3495600" y="389556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4" name=""/>
          <p:cNvSpPr/>
          <p:nvPr/>
        </p:nvSpPr>
        <p:spPr>
          <a:xfrm>
            <a:off x="40957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5" name=""/>
          <p:cNvSpPr/>
          <p:nvPr/>
        </p:nvSpPr>
        <p:spPr>
          <a:xfrm>
            <a:off x="4686120" y="389556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6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7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8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49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0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1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2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3" name=""/>
          <p:cNvSpPr/>
          <p:nvPr/>
        </p:nvSpPr>
        <p:spPr>
          <a:xfrm>
            <a:off x="542880" y="4276440"/>
            <a:ext cx="952560" cy="381600"/>
          </a:xfrm>
          <a:custGeom>
            <a:avLst/>
            <a:gdLst/>
            <a:ahLst/>
            <a:rect l="0" t="0" r="r" b="b"/>
            <a:pathLst>
              <a:path w="2646" h="1060">
                <a:moveTo>
                  <a:pt x="0" y="0"/>
                </a:moveTo>
                <a:lnTo>
                  <a:pt x="2646" y="0"/>
                </a:lnTo>
                <a:lnTo>
                  <a:pt x="2646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4" name=""/>
          <p:cNvSpPr/>
          <p:nvPr/>
        </p:nvSpPr>
        <p:spPr>
          <a:xfrm>
            <a:off x="1495080" y="4276440"/>
            <a:ext cx="619560" cy="381600"/>
          </a:xfrm>
          <a:custGeom>
            <a:avLst/>
            <a:gdLst/>
            <a:ahLst/>
            <a:rect l="0" t="0" r="r" b="b"/>
            <a:pathLst>
              <a:path w="1721" h="1060">
                <a:moveTo>
                  <a:pt x="0" y="0"/>
                </a:moveTo>
                <a:lnTo>
                  <a:pt x="1721" y="0"/>
                </a:lnTo>
                <a:lnTo>
                  <a:pt x="172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5" name=""/>
          <p:cNvSpPr/>
          <p:nvPr/>
        </p:nvSpPr>
        <p:spPr>
          <a:xfrm>
            <a:off x="2114280" y="4276440"/>
            <a:ext cx="771840" cy="381600"/>
          </a:xfrm>
          <a:custGeom>
            <a:avLst/>
            <a:gdLst/>
            <a:ahLst/>
            <a:rect l="0" t="0" r="r" b="b"/>
            <a:pathLst>
              <a:path w="2144" h="1060">
                <a:moveTo>
                  <a:pt x="0" y="0"/>
                </a:moveTo>
                <a:lnTo>
                  <a:pt x="2144" y="0"/>
                </a:lnTo>
                <a:lnTo>
                  <a:pt x="2144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6" name=""/>
          <p:cNvSpPr/>
          <p:nvPr/>
        </p:nvSpPr>
        <p:spPr>
          <a:xfrm>
            <a:off x="2885760" y="4276440"/>
            <a:ext cx="610200" cy="381600"/>
          </a:xfrm>
          <a:custGeom>
            <a:avLst/>
            <a:gdLst/>
            <a:ahLst/>
            <a:rect l="0" t="0" r="r" b="b"/>
            <a:pathLst>
              <a:path w="1695" h="1060">
                <a:moveTo>
                  <a:pt x="0" y="0"/>
                </a:moveTo>
                <a:lnTo>
                  <a:pt x="1695" y="0"/>
                </a:lnTo>
                <a:lnTo>
                  <a:pt x="1695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7" name=""/>
          <p:cNvSpPr/>
          <p:nvPr/>
        </p:nvSpPr>
        <p:spPr>
          <a:xfrm>
            <a:off x="3495600" y="4276440"/>
            <a:ext cx="600480" cy="381600"/>
          </a:xfrm>
          <a:custGeom>
            <a:avLst/>
            <a:gdLst/>
            <a:ahLst/>
            <a:rect l="0" t="0" r="r" b="b"/>
            <a:pathLst>
              <a:path w="1668" h="1060">
                <a:moveTo>
                  <a:pt x="0" y="0"/>
                </a:moveTo>
                <a:lnTo>
                  <a:pt x="1668" y="0"/>
                </a:lnTo>
                <a:lnTo>
                  <a:pt x="166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8" name=""/>
          <p:cNvSpPr/>
          <p:nvPr/>
        </p:nvSpPr>
        <p:spPr>
          <a:xfrm>
            <a:off x="40957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59" name=""/>
          <p:cNvSpPr/>
          <p:nvPr/>
        </p:nvSpPr>
        <p:spPr>
          <a:xfrm>
            <a:off x="4686120" y="4276440"/>
            <a:ext cx="590760" cy="381600"/>
          </a:xfrm>
          <a:custGeom>
            <a:avLst/>
            <a:gdLst/>
            <a:ahLst/>
            <a:rect l="0" t="0" r="r" b="b"/>
            <a:pathLst>
              <a:path w="1641" h="1060">
                <a:moveTo>
                  <a:pt x="0" y="0"/>
                </a:moveTo>
                <a:lnTo>
                  <a:pt x="1641" y="0"/>
                </a:lnTo>
                <a:lnTo>
                  <a:pt x="164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0" name=""/>
          <p:cNvSpPr/>
          <p:nvPr/>
        </p:nvSpPr>
        <p:spPr>
          <a:xfrm>
            <a:off x="542880" y="4657680"/>
            <a:ext cx="952560" cy="381240"/>
          </a:xfrm>
          <a:custGeom>
            <a:avLst/>
            <a:gdLst/>
            <a:ahLst/>
            <a:rect l="0" t="0" r="r" b="b"/>
            <a:pathLst>
              <a:path w="2646" h="1059">
                <a:moveTo>
                  <a:pt x="0" y="0"/>
                </a:moveTo>
                <a:lnTo>
                  <a:pt x="2646" y="0"/>
                </a:lnTo>
                <a:lnTo>
                  <a:pt x="2646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1" name=""/>
          <p:cNvSpPr/>
          <p:nvPr/>
        </p:nvSpPr>
        <p:spPr>
          <a:xfrm>
            <a:off x="1495080" y="4657680"/>
            <a:ext cx="619560" cy="381240"/>
          </a:xfrm>
          <a:custGeom>
            <a:avLst/>
            <a:gdLst/>
            <a:ahLst/>
            <a:rect l="0" t="0" r="r" b="b"/>
            <a:pathLst>
              <a:path w="1721" h="1059">
                <a:moveTo>
                  <a:pt x="0" y="0"/>
                </a:moveTo>
                <a:lnTo>
                  <a:pt x="1721" y="0"/>
                </a:lnTo>
                <a:lnTo>
                  <a:pt x="172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2" name=""/>
          <p:cNvSpPr/>
          <p:nvPr/>
        </p:nvSpPr>
        <p:spPr>
          <a:xfrm>
            <a:off x="2114280" y="4657680"/>
            <a:ext cx="771840" cy="381240"/>
          </a:xfrm>
          <a:custGeom>
            <a:avLst/>
            <a:gdLst/>
            <a:ahLst/>
            <a:rect l="0" t="0" r="r" b="b"/>
            <a:pathLst>
              <a:path w="2144" h="1059">
                <a:moveTo>
                  <a:pt x="0" y="0"/>
                </a:moveTo>
                <a:lnTo>
                  <a:pt x="2144" y="0"/>
                </a:lnTo>
                <a:lnTo>
                  <a:pt x="2144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3" name=""/>
          <p:cNvSpPr/>
          <p:nvPr/>
        </p:nvSpPr>
        <p:spPr>
          <a:xfrm>
            <a:off x="2885760" y="4657680"/>
            <a:ext cx="610200" cy="381240"/>
          </a:xfrm>
          <a:custGeom>
            <a:avLst/>
            <a:gdLst/>
            <a:ahLst/>
            <a:rect l="0" t="0" r="r" b="b"/>
            <a:pathLst>
              <a:path w="1695" h="1059">
                <a:moveTo>
                  <a:pt x="0" y="0"/>
                </a:moveTo>
                <a:lnTo>
                  <a:pt x="1695" y="0"/>
                </a:lnTo>
                <a:lnTo>
                  <a:pt x="169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4" name=""/>
          <p:cNvSpPr/>
          <p:nvPr/>
        </p:nvSpPr>
        <p:spPr>
          <a:xfrm>
            <a:off x="3495600" y="4657680"/>
            <a:ext cx="600480" cy="381240"/>
          </a:xfrm>
          <a:custGeom>
            <a:avLst/>
            <a:gdLst/>
            <a:ahLst/>
            <a:rect l="0" t="0" r="r" b="b"/>
            <a:pathLst>
              <a:path w="1668" h="1059">
                <a:moveTo>
                  <a:pt x="0" y="0"/>
                </a:moveTo>
                <a:lnTo>
                  <a:pt x="1668" y="0"/>
                </a:lnTo>
                <a:lnTo>
                  <a:pt x="166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5" name=""/>
          <p:cNvSpPr/>
          <p:nvPr/>
        </p:nvSpPr>
        <p:spPr>
          <a:xfrm>
            <a:off x="40957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6" name=""/>
          <p:cNvSpPr/>
          <p:nvPr/>
        </p:nvSpPr>
        <p:spPr>
          <a:xfrm>
            <a:off x="4686120" y="4657680"/>
            <a:ext cx="590760" cy="381240"/>
          </a:xfrm>
          <a:custGeom>
            <a:avLst/>
            <a:gdLst/>
            <a:ahLst/>
            <a:rect l="0" t="0" r="r" b="b"/>
            <a:pathLst>
              <a:path w="1641" h="1059">
                <a:moveTo>
                  <a:pt x="0" y="0"/>
                </a:moveTo>
                <a:lnTo>
                  <a:pt x="1641" y="0"/>
                </a:lnTo>
                <a:lnTo>
                  <a:pt x="164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7" name=""/>
          <p:cNvSpPr/>
          <p:nvPr/>
        </p:nvSpPr>
        <p:spPr>
          <a:xfrm>
            <a:off x="5331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8" name=""/>
          <p:cNvSpPr/>
          <p:nvPr/>
        </p:nvSpPr>
        <p:spPr>
          <a:xfrm>
            <a:off x="533160" y="2752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69" name=""/>
          <p:cNvSpPr/>
          <p:nvPr/>
        </p:nvSpPr>
        <p:spPr>
          <a:xfrm>
            <a:off x="148572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0" name=""/>
          <p:cNvSpPr/>
          <p:nvPr/>
        </p:nvSpPr>
        <p:spPr>
          <a:xfrm>
            <a:off x="1495080" y="2752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1" name=""/>
          <p:cNvSpPr/>
          <p:nvPr/>
        </p:nvSpPr>
        <p:spPr>
          <a:xfrm>
            <a:off x="21142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2" name=""/>
          <p:cNvSpPr/>
          <p:nvPr/>
        </p:nvSpPr>
        <p:spPr>
          <a:xfrm>
            <a:off x="2124000" y="2752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3" name=""/>
          <p:cNvSpPr/>
          <p:nvPr/>
        </p:nvSpPr>
        <p:spPr>
          <a:xfrm>
            <a:off x="288576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4" name=""/>
          <p:cNvSpPr/>
          <p:nvPr/>
        </p:nvSpPr>
        <p:spPr>
          <a:xfrm>
            <a:off x="289548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5" name=""/>
          <p:cNvSpPr/>
          <p:nvPr/>
        </p:nvSpPr>
        <p:spPr>
          <a:xfrm>
            <a:off x="348588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6" name=""/>
          <p:cNvSpPr/>
          <p:nvPr/>
        </p:nvSpPr>
        <p:spPr>
          <a:xfrm>
            <a:off x="3495600" y="2752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7" name=""/>
          <p:cNvSpPr/>
          <p:nvPr/>
        </p:nvSpPr>
        <p:spPr>
          <a:xfrm>
            <a:off x="4086000" y="275256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8" name=""/>
          <p:cNvSpPr/>
          <p:nvPr/>
        </p:nvSpPr>
        <p:spPr>
          <a:xfrm>
            <a:off x="40957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79" name=""/>
          <p:cNvSpPr/>
          <p:nvPr/>
        </p:nvSpPr>
        <p:spPr>
          <a:xfrm>
            <a:off x="46767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0" name=""/>
          <p:cNvSpPr/>
          <p:nvPr/>
        </p:nvSpPr>
        <p:spPr>
          <a:xfrm>
            <a:off x="4686120" y="2752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1" name=""/>
          <p:cNvSpPr/>
          <p:nvPr/>
        </p:nvSpPr>
        <p:spPr>
          <a:xfrm>
            <a:off x="5267160" y="275256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2" name=""/>
          <p:cNvSpPr/>
          <p:nvPr/>
        </p:nvSpPr>
        <p:spPr>
          <a:xfrm>
            <a:off x="533160" y="3133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3" name=""/>
          <p:cNvSpPr/>
          <p:nvPr/>
        </p:nvSpPr>
        <p:spPr>
          <a:xfrm>
            <a:off x="1495080" y="3133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4" name=""/>
          <p:cNvSpPr/>
          <p:nvPr/>
        </p:nvSpPr>
        <p:spPr>
          <a:xfrm>
            <a:off x="2124000" y="3133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5" name=""/>
          <p:cNvSpPr/>
          <p:nvPr/>
        </p:nvSpPr>
        <p:spPr>
          <a:xfrm>
            <a:off x="289548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6" name=""/>
          <p:cNvSpPr/>
          <p:nvPr/>
        </p:nvSpPr>
        <p:spPr>
          <a:xfrm>
            <a:off x="3495600" y="3133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7" name=""/>
          <p:cNvSpPr/>
          <p:nvPr/>
        </p:nvSpPr>
        <p:spPr>
          <a:xfrm>
            <a:off x="40957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8" name=""/>
          <p:cNvSpPr/>
          <p:nvPr/>
        </p:nvSpPr>
        <p:spPr>
          <a:xfrm>
            <a:off x="4686120" y="3133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89" name=""/>
          <p:cNvSpPr/>
          <p:nvPr/>
        </p:nvSpPr>
        <p:spPr>
          <a:xfrm>
            <a:off x="5331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0" name=""/>
          <p:cNvSpPr/>
          <p:nvPr/>
        </p:nvSpPr>
        <p:spPr>
          <a:xfrm>
            <a:off x="148572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1" name=""/>
          <p:cNvSpPr/>
          <p:nvPr/>
        </p:nvSpPr>
        <p:spPr>
          <a:xfrm>
            <a:off x="21142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2" name=""/>
          <p:cNvSpPr/>
          <p:nvPr/>
        </p:nvSpPr>
        <p:spPr>
          <a:xfrm>
            <a:off x="288576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3" name=""/>
          <p:cNvSpPr/>
          <p:nvPr/>
        </p:nvSpPr>
        <p:spPr>
          <a:xfrm>
            <a:off x="348588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4" name=""/>
          <p:cNvSpPr/>
          <p:nvPr/>
        </p:nvSpPr>
        <p:spPr>
          <a:xfrm>
            <a:off x="4086000" y="3143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5" name=""/>
          <p:cNvSpPr/>
          <p:nvPr/>
        </p:nvSpPr>
        <p:spPr>
          <a:xfrm>
            <a:off x="46767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6" name=""/>
          <p:cNvSpPr/>
          <p:nvPr/>
        </p:nvSpPr>
        <p:spPr>
          <a:xfrm>
            <a:off x="5267160" y="3143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7" name=""/>
          <p:cNvSpPr/>
          <p:nvPr/>
        </p:nvSpPr>
        <p:spPr>
          <a:xfrm>
            <a:off x="5331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8" name=""/>
          <p:cNvSpPr/>
          <p:nvPr/>
        </p:nvSpPr>
        <p:spPr>
          <a:xfrm>
            <a:off x="533160" y="3514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499" name=""/>
          <p:cNvSpPr/>
          <p:nvPr/>
        </p:nvSpPr>
        <p:spPr>
          <a:xfrm>
            <a:off x="148572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0" name=""/>
          <p:cNvSpPr/>
          <p:nvPr/>
        </p:nvSpPr>
        <p:spPr>
          <a:xfrm>
            <a:off x="1495080" y="3514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1" name=""/>
          <p:cNvSpPr/>
          <p:nvPr/>
        </p:nvSpPr>
        <p:spPr>
          <a:xfrm>
            <a:off x="21142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2" name=""/>
          <p:cNvSpPr/>
          <p:nvPr/>
        </p:nvSpPr>
        <p:spPr>
          <a:xfrm>
            <a:off x="2124000" y="3514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3" name=""/>
          <p:cNvSpPr/>
          <p:nvPr/>
        </p:nvSpPr>
        <p:spPr>
          <a:xfrm>
            <a:off x="288576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4" name=""/>
          <p:cNvSpPr/>
          <p:nvPr/>
        </p:nvSpPr>
        <p:spPr>
          <a:xfrm>
            <a:off x="289548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5" name=""/>
          <p:cNvSpPr/>
          <p:nvPr/>
        </p:nvSpPr>
        <p:spPr>
          <a:xfrm>
            <a:off x="348588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6" name=""/>
          <p:cNvSpPr/>
          <p:nvPr/>
        </p:nvSpPr>
        <p:spPr>
          <a:xfrm>
            <a:off x="3495600" y="3514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7" name=""/>
          <p:cNvSpPr/>
          <p:nvPr/>
        </p:nvSpPr>
        <p:spPr>
          <a:xfrm>
            <a:off x="4086000" y="3524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8" name=""/>
          <p:cNvSpPr/>
          <p:nvPr/>
        </p:nvSpPr>
        <p:spPr>
          <a:xfrm>
            <a:off x="40957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09" name=""/>
          <p:cNvSpPr/>
          <p:nvPr/>
        </p:nvSpPr>
        <p:spPr>
          <a:xfrm>
            <a:off x="46767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0" name=""/>
          <p:cNvSpPr/>
          <p:nvPr/>
        </p:nvSpPr>
        <p:spPr>
          <a:xfrm>
            <a:off x="4686120" y="3514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1" name=""/>
          <p:cNvSpPr/>
          <p:nvPr/>
        </p:nvSpPr>
        <p:spPr>
          <a:xfrm>
            <a:off x="5267160" y="3524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2" name=""/>
          <p:cNvSpPr/>
          <p:nvPr/>
        </p:nvSpPr>
        <p:spPr>
          <a:xfrm>
            <a:off x="5331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3" name=""/>
          <p:cNvSpPr/>
          <p:nvPr/>
        </p:nvSpPr>
        <p:spPr>
          <a:xfrm>
            <a:off x="533160" y="3895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4" name=""/>
          <p:cNvSpPr/>
          <p:nvPr/>
        </p:nvSpPr>
        <p:spPr>
          <a:xfrm>
            <a:off x="148572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5" name=""/>
          <p:cNvSpPr/>
          <p:nvPr/>
        </p:nvSpPr>
        <p:spPr>
          <a:xfrm>
            <a:off x="1495080" y="3895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6" name=""/>
          <p:cNvSpPr/>
          <p:nvPr/>
        </p:nvSpPr>
        <p:spPr>
          <a:xfrm>
            <a:off x="21142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7" name=""/>
          <p:cNvSpPr/>
          <p:nvPr/>
        </p:nvSpPr>
        <p:spPr>
          <a:xfrm>
            <a:off x="2124000" y="3895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8" name=""/>
          <p:cNvSpPr/>
          <p:nvPr/>
        </p:nvSpPr>
        <p:spPr>
          <a:xfrm>
            <a:off x="288576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19" name=""/>
          <p:cNvSpPr/>
          <p:nvPr/>
        </p:nvSpPr>
        <p:spPr>
          <a:xfrm>
            <a:off x="289548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0" name=""/>
          <p:cNvSpPr/>
          <p:nvPr/>
        </p:nvSpPr>
        <p:spPr>
          <a:xfrm>
            <a:off x="348588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1" name=""/>
          <p:cNvSpPr/>
          <p:nvPr/>
        </p:nvSpPr>
        <p:spPr>
          <a:xfrm>
            <a:off x="3495600" y="3895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2" name=""/>
          <p:cNvSpPr/>
          <p:nvPr/>
        </p:nvSpPr>
        <p:spPr>
          <a:xfrm>
            <a:off x="4086000" y="39049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3" name=""/>
          <p:cNvSpPr/>
          <p:nvPr/>
        </p:nvSpPr>
        <p:spPr>
          <a:xfrm>
            <a:off x="40957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4" name=""/>
          <p:cNvSpPr/>
          <p:nvPr/>
        </p:nvSpPr>
        <p:spPr>
          <a:xfrm>
            <a:off x="46767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5" name=""/>
          <p:cNvSpPr/>
          <p:nvPr/>
        </p:nvSpPr>
        <p:spPr>
          <a:xfrm>
            <a:off x="4686120" y="3895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6" name=""/>
          <p:cNvSpPr/>
          <p:nvPr/>
        </p:nvSpPr>
        <p:spPr>
          <a:xfrm>
            <a:off x="5267160" y="39049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7" name=""/>
          <p:cNvSpPr/>
          <p:nvPr/>
        </p:nvSpPr>
        <p:spPr>
          <a:xfrm>
            <a:off x="5331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8" name=""/>
          <p:cNvSpPr/>
          <p:nvPr/>
        </p:nvSpPr>
        <p:spPr>
          <a:xfrm>
            <a:off x="533160" y="4276440"/>
            <a:ext cx="962280" cy="10080"/>
          </a:xfrm>
          <a:custGeom>
            <a:avLst/>
            <a:gdLst/>
            <a:ahLst/>
            <a:rect l="0" t="0" r="r" b="b"/>
            <a:pathLst>
              <a:path w="2673" h="28">
                <a:moveTo>
                  <a:pt x="0" y="0"/>
                </a:moveTo>
                <a:lnTo>
                  <a:pt x="2673" y="0"/>
                </a:lnTo>
                <a:lnTo>
                  <a:pt x="267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29" name=""/>
          <p:cNvSpPr/>
          <p:nvPr/>
        </p:nvSpPr>
        <p:spPr>
          <a:xfrm>
            <a:off x="148572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0" name=""/>
          <p:cNvSpPr/>
          <p:nvPr/>
        </p:nvSpPr>
        <p:spPr>
          <a:xfrm>
            <a:off x="1495080" y="4276440"/>
            <a:ext cx="629280" cy="10080"/>
          </a:xfrm>
          <a:custGeom>
            <a:avLst/>
            <a:gdLst/>
            <a:ahLst/>
            <a:rect l="0" t="0" r="r" b="b"/>
            <a:pathLst>
              <a:path w="1748" h="28">
                <a:moveTo>
                  <a:pt x="0" y="0"/>
                </a:moveTo>
                <a:lnTo>
                  <a:pt x="1748" y="0"/>
                </a:lnTo>
                <a:lnTo>
                  <a:pt x="17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1" name=""/>
          <p:cNvSpPr/>
          <p:nvPr/>
        </p:nvSpPr>
        <p:spPr>
          <a:xfrm>
            <a:off x="21142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2" name=""/>
          <p:cNvSpPr/>
          <p:nvPr/>
        </p:nvSpPr>
        <p:spPr>
          <a:xfrm>
            <a:off x="2124000" y="4276440"/>
            <a:ext cx="771840" cy="10080"/>
          </a:xfrm>
          <a:custGeom>
            <a:avLst/>
            <a:gdLst/>
            <a:ahLst/>
            <a:rect l="0" t="0" r="r" b="b"/>
            <a:pathLst>
              <a:path w="2144" h="28">
                <a:moveTo>
                  <a:pt x="0" y="0"/>
                </a:moveTo>
                <a:lnTo>
                  <a:pt x="2144" y="0"/>
                </a:lnTo>
                <a:lnTo>
                  <a:pt x="214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3" name=""/>
          <p:cNvSpPr/>
          <p:nvPr/>
        </p:nvSpPr>
        <p:spPr>
          <a:xfrm>
            <a:off x="288576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4" name=""/>
          <p:cNvSpPr/>
          <p:nvPr/>
        </p:nvSpPr>
        <p:spPr>
          <a:xfrm>
            <a:off x="289548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5" name=""/>
          <p:cNvSpPr/>
          <p:nvPr/>
        </p:nvSpPr>
        <p:spPr>
          <a:xfrm>
            <a:off x="348588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6" name=""/>
          <p:cNvSpPr/>
          <p:nvPr/>
        </p:nvSpPr>
        <p:spPr>
          <a:xfrm>
            <a:off x="3495600" y="4276440"/>
            <a:ext cx="600480" cy="10080"/>
          </a:xfrm>
          <a:custGeom>
            <a:avLst/>
            <a:gdLst/>
            <a:ahLst/>
            <a:rect l="0" t="0" r="r" b="b"/>
            <a:pathLst>
              <a:path w="1668" h="28">
                <a:moveTo>
                  <a:pt x="0" y="0"/>
                </a:moveTo>
                <a:lnTo>
                  <a:pt x="1668" y="0"/>
                </a:lnTo>
                <a:lnTo>
                  <a:pt x="166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7" name=""/>
          <p:cNvSpPr/>
          <p:nvPr/>
        </p:nvSpPr>
        <p:spPr>
          <a:xfrm>
            <a:off x="4086000" y="428616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8" name=""/>
          <p:cNvSpPr/>
          <p:nvPr/>
        </p:nvSpPr>
        <p:spPr>
          <a:xfrm>
            <a:off x="40957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39" name=""/>
          <p:cNvSpPr/>
          <p:nvPr/>
        </p:nvSpPr>
        <p:spPr>
          <a:xfrm>
            <a:off x="46767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0" name=""/>
          <p:cNvSpPr/>
          <p:nvPr/>
        </p:nvSpPr>
        <p:spPr>
          <a:xfrm>
            <a:off x="4686120" y="4276440"/>
            <a:ext cx="590760" cy="10080"/>
          </a:xfrm>
          <a:custGeom>
            <a:avLst/>
            <a:gdLst/>
            <a:ahLst/>
            <a:rect l="0" t="0" r="r" b="b"/>
            <a:pathLst>
              <a:path w="1641" h="28">
                <a:moveTo>
                  <a:pt x="0" y="0"/>
                </a:moveTo>
                <a:lnTo>
                  <a:pt x="1641" y="0"/>
                </a:lnTo>
                <a:lnTo>
                  <a:pt x="164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1" name=""/>
          <p:cNvSpPr/>
          <p:nvPr/>
        </p:nvSpPr>
        <p:spPr>
          <a:xfrm>
            <a:off x="5267160" y="428616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2" name=""/>
          <p:cNvSpPr/>
          <p:nvPr/>
        </p:nvSpPr>
        <p:spPr>
          <a:xfrm>
            <a:off x="5331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3" name=""/>
          <p:cNvSpPr/>
          <p:nvPr/>
        </p:nvSpPr>
        <p:spPr>
          <a:xfrm>
            <a:off x="533160" y="465768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4" name=""/>
          <p:cNvSpPr/>
          <p:nvPr/>
        </p:nvSpPr>
        <p:spPr>
          <a:xfrm>
            <a:off x="148572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5" name=""/>
          <p:cNvSpPr/>
          <p:nvPr/>
        </p:nvSpPr>
        <p:spPr>
          <a:xfrm>
            <a:off x="1495080" y="465768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6" name=""/>
          <p:cNvSpPr/>
          <p:nvPr/>
        </p:nvSpPr>
        <p:spPr>
          <a:xfrm>
            <a:off x="21142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7" name=""/>
          <p:cNvSpPr/>
          <p:nvPr/>
        </p:nvSpPr>
        <p:spPr>
          <a:xfrm>
            <a:off x="2124000" y="465768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8" name=""/>
          <p:cNvSpPr/>
          <p:nvPr/>
        </p:nvSpPr>
        <p:spPr>
          <a:xfrm>
            <a:off x="288576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49" name=""/>
          <p:cNvSpPr/>
          <p:nvPr/>
        </p:nvSpPr>
        <p:spPr>
          <a:xfrm>
            <a:off x="289548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0" name=""/>
          <p:cNvSpPr/>
          <p:nvPr/>
        </p:nvSpPr>
        <p:spPr>
          <a:xfrm>
            <a:off x="348588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1" name=""/>
          <p:cNvSpPr/>
          <p:nvPr/>
        </p:nvSpPr>
        <p:spPr>
          <a:xfrm>
            <a:off x="3495600" y="465768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2" name=""/>
          <p:cNvSpPr/>
          <p:nvPr/>
        </p:nvSpPr>
        <p:spPr>
          <a:xfrm>
            <a:off x="4086000" y="4667040"/>
            <a:ext cx="10080" cy="381240"/>
          </a:xfrm>
          <a:custGeom>
            <a:avLst/>
            <a:gdLst/>
            <a:ahLst/>
            <a:rect l="0" t="0" r="r" b="b"/>
            <a:pathLst>
              <a:path w="28" h="1059">
                <a:moveTo>
                  <a:pt x="0" y="0"/>
                </a:moveTo>
                <a:lnTo>
                  <a:pt x="28" y="0"/>
                </a:lnTo>
                <a:lnTo>
                  <a:pt x="28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3" name=""/>
          <p:cNvSpPr/>
          <p:nvPr/>
        </p:nvSpPr>
        <p:spPr>
          <a:xfrm>
            <a:off x="40957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4" name=""/>
          <p:cNvSpPr/>
          <p:nvPr/>
        </p:nvSpPr>
        <p:spPr>
          <a:xfrm>
            <a:off x="46767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5" name=""/>
          <p:cNvSpPr/>
          <p:nvPr/>
        </p:nvSpPr>
        <p:spPr>
          <a:xfrm>
            <a:off x="4686120" y="465768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6" name=""/>
          <p:cNvSpPr/>
          <p:nvPr/>
        </p:nvSpPr>
        <p:spPr>
          <a:xfrm>
            <a:off x="5267160" y="4667040"/>
            <a:ext cx="9720" cy="381240"/>
          </a:xfrm>
          <a:custGeom>
            <a:avLst/>
            <a:gdLst/>
            <a:ahLst/>
            <a:rect l="0" t="0" r="r" b="b"/>
            <a:pathLst>
              <a:path w="27" h="1059">
                <a:moveTo>
                  <a:pt x="0" y="0"/>
                </a:moveTo>
                <a:lnTo>
                  <a:pt x="27" y="0"/>
                </a:lnTo>
                <a:lnTo>
                  <a:pt x="27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7" name=""/>
          <p:cNvSpPr/>
          <p:nvPr/>
        </p:nvSpPr>
        <p:spPr>
          <a:xfrm>
            <a:off x="533160" y="5038560"/>
            <a:ext cx="962280" cy="9720"/>
          </a:xfrm>
          <a:custGeom>
            <a:avLst/>
            <a:gdLst/>
            <a:ahLst/>
            <a:rect l="0" t="0" r="r" b="b"/>
            <a:pathLst>
              <a:path w="2673" h="27">
                <a:moveTo>
                  <a:pt x="0" y="0"/>
                </a:moveTo>
                <a:lnTo>
                  <a:pt x="2673" y="0"/>
                </a:lnTo>
                <a:lnTo>
                  <a:pt x="267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8" name=""/>
          <p:cNvSpPr/>
          <p:nvPr/>
        </p:nvSpPr>
        <p:spPr>
          <a:xfrm>
            <a:off x="1495080" y="5038560"/>
            <a:ext cx="629280" cy="9720"/>
          </a:xfrm>
          <a:custGeom>
            <a:avLst/>
            <a:gdLst/>
            <a:ahLst/>
            <a:rect l="0" t="0" r="r" b="b"/>
            <a:pathLst>
              <a:path w="1748" h="27">
                <a:moveTo>
                  <a:pt x="0" y="0"/>
                </a:moveTo>
                <a:lnTo>
                  <a:pt x="1748" y="0"/>
                </a:lnTo>
                <a:lnTo>
                  <a:pt x="17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59" name=""/>
          <p:cNvSpPr/>
          <p:nvPr/>
        </p:nvSpPr>
        <p:spPr>
          <a:xfrm>
            <a:off x="2124000" y="5038560"/>
            <a:ext cx="771840" cy="9720"/>
          </a:xfrm>
          <a:custGeom>
            <a:avLst/>
            <a:gdLst/>
            <a:ahLst/>
            <a:rect l="0" t="0" r="r" b="b"/>
            <a:pathLst>
              <a:path w="2144" h="27">
                <a:moveTo>
                  <a:pt x="0" y="0"/>
                </a:moveTo>
                <a:lnTo>
                  <a:pt x="2144" y="0"/>
                </a:lnTo>
                <a:lnTo>
                  <a:pt x="214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0" name=""/>
          <p:cNvSpPr/>
          <p:nvPr/>
        </p:nvSpPr>
        <p:spPr>
          <a:xfrm>
            <a:off x="289548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1" name=""/>
          <p:cNvSpPr/>
          <p:nvPr/>
        </p:nvSpPr>
        <p:spPr>
          <a:xfrm>
            <a:off x="3495600" y="5038560"/>
            <a:ext cx="600480" cy="9720"/>
          </a:xfrm>
          <a:custGeom>
            <a:avLst/>
            <a:gdLst/>
            <a:ahLst/>
            <a:rect l="0" t="0" r="r" b="b"/>
            <a:pathLst>
              <a:path w="1668" h="27">
                <a:moveTo>
                  <a:pt x="0" y="0"/>
                </a:moveTo>
                <a:lnTo>
                  <a:pt x="1668" y="0"/>
                </a:lnTo>
                <a:lnTo>
                  <a:pt x="166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2" name=""/>
          <p:cNvSpPr/>
          <p:nvPr/>
        </p:nvSpPr>
        <p:spPr>
          <a:xfrm>
            <a:off x="40957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3" name=""/>
          <p:cNvSpPr/>
          <p:nvPr/>
        </p:nvSpPr>
        <p:spPr>
          <a:xfrm>
            <a:off x="4686120" y="5038560"/>
            <a:ext cx="590760" cy="9720"/>
          </a:xfrm>
          <a:custGeom>
            <a:avLst/>
            <a:gdLst/>
            <a:ahLst/>
            <a:rect l="0" t="0" r="r" b="b"/>
            <a:pathLst>
              <a:path w="1641" h="27">
                <a:moveTo>
                  <a:pt x="0" y="0"/>
                </a:moveTo>
                <a:lnTo>
                  <a:pt x="1641" y="0"/>
                </a:lnTo>
                <a:lnTo>
                  <a:pt x="164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4" name=""/>
          <p:cNvSpPr txBox="1"/>
          <p:nvPr/>
        </p:nvSpPr>
        <p:spPr>
          <a:xfrm>
            <a:off x="640980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機械学習予測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5" name=""/>
          <p:cNvSpPr txBox="1"/>
          <p:nvPr/>
        </p:nvSpPr>
        <p:spPr>
          <a:xfrm>
            <a:off x="533520" y="1303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農研機構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6" name=""/>
          <p:cNvSpPr txBox="1"/>
          <p:nvPr/>
        </p:nvSpPr>
        <p:spPr>
          <a:xfrm>
            <a:off x="1295280" y="1294920"/>
            <a:ext cx="424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AMD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1719000" y="130392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（メッシュ農業気象データ）の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4385880" y="1294920"/>
            <a:ext cx="3992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4784400" y="1303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4974840" y="1294920"/>
            <a:ext cx="462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1" name=""/>
          <p:cNvSpPr txBox="1"/>
          <p:nvPr/>
        </p:nvSpPr>
        <p:spPr>
          <a:xfrm>
            <a:off x="5436720" y="1303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53352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⽐・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3" name=""/>
          <p:cNvSpPr txBox="1"/>
          <p:nvPr/>
        </p:nvSpPr>
        <p:spPr>
          <a:xfrm>
            <a:off x="914400" y="1580760"/>
            <a:ext cx="38160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295280" y="158976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を説明変数に、⾃宅の⽇別太陽光発電量（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4914720" y="1580760"/>
            <a:ext cx="381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6" name=""/>
          <p:cNvSpPr txBox="1"/>
          <p:nvPr/>
        </p:nvSpPr>
        <p:spPr>
          <a:xfrm>
            <a:off x="5295960" y="158976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533520" y="1866600"/>
            <a:ext cx="131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Random Forest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8" name=""/>
          <p:cNvSpPr txBox="1"/>
          <p:nvPr/>
        </p:nvSpPr>
        <p:spPr>
          <a:xfrm>
            <a:off x="1846080" y="1875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で予測。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79" name=""/>
          <p:cNvSpPr txBox="1"/>
          <p:nvPr/>
        </p:nvSpPr>
        <p:spPr>
          <a:xfrm>
            <a:off x="533520" y="2363040"/>
            <a:ext cx="4183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直近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0" name=""/>
          <p:cNvSpPr txBox="1"/>
          <p:nvPr/>
        </p:nvSpPr>
        <p:spPr>
          <a:xfrm>
            <a:off x="952560" y="2353320"/>
            <a:ext cx="2091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1" name=""/>
          <p:cNvSpPr txBox="1"/>
          <p:nvPr/>
        </p:nvSpPr>
        <p:spPr>
          <a:xfrm>
            <a:off x="1068840" y="2363040"/>
            <a:ext cx="27151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⽇間の発電量予測（最終更新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2" name=""/>
          <p:cNvSpPr txBox="1"/>
          <p:nvPr/>
        </p:nvSpPr>
        <p:spPr>
          <a:xfrm>
            <a:off x="3793320" y="2353320"/>
            <a:ext cx="121536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: 2026-07-05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3" name=""/>
          <p:cNvSpPr txBox="1"/>
          <p:nvPr/>
        </p:nvSpPr>
        <p:spPr>
          <a:xfrm>
            <a:off x="5012280" y="2363040"/>
            <a:ext cx="2095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4" name=""/>
          <p:cNvSpPr txBox="1"/>
          <p:nvPr/>
        </p:nvSpPr>
        <p:spPr>
          <a:xfrm>
            <a:off x="66672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⽇付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1622520" y="284652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2244960" y="2854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平年⽐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3016440" y="28465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3623400" y="2854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4223520" y="284652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4814280" y="284652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666720" y="3227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07/05(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2" name=""/>
          <p:cNvSpPr txBox="1"/>
          <p:nvPr/>
        </p:nvSpPr>
        <p:spPr>
          <a:xfrm>
            <a:off x="1149480" y="3235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3" name=""/>
          <p:cNvSpPr txBox="1"/>
          <p:nvPr/>
        </p:nvSpPr>
        <p:spPr>
          <a:xfrm>
            <a:off x="1320840" y="3227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1622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30.4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224496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1.48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6" name=""/>
          <p:cNvSpPr txBox="1"/>
          <p:nvPr/>
        </p:nvSpPr>
        <p:spPr>
          <a:xfrm>
            <a:off x="3016440" y="3227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3623400" y="3235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422352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599" name=""/>
          <p:cNvSpPr txBox="1"/>
          <p:nvPr/>
        </p:nvSpPr>
        <p:spPr>
          <a:xfrm>
            <a:off x="4814280" y="3227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19.3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0" name=""/>
          <p:cNvSpPr txBox="1"/>
          <p:nvPr/>
        </p:nvSpPr>
        <p:spPr>
          <a:xfrm>
            <a:off x="666720" y="3608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07/06(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1149480" y="3616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1320840" y="3608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1622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32.4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4" name=""/>
          <p:cNvSpPr txBox="1"/>
          <p:nvPr/>
        </p:nvSpPr>
        <p:spPr>
          <a:xfrm>
            <a:off x="224496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1.59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5" name=""/>
          <p:cNvSpPr txBox="1"/>
          <p:nvPr/>
        </p:nvSpPr>
        <p:spPr>
          <a:xfrm>
            <a:off x="3016440" y="3608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7.3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6" name=""/>
          <p:cNvSpPr txBox="1"/>
          <p:nvPr/>
        </p:nvSpPr>
        <p:spPr>
          <a:xfrm>
            <a:off x="3623400" y="3616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422352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4814280" y="3608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666720" y="398952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07/07(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0" name=""/>
          <p:cNvSpPr txBox="1"/>
          <p:nvPr/>
        </p:nvSpPr>
        <p:spPr>
          <a:xfrm>
            <a:off x="1149480" y="3997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⽕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1320840" y="39895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2" name=""/>
          <p:cNvSpPr txBox="1"/>
          <p:nvPr/>
        </p:nvSpPr>
        <p:spPr>
          <a:xfrm>
            <a:off x="1622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24.1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224496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016440" y="398952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623400" y="39978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22352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7" name=""/>
          <p:cNvSpPr txBox="1"/>
          <p:nvPr/>
        </p:nvSpPr>
        <p:spPr>
          <a:xfrm>
            <a:off x="4814280" y="398952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666720" y="437076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07/08(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1149480" y="4378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0" name=""/>
          <p:cNvSpPr txBox="1"/>
          <p:nvPr/>
        </p:nvSpPr>
        <p:spPr>
          <a:xfrm>
            <a:off x="1320840" y="43707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1622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21.4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224496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1.05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3016440" y="437076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3623400" y="43786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22352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16.4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6" name=""/>
          <p:cNvSpPr txBox="1"/>
          <p:nvPr/>
        </p:nvSpPr>
        <p:spPr>
          <a:xfrm>
            <a:off x="4814280" y="43707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17.2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7" name=""/>
          <p:cNvSpPr txBox="1"/>
          <p:nvPr/>
        </p:nvSpPr>
        <p:spPr>
          <a:xfrm>
            <a:off x="666720" y="4751640"/>
            <a:ext cx="481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07/09(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8" name=""/>
          <p:cNvSpPr txBox="1"/>
          <p:nvPr/>
        </p:nvSpPr>
        <p:spPr>
          <a:xfrm>
            <a:off x="1149480" y="47595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⽊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29" name=""/>
          <p:cNvSpPr txBox="1"/>
          <p:nvPr/>
        </p:nvSpPr>
        <p:spPr>
          <a:xfrm>
            <a:off x="1320840" y="475164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0" name=""/>
          <p:cNvSpPr txBox="1"/>
          <p:nvPr/>
        </p:nvSpPr>
        <p:spPr>
          <a:xfrm>
            <a:off x="1622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22.3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224496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1.10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3016440" y="4751640"/>
            <a:ext cx="23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5.5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3623400" y="475956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422352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16.8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4814280" y="475164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18.1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533520" y="52189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単位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914400" y="5209920"/>
            <a:ext cx="11581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GSR(MJ/m²)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207180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2262240" y="5209920"/>
            <a:ext cx="58644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SSD(h)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2847960" y="521892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3038400" y="5209920"/>
            <a:ext cx="10594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v3/v3b(kWh)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4096800" y="521892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 モデル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4849200" y="5209920"/>
            <a:ext cx="8301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Random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533520" y="5495400"/>
            <a:ext cx="7945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Forest v3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323720" y="55044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6" name=""/>
          <p:cNvSpPr txBox="1"/>
          <p:nvPr/>
        </p:nvSpPr>
        <p:spPr>
          <a:xfrm>
            <a:off x="1514160" y="5495400"/>
            <a:ext cx="16959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MAE=2.09 kWh/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647" name=""/>
          <p:cNvPicPr/>
          <p:nvPr/>
        </p:nvPicPr>
        <p:blipFill>
          <a:blip r:embed="rId1"/>
          <a:stretch/>
        </p:blipFill>
        <p:spPr>
          <a:xfrm>
            <a:off x="6210360" y="1266840"/>
            <a:ext cx="5447880" cy="336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8" name=""/>
          <p:cNvSpPr txBox="1"/>
          <p:nvPr/>
        </p:nvSpPr>
        <p:spPr>
          <a:xfrm>
            <a:off x="3209400" y="550440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49" name=""/>
          <p:cNvSpPr txBox="1"/>
          <p:nvPr/>
        </p:nvSpPr>
        <p:spPr>
          <a:xfrm>
            <a:off x="723960" y="6179760"/>
            <a:ext cx="525996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精度評価は継続中。⽇次での予測・検証サイクルを運⽤している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0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11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4" name=""/>
          <p:cNvSpPr/>
          <p:nvPr/>
        </p:nvSpPr>
        <p:spPr>
          <a:xfrm>
            <a:off x="533160" y="1009440"/>
            <a:ext cx="11125440" cy="28800"/>
          </a:xfrm>
          <a:custGeom>
            <a:avLst/>
            <a:gdLst/>
            <a:ahLst/>
            <a:rect l="0" t="0" r="r" b="b"/>
            <a:pathLst>
              <a:path w="30904" h="80">
                <a:moveTo>
                  <a:pt x="0" y="0"/>
                </a:moveTo>
                <a:lnTo>
                  <a:pt x="30904" y="0"/>
                </a:lnTo>
                <a:lnTo>
                  <a:pt x="30904" y="80"/>
                </a:lnTo>
                <a:lnTo>
                  <a:pt x="0" y="80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533520" y="493560"/>
            <a:ext cx="2286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現⾏モデル（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2800440" y="475560"/>
            <a:ext cx="1512360" cy="454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 / v3b 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7" name=""/>
          <p:cNvSpPr/>
          <p:nvPr/>
        </p:nvSpPr>
        <p:spPr>
          <a:xfrm>
            <a:off x="552240" y="1409400"/>
            <a:ext cx="5429520" cy="467280"/>
          </a:xfrm>
          <a:custGeom>
            <a:avLst/>
            <a:gdLst/>
            <a:ahLst/>
            <a:rect l="0" t="0" r="r" b="b"/>
            <a:pathLst>
              <a:path w="15082" h="1298">
                <a:moveTo>
                  <a:pt x="0" y="1298"/>
                </a:moveTo>
                <a:lnTo>
                  <a:pt x="0" y="0"/>
                </a:lnTo>
                <a:lnTo>
                  <a:pt x="14976" y="0"/>
                </a:lnTo>
                <a:cubicBezTo>
                  <a:pt x="14991" y="0"/>
                  <a:pt x="15004" y="3"/>
                  <a:pt x="15017" y="8"/>
                </a:cubicBezTo>
                <a:cubicBezTo>
                  <a:pt x="15030" y="14"/>
                  <a:pt x="15041" y="21"/>
                  <a:pt x="15051" y="31"/>
                </a:cubicBezTo>
                <a:cubicBezTo>
                  <a:pt x="15061" y="41"/>
                  <a:pt x="15069" y="53"/>
                  <a:pt x="15074" y="66"/>
                </a:cubicBezTo>
                <a:cubicBezTo>
                  <a:pt x="15080" y="79"/>
                  <a:pt x="15082" y="92"/>
                  <a:pt x="15082" y="106"/>
                </a:cubicBezTo>
                <a:lnTo>
                  <a:pt x="15082" y="1192"/>
                </a:lnTo>
                <a:cubicBezTo>
                  <a:pt x="15082" y="1206"/>
                  <a:pt x="15080" y="1219"/>
                  <a:pt x="15074" y="1232"/>
                </a:cubicBezTo>
                <a:cubicBezTo>
                  <a:pt x="15069" y="1245"/>
                  <a:pt x="15061" y="1257"/>
                  <a:pt x="15051" y="1267"/>
                </a:cubicBezTo>
                <a:cubicBezTo>
                  <a:pt x="15041" y="1277"/>
                  <a:pt x="15030" y="1284"/>
                  <a:pt x="15017" y="1290"/>
                </a:cubicBezTo>
                <a:cubicBezTo>
                  <a:pt x="15004" y="1295"/>
                  <a:pt x="14991" y="1298"/>
                  <a:pt x="14976" y="1298"/>
                </a:cubicBezTo>
                <a:lnTo>
                  <a:pt x="0" y="1298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58" name=""/>
          <p:cNvSpPr/>
          <p:nvPr/>
        </p:nvSpPr>
        <p:spPr>
          <a:xfrm>
            <a:off x="533160" y="1409400"/>
            <a:ext cx="38520" cy="467280"/>
          </a:xfrm>
          <a:custGeom>
            <a:avLst/>
            <a:gdLst/>
            <a:ahLst/>
            <a:rect l="0" t="0" r="r" b="b"/>
            <a:pathLst>
              <a:path w="107" h="1298">
                <a:moveTo>
                  <a:pt x="0" y="0"/>
                </a:moveTo>
                <a:lnTo>
                  <a:pt x="107" y="0"/>
                </a:lnTo>
                <a:lnTo>
                  <a:pt x="107" y="1298"/>
                </a:lnTo>
                <a:lnTo>
                  <a:pt x="0" y="1298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59" name=""/>
          <p:cNvSpPr/>
          <p:nvPr/>
        </p:nvSpPr>
        <p:spPr>
          <a:xfrm>
            <a:off x="542880" y="2019240"/>
            <a:ext cx="828720" cy="381240"/>
          </a:xfrm>
          <a:custGeom>
            <a:avLst/>
            <a:gdLst/>
            <a:ahLst/>
            <a:rect l="0" t="0" r="r" b="b"/>
            <a:pathLst>
              <a:path w="2302" h="1059">
                <a:moveTo>
                  <a:pt x="0" y="0"/>
                </a:moveTo>
                <a:lnTo>
                  <a:pt x="2302" y="0"/>
                </a:lnTo>
                <a:lnTo>
                  <a:pt x="230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0" name=""/>
          <p:cNvSpPr/>
          <p:nvPr/>
        </p:nvSpPr>
        <p:spPr>
          <a:xfrm>
            <a:off x="1371240" y="2019240"/>
            <a:ext cx="2143800" cy="381240"/>
          </a:xfrm>
          <a:custGeom>
            <a:avLst/>
            <a:gdLst/>
            <a:ahLst/>
            <a:rect l="0" t="0" r="r" b="b"/>
            <a:pathLst>
              <a:path w="5955" h="1059">
                <a:moveTo>
                  <a:pt x="0" y="0"/>
                </a:moveTo>
                <a:lnTo>
                  <a:pt x="5955" y="0"/>
                </a:lnTo>
                <a:lnTo>
                  <a:pt x="595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1" name=""/>
          <p:cNvSpPr/>
          <p:nvPr/>
        </p:nvSpPr>
        <p:spPr>
          <a:xfrm>
            <a:off x="3514680" y="2019240"/>
            <a:ext cx="2467080" cy="381240"/>
          </a:xfrm>
          <a:custGeom>
            <a:avLst/>
            <a:gdLst/>
            <a:ahLst/>
            <a:rect l="0" t="0" r="r" b="b"/>
            <a:pathLst>
              <a:path w="6853" h="1059">
                <a:moveTo>
                  <a:pt x="0" y="0"/>
                </a:moveTo>
                <a:lnTo>
                  <a:pt x="6853" y="0"/>
                </a:lnTo>
                <a:lnTo>
                  <a:pt x="685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2" name=""/>
          <p:cNvSpPr/>
          <p:nvPr/>
        </p:nvSpPr>
        <p:spPr>
          <a:xfrm>
            <a:off x="542880" y="2019240"/>
            <a:ext cx="828720" cy="381240"/>
          </a:xfrm>
          <a:custGeom>
            <a:avLst/>
            <a:gdLst/>
            <a:ahLst/>
            <a:rect l="0" t="0" r="r" b="b"/>
            <a:pathLst>
              <a:path w="2302" h="1059">
                <a:moveTo>
                  <a:pt x="0" y="0"/>
                </a:moveTo>
                <a:lnTo>
                  <a:pt x="2302" y="0"/>
                </a:lnTo>
                <a:lnTo>
                  <a:pt x="2302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3" name=""/>
          <p:cNvSpPr/>
          <p:nvPr/>
        </p:nvSpPr>
        <p:spPr>
          <a:xfrm>
            <a:off x="1371240" y="2019240"/>
            <a:ext cx="2143800" cy="381240"/>
          </a:xfrm>
          <a:custGeom>
            <a:avLst/>
            <a:gdLst/>
            <a:ahLst/>
            <a:rect l="0" t="0" r="r" b="b"/>
            <a:pathLst>
              <a:path w="5955" h="1059">
                <a:moveTo>
                  <a:pt x="0" y="0"/>
                </a:moveTo>
                <a:lnTo>
                  <a:pt x="5955" y="0"/>
                </a:lnTo>
                <a:lnTo>
                  <a:pt x="5955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4" name=""/>
          <p:cNvSpPr/>
          <p:nvPr/>
        </p:nvSpPr>
        <p:spPr>
          <a:xfrm>
            <a:off x="3514680" y="2019240"/>
            <a:ext cx="2467080" cy="381240"/>
          </a:xfrm>
          <a:custGeom>
            <a:avLst/>
            <a:gdLst/>
            <a:ahLst/>
            <a:rect l="0" t="0" r="r" b="b"/>
            <a:pathLst>
              <a:path w="6853" h="1059">
                <a:moveTo>
                  <a:pt x="0" y="0"/>
                </a:moveTo>
                <a:lnTo>
                  <a:pt x="6853" y="0"/>
                </a:lnTo>
                <a:lnTo>
                  <a:pt x="6853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665" name=""/>
          <p:cNvSpPr/>
          <p:nvPr/>
        </p:nvSpPr>
        <p:spPr>
          <a:xfrm>
            <a:off x="542880" y="2400120"/>
            <a:ext cx="828720" cy="638640"/>
          </a:xfrm>
          <a:custGeom>
            <a:avLst/>
            <a:gdLst/>
            <a:ahLst/>
            <a:rect l="0" t="0" r="r" b="b"/>
            <a:pathLst>
              <a:path w="2302" h="1774">
                <a:moveTo>
                  <a:pt x="0" y="0"/>
                </a:moveTo>
                <a:lnTo>
                  <a:pt x="2302" y="0"/>
                </a:lnTo>
                <a:lnTo>
                  <a:pt x="2302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6" name=""/>
          <p:cNvSpPr/>
          <p:nvPr/>
        </p:nvSpPr>
        <p:spPr>
          <a:xfrm>
            <a:off x="1371240" y="2400120"/>
            <a:ext cx="2143800" cy="638640"/>
          </a:xfrm>
          <a:custGeom>
            <a:avLst/>
            <a:gdLst/>
            <a:ahLst/>
            <a:rect l="0" t="0" r="r" b="b"/>
            <a:pathLst>
              <a:path w="5955" h="1774">
                <a:moveTo>
                  <a:pt x="0" y="0"/>
                </a:moveTo>
                <a:lnTo>
                  <a:pt x="5955" y="0"/>
                </a:lnTo>
                <a:lnTo>
                  <a:pt x="5955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7" name=""/>
          <p:cNvSpPr/>
          <p:nvPr/>
        </p:nvSpPr>
        <p:spPr>
          <a:xfrm>
            <a:off x="3514680" y="2400120"/>
            <a:ext cx="2467080" cy="638640"/>
          </a:xfrm>
          <a:custGeom>
            <a:avLst/>
            <a:gdLst/>
            <a:ahLst/>
            <a:rect l="0" t="0" r="r" b="b"/>
            <a:pathLst>
              <a:path w="6853" h="1774">
                <a:moveTo>
                  <a:pt x="0" y="0"/>
                </a:moveTo>
                <a:lnTo>
                  <a:pt x="6853" y="0"/>
                </a:lnTo>
                <a:lnTo>
                  <a:pt x="685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8" name=""/>
          <p:cNvSpPr/>
          <p:nvPr/>
        </p:nvSpPr>
        <p:spPr>
          <a:xfrm>
            <a:off x="542880" y="3038400"/>
            <a:ext cx="828720" cy="638280"/>
          </a:xfrm>
          <a:custGeom>
            <a:avLst/>
            <a:gdLst/>
            <a:ahLst/>
            <a:rect l="0" t="0" r="r" b="b"/>
            <a:pathLst>
              <a:path w="2302" h="1773">
                <a:moveTo>
                  <a:pt x="0" y="0"/>
                </a:moveTo>
                <a:lnTo>
                  <a:pt x="2302" y="0"/>
                </a:lnTo>
                <a:lnTo>
                  <a:pt x="2302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69" name=""/>
          <p:cNvSpPr/>
          <p:nvPr/>
        </p:nvSpPr>
        <p:spPr>
          <a:xfrm>
            <a:off x="1371240" y="3038400"/>
            <a:ext cx="2143800" cy="638280"/>
          </a:xfrm>
          <a:custGeom>
            <a:avLst/>
            <a:gdLst/>
            <a:ahLst/>
            <a:rect l="0" t="0" r="r" b="b"/>
            <a:pathLst>
              <a:path w="5955" h="1773">
                <a:moveTo>
                  <a:pt x="0" y="0"/>
                </a:moveTo>
                <a:lnTo>
                  <a:pt x="5955" y="0"/>
                </a:lnTo>
                <a:lnTo>
                  <a:pt x="595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0" name=""/>
          <p:cNvSpPr/>
          <p:nvPr/>
        </p:nvSpPr>
        <p:spPr>
          <a:xfrm>
            <a:off x="3514680" y="3038400"/>
            <a:ext cx="2467080" cy="638280"/>
          </a:xfrm>
          <a:custGeom>
            <a:avLst/>
            <a:gdLst/>
            <a:ahLst/>
            <a:rect l="0" t="0" r="r" b="b"/>
            <a:pathLst>
              <a:path w="6853" h="1773">
                <a:moveTo>
                  <a:pt x="0" y="0"/>
                </a:moveTo>
                <a:lnTo>
                  <a:pt x="6853" y="0"/>
                </a:lnTo>
                <a:lnTo>
                  <a:pt x="685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1" name=""/>
          <p:cNvSpPr/>
          <p:nvPr/>
        </p:nvSpPr>
        <p:spPr>
          <a:xfrm>
            <a:off x="542880" y="3038400"/>
            <a:ext cx="828720" cy="638280"/>
          </a:xfrm>
          <a:custGeom>
            <a:avLst/>
            <a:gdLst/>
            <a:ahLst/>
            <a:rect l="0" t="0" r="r" b="b"/>
            <a:pathLst>
              <a:path w="2302" h="1773">
                <a:moveTo>
                  <a:pt x="0" y="0"/>
                </a:moveTo>
                <a:lnTo>
                  <a:pt x="2302" y="0"/>
                </a:lnTo>
                <a:lnTo>
                  <a:pt x="2302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2" name=""/>
          <p:cNvSpPr/>
          <p:nvPr/>
        </p:nvSpPr>
        <p:spPr>
          <a:xfrm>
            <a:off x="1371240" y="3038400"/>
            <a:ext cx="2143800" cy="638280"/>
          </a:xfrm>
          <a:custGeom>
            <a:avLst/>
            <a:gdLst/>
            <a:ahLst/>
            <a:rect l="0" t="0" r="r" b="b"/>
            <a:pathLst>
              <a:path w="5955" h="1773">
                <a:moveTo>
                  <a:pt x="0" y="0"/>
                </a:moveTo>
                <a:lnTo>
                  <a:pt x="5955" y="0"/>
                </a:lnTo>
                <a:lnTo>
                  <a:pt x="5955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3" name=""/>
          <p:cNvSpPr/>
          <p:nvPr/>
        </p:nvSpPr>
        <p:spPr>
          <a:xfrm>
            <a:off x="3514680" y="3038400"/>
            <a:ext cx="2467080" cy="638280"/>
          </a:xfrm>
          <a:custGeom>
            <a:avLst/>
            <a:gdLst/>
            <a:ahLst/>
            <a:rect l="0" t="0" r="r" b="b"/>
            <a:pathLst>
              <a:path w="6853" h="1773">
                <a:moveTo>
                  <a:pt x="0" y="0"/>
                </a:moveTo>
                <a:lnTo>
                  <a:pt x="6853" y="0"/>
                </a:lnTo>
                <a:lnTo>
                  <a:pt x="685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4" name=""/>
          <p:cNvSpPr/>
          <p:nvPr/>
        </p:nvSpPr>
        <p:spPr>
          <a:xfrm>
            <a:off x="542880" y="3676320"/>
            <a:ext cx="828720" cy="895680"/>
          </a:xfrm>
          <a:custGeom>
            <a:avLst/>
            <a:gdLst/>
            <a:ahLst/>
            <a:rect l="0" t="0" r="r" b="b"/>
            <a:pathLst>
              <a:path w="2302" h="2488">
                <a:moveTo>
                  <a:pt x="0" y="0"/>
                </a:moveTo>
                <a:lnTo>
                  <a:pt x="2302" y="0"/>
                </a:lnTo>
                <a:lnTo>
                  <a:pt x="2302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5" name=""/>
          <p:cNvSpPr/>
          <p:nvPr/>
        </p:nvSpPr>
        <p:spPr>
          <a:xfrm>
            <a:off x="1371240" y="3676320"/>
            <a:ext cx="2143800" cy="895680"/>
          </a:xfrm>
          <a:custGeom>
            <a:avLst/>
            <a:gdLst/>
            <a:ahLst/>
            <a:rect l="0" t="0" r="r" b="b"/>
            <a:pathLst>
              <a:path w="5955" h="2488">
                <a:moveTo>
                  <a:pt x="0" y="0"/>
                </a:moveTo>
                <a:lnTo>
                  <a:pt x="5955" y="0"/>
                </a:lnTo>
                <a:lnTo>
                  <a:pt x="5955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6" name=""/>
          <p:cNvSpPr/>
          <p:nvPr/>
        </p:nvSpPr>
        <p:spPr>
          <a:xfrm>
            <a:off x="3514680" y="3676320"/>
            <a:ext cx="2467080" cy="895680"/>
          </a:xfrm>
          <a:custGeom>
            <a:avLst/>
            <a:gdLst/>
            <a:ahLst/>
            <a:rect l="0" t="0" r="r" b="b"/>
            <a:pathLst>
              <a:path w="6853" h="2488">
                <a:moveTo>
                  <a:pt x="0" y="0"/>
                </a:moveTo>
                <a:lnTo>
                  <a:pt x="6853" y="0"/>
                </a:lnTo>
                <a:lnTo>
                  <a:pt x="6853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7" name=""/>
          <p:cNvSpPr/>
          <p:nvPr/>
        </p:nvSpPr>
        <p:spPr>
          <a:xfrm>
            <a:off x="533160" y="2019240"/>
            <a:ext cx="10080" cy="390600"/>
          </a:xfrm>
          <a:custGeom>
            <a:avLst/>
            <a:gdLst/>
            <a:ahLst/>
            <a:rect l="0" t="0" r="r" b="b"/>
            <a:pathLst>
              <a:path w="28" h="1085">
                <a:moveTo>
                  <a:pt x="0" y="0"/>
                </a:moveTo>
                <a:lnTo>
                  <a:pt x="28" y="0"/>
                </a:lnTo>
                <a:lnTo>
                  <a:pt x="28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8" name=""/>
          <p:cNvSpPr/>
          <p:nvPr/>
        </p:nvSpPr>
        <p:spPr>
          <a:xfrm>
            <a:off x="533160" y="20192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79" name=""/>
          <p:cNvSpPr/>
          <p:nvPr/>
        </p:nvSpPr>
        <p:spPr>
          <a:xfrm>
            <a:off x="1361880" y="201924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0" name=""/>
          <p:cNvSpPr/>
          <p:nvPr/>
        </p:nvSpPr>
        <p:spPr>
          <a:xfrm>
            <a:off x="1371240" y="2019240"/>
            <a:ext cx="2143800" cy="9720"/>
          </a:xfrm>
          <a:custGeom>
            <a:avLst/>
            <a:gdLst/>
            <a:ahLst/>
            <a:rect l="0" t="0" r="r" b="b"/>
            <a:pathLst>
              <a:path w="5955" h="27">
                <a:moveTo>
                  <a:pt x="0" y="0"/>
                </a:moveTo>
                <a:lnTo>
                  <a:pt x="5955" y="0"/>
                </a:lnTo>
                <a:lnTo>
                  <a:pt x="59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1" name=""/>
          <p:cNvSpPr/>
          <p:nvPr/>
        </p:nvSpPr>
        <p:spPr>
          <a:xfrm>
            <a:off x="3504960" y="2019240"/>
            <a:ext cx="10440" cy="390600"/>
          </a:xfrm>
          <a:custGeom>
            <a:avLst/>
            <a:gdLst/>
            <a:ahLst/>
            <a:rect l="0" t="0" r="r" b="b"/>
            <a:pathLst>
              <a:path w="29" h="1085">
                <a:moveTo>
                  <a:pt x="0" y="0"/>
                </a:moveTo>
                <a:lnTo>
                  <a:pt x="29" y="0"/>
                </a:lnTo>
                <a:lnTo>
                  <a:pt x="29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2" name=""/>
          <p:cNvSpPr/>
          <p:nvPr/>
        </p:nvSpPr>
        <p:spPr>
          <a:xfrm>
            <a:off x="3514680" y="2019240"/>
            <a:ext cx="2467080" cy="9720"/>
          </a:xfrm>
          <a:custGeom>
            <a:avLst/>
            <a:gdLst/>
            <a:ahLst/>
            <a:rect l="0" t="0" r="r" b="b"/>
            <a:pathLst>
              <a:path w="6853" h="27">
                <a:moveTo>
                  <a:pt x="0" y="0"/>
                </a:moveTo>
                <a:lnTo>
                  <a:pt x="6853" y="0"/>
                </a:lnTo>
                <a:lnTo>
                  <a:pt x="68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3" name=""/>
          <p:cNvSpPr/>
          <p:nvPr/>
        </p:nvSpPr>
        <p:spPr>
          <a:xfrm>
            <a:off x="5972040" y="2019240"/>
            <a:ext cx="9720" cy="390600"/>
          </a:xfrm>
          <a:custGeom>
            <a:avLst/>
            <a:gdLst/>
            <a:ahLst/>
            <a:rect l="0" t="0" r="r" b="b"/>
            <a:pathLst>
              <a:path w="27" h="1085">
                <a:moveTo>
                  <a:pt x="0" y="0"/>
                </a:moveTo>
                <a:lnTo>
                  <a:pt x="27" y="0"/>
                </a:lnTo>
                <a:lnTo>
                  <a:pt x="27" y="1085"/>
                </a:lnTo>
                <a:lnTo>
                  <a:pt x="0" y="108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4" name=""/>
          <p:cNvSpPr/>
          <p:nvPr/>
        </p:nvSpPr>
        <p:spPr>
          <a:xfrm>
            <a:off x="533160" y="2400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5" name=""/>
          <p:cNvSpPr/>
          <p:nvPr/>
        </p:nvSpPr>
        <p:spPr>
          <a:xfrm>
            <a:off x="1371240" y="2400120"/>
            <a:ext cx="2143800" cy="9720"/>
          </a:xfrm>
          <a:custGeom>
            <a:avLst/>
            <a:gdLst/>
            <a:ahLst/>
            <a:rect l="0" t="0" r="r" b="b"/>
            <a:pathLst>
              <a:path w="5955" h="27">
                <a:moveTo>
                  <a:pt x="0" y="0"/>
                </a:moveTo>
                <a:lnTo>
                  <a:pt x="5955" y="0"/>
                </a:lnTo>
                <a:lnTo>
                  <a:pt x="59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6" name=""/>
          <p:cNvSpPr/>
          <p:nvPr/>
        </p:nvSpPr>
        <p:spPr>
          <a:xfrm>
            <a:off x="3514680" y="2400120"/>
            <a:ext cx="2467080" cy="9720"/>
          </a:xfrm>
          <a:custGeom>
            <a:avLst/>
            <a:gdLst/>
            <a:ahLst/>
            <a:rect l="0" t="0" r="r" b="b"/>
            <a:pathLst>
              <a:path w="6853" h="27">
                <a:moveTo>
                  <a:pt x="0" y="0"/>
                </a:moveTo>
                <a:lnTo>
                  <a:pt x="6853" y="0"/>
                </a:lnTo>
                <a:lnTo>
                  <a:pt x="68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7" name=""/>
          <p:cNvSpPr/>
          <p:nvPr/>
        </p:nvSpPr>
        <p:spPr>
          <a:xfrm>
            <a:off x="533160" y="2409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8" name=""/>
          <p:cNvSpPr/>
          <p:nvPr/>
        </p:nvSpPr>
        <p:spPr>
          <a:xfrm>
            <a:off x="1361880" y="2409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89" name=""/>
          <p:cNvSpPr/>
          <p:nvPr/>
        </p:nvSpPr>
        <p:spPr>
          <a:xfrm>
            <a:off x="3504960" y="2409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0" name=""/>
          <p:cNvSpPr/>
          <p:nvPr/>
        </p:nvSpPr>
        <p:spPr>
          <a:xfrm>
            <a:off x="5972040" y="2409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1" name=""/>
          <p:cNvSpPr/>
          <p:nvPr/>
        </p:nvSpPr>
        <p:spPr>
          <a:xfrm>
            <a:off x="533160" y="304776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2" name=""/>
          <p:cNvSpPr/>
          <p:nvPr/>
        </p:nvSpPr>
        <p:spPr>
          <a:xfrm>
            <a:off x="533160" y="303840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3" name=""/>
          <p:cNvSpPr/>
          <p:nvPr/>
        </p:nvSpPr>
        <p:spPr>
          <a:xfrm>
            <a:off x="1361880" y="304776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4" name=""/>
          <p:cNvSpPr/>
          <p:nvPr/>
        </p:nvSpPr>
        <p:spPr>
          <a:xfrm>
            <a:off x="1371240" y="3038400"/>
            <a:ext cx="2143800" cy="9720"/>
          </a:xfrm>
          <a:custGeom>
            <a:avLst/>
            <a:gdLst/>
            <a:ahLst/>
            <a:rect l="0" t="0" r="r" b="b"/>
            <a:pathLst>
              <a:path w="5955" h="27">
                <a:moveTo>
                  <a:pt x="0" y="0"/>
                </a:moveTo>
                <a:lnTo>
                  <a:pt x="5955" y="0"/>
                </a:lnTo>
                <a:lnTo>
                  <a:pt x="595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5" name=""/>
          <p:cNvSpPr/>
          <p:nvPr/>
        </p:nvSpPr>
        <p:spPr>
          <a:xfrm>
            <a:off x="3504960" y="304776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6" name=""/>
          <p:cNvSpPr/>
          <p:nvPr/>
        </p:nvSpPr>
        <p:spPr>
          <a:xfrm>
            <a:off x="3514680" y="3038400"/>
            <a:ext cx="2467080" cy="9720"/>
          </a:xfrm>
          <a:custGeom>
            <a:avLst/>
            <a:gdLst/>
            <a:ahLst/>
            <a:rect l="0" t="0" r="r" b="b"/>
            <a:pathLst>
              <a:path w="6853" h="27">
                <a:moveTo>
                  <a:pt x="0" y="0"/>
                </a:moveTo>
                <a:lnTo>
                  <a:pt x="6853" y="0"/>
                </a:lnTo>
                <a:lnTo>
                  <a:pt x="685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7" name=""/>
          <p:cNvSpPr/>
          <p:nvPr/>
        </p:nvSpPr>
        <p:spPr>
          <a:xfrm>
            <a:off x="5972040" y="304776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8" name=""/>
          <p:cNvSpPr/>
          <p:nvPr/>
        </p:nvSpPr>
        <p:spPr>
          <a:xfrm>
            <a:off x="533160" y="3686040"/>
            <a:ext cx="10080" cy="895680"/>
          </a:xfrm>
          <a:custGeom>
            <a:avLst/>
            <a:gdLst/>
            <a:ahLst/>
            <a:rect l="0" t="0" r="r" b="b"/>
            <a:pathLst>
              <a:path w="28" h="2488">
                <a:moveTo>
                  <a:pt x="0" y="0"/>
                </a:moveTo>
                <a:lnTo>
                  <a:pt x="28" y="0"/>
                </a:lnTo>
                <a:lnTo>
                  <a:pt x="28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699" name=""/>
          <p:cNvSpPr/>
          <p:nvPr/>
        </p:nvSpPr>
        <p:spPr>
          <a:xfrm>
            <a:off x="533160" y="367632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0" name=""/>
          <p:cNvSpPr/>
          <p:nvPr/>
        </p:nvSpPr>
        <p:spPr>
          <a:xfrm>
            <a:off x="1361880" y="3686040"/>
            <a:ext cx="9720" cy="895680"/>
          </a:xfrm>
          <a:custGeom>
            <a:avLst/>
            <a:gdLst/>
            <a:ahLst/>
            <a:rect l="0" t="0" r="r" b="b"/>
            <a:pathLst>
              <a:path w="27" h="2488">
                <a:moveTo>
                  <a:pt x="0" y="0"/>
                </a:moveTo>
                <a:lnTo>
                  <a:pt x="27" y="0"/>
                </a:lnTo>
                <a:lnTo>
                  <a:pt x="27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1" name=""/>
          <p:cNvSpPr/>
          <p:nvPr/>
        </p:nvSpPr>
        <p:spPr>
          <a:xfrm>
            <a:off x="1371240" y="3676320"/>
            <a:ext cx="2143800" cy="10080"/>
          </a:xfrm>
          <a:custGeom>
            <a:avLst/>
            <a:gdLst/>
            <a:ahLst/>
            <a:rect l="0" t="0" r="r" b="b"/>
            <a:pathLst>
              <a:path w="5955" h="28">
                <a:moveTo>
                  <a:pt x="0" y="0"/>
                </a:moveTo>
                <a:lnTo>
                  <a:pt x="5955" y="0"/>
                </a:lnTo>
                <a:lnTo>
                  <a:pt x="59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2" name=""/>
          <p:cNvSpPr/>
          <p:nvPr/>
        </p:nvSpPr>
        <p:spPr>
          <a:xfrm>
            <a:off x="3504960" y="3686040"/>
            <a:ext cx="10440" cy="895680"/>
          </a:xfrm>
          <a:custGeom>
            <a:avLst/>
            <a:gdLst/>
            <a:ahLst/>
            <a:rect l="0" t="0" r="r" b="b"/>
            <a:pathLst>
              <a:path w="29" h="2488">
                <a:moveTo>
                  <a:pt x="0" y="0"/>
                </a:moveTo>
                <a:lnTo>
                  <a:pt x="29" y="0"/>
                </a:lnTo>
                <a:lnTo>
                  <a:pt x="29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3" name=""/>
          <p:cNvSpPr/>
          <p:nvPr/>
        </p:nvSpPr>
        <p:spPr>
          <a:xfrm>
            <a:off x="3514680" y="3676320"/>
            <a:ext cx="2467080" cy="10080"/>
          </a:xfrm>
          <a:custGeom>
            <a:avLst/>
            <a:gdLst/>
            <a:ahLst/>
            <a:rect l="0" t="0" r="r" b="b"/>
            <a:pathLst>
              <a:path w="6853" h="28">
                <a:moveTo>
                  <a:pt x="0" y="0"/>
                </a:moveTo>
                <a:lnTo>
                  <a:pt x="6853" y="0"/>
                </a:lnTo>
                <a:lnTo>
                  <a:pt x="68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4" name=""/>
          <p:cNvSpPr/>
          <p:nvPr/>
        </p:nvSpPr>
        <p:spPr>
          <a:xfrm>
            <a:off x="5972040" y="3686040"/>
            <a:ext cx="9720" cy="895680"/>
          </a:xfrm>
          <a:custGeom>
            <a:avLst/>
            <a:gdLst/>
            <a:ahLst/>
            <a:rect l="0" t="0" r="r" b="b"/>
            <a:pathLst>
              <a:path w="27" h="2488">
                <a:moveTo>
                  <a:pt x="0" y="0"/>
                </a:moveTo>
                <a:lnTo>
                  <a:pt x="27" y="0"/>
                </a:lnTo>
                <a:lnTo>
                  <a:pt x="27" y="2488"/>
                </a:lnTo>
                <a:lnTo>
                  <a:pt x="0" y="248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5" name=""/>
          <p:cNvSpPr/>
          <p:nvPr/>
        </p:nvSpPr>
        <p:spPr>
          <a:xfrm>
            <a:off x="533160" y="45716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6" name=""/>
          <p:cNvSpPr/>
          <p:nvPr/>
        </p:nvSpPr>
        <p:spPr>
          <a:xfrm>
            <a:off x="1371240" y="4571640"/>
            <a:ext cx="2143800" cy="10080"/>
          </a:xfrm>
          <a:custGeom>
            <a:avLst/>
            <a:gdLst/>
            <a:ahLst/>
            <a:rect l="0" t="0" r="r" b="b"/>
            <a:pathLst>
              <a:path w="5955" h="28">
                <a:moveTo>
                  <a:pt x="0" y="0"/>
                </a:moveTo>
                <a:lnTo>
                  <a:pt x="5955" y="0"/>
                </a:lnTo>
                <a:lnTo>
                  <a:pt x="595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7" name=""/>
          <p:cNvSpPr/>
          <p:nvPr/>
        </p:nvSpPr>
        <p:spPr>
          <a:xfrm>
            <a:off x="3514680" y="4571640"/>
            <a:ext cx="2467080" cy="10080"/>
          </a:xfrm>
          <a:custGeom>
            <a:avLst/>
            <a:gdLst/>
            <a:ahLst/>
            <a:rect l="0" t="0" r="r" b="b"/>
            <a:pathLst>
              <a:path w="6853" h="28">
                <a:moveTo>
                  <a:pt x="0" y="0"/>
                </a:moveTo>
                <a:lnTo>
                  <a:pt x="6853" y="0"/>
                </a:lnTo>
                <a:lnTo>
                  <a:pt x="685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8" name=""/>
          <p:cNvSpPr/>
          <p:nvPr/>
        </p:nvSpPr>
        <p:spPr>
          <a:xfrm>
            <a:off x="542880" y="57434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09" name=""/>
          <p:cNvSpPr/>
          <p:nvPr/>
        </p:nvSpPr>
        <p:spPr>
          <a:xfrm>
            <a:off x="2724120" y="57434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0" name=""/>
          <p:cNvSpPr/>
          <p:nvPr/>
        </p:nvSpPr>
        <p:spPr>
          <a:xfrm>
            <a:off x="4286160" y="57434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1" name=""/>
          <p:cNvSpPr/>
          <p:nvPr/>
        </p:nvSpPr>
        <p:spPr>
          <a:xfrm>
            <a:off x="542880" y="5743440"/>
            <a:ext cx="2181600" cy="381240"/>
          </a:xfrm>
          <a:custGeom>
            <a:avLst/>
            <a:gdLst/>
            <a:ahLst/>
            <a:rect l="0" t="0" r="r" b="b"/>
            <a:pathLst>
              <a:path w="6060" h="1059">
                <a:moveTo>
                  <a:pt x="0" y="0"/>
                </a:moveTo>
                <a:lnTo>
                  <a:pt x="6060" y="0"/>
                </a:lnTo>
                <a:lnTo>
                  <a:pt x="606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2" name=""/>
          <p:cNvSpPr/>
          <p:nvPr/>
        </p:nvSpPr>
        <p:spPr>
          <a:xfrm>
            <a:off x="2724120" y="5743440"/>
            <a:ext cx="1562400" cy="381240"/>
          </a:xfrm>
          <a:custGeom>
            <a:avLst/>
            <a:gdLst/>
            <a:ahLst/>
            <a:rect l="0" t="0" r="r" b="b"/>
            <a:pathLst>
              <a:path w="4340" h="1059">
                <a:moveTo>
                  <a:pt x="0" y="0"/>
                </a:moveTo>
                <a:lnTo>
                  <a:pt x="4340" y="0"/>
                </a:lnTo>
                <a:lnTo>
                  <a:pt x="4340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3" name=""/>
          <p:cNvSpPr/>
          <p:nvPr/>
        </p:nvSpPr>
        <p:spPr>
          <a:xfrm>
            <a:off x="4286160" y="5743440"/>
            <a:ext cx="1667160" cy="381240"/>
          </a:xfrm>
          <a:custGeom>
            <a:avLst/>
            <a:gdLst/>
            <a:ahLst/>
            <a:rect l="0" t="0" r="r" b="b"/>
            <a:pathLst>
              <a:path w="4631" h="1059">
                <a:moveTo>
                  <a:pt x="0" y="0"/>
                </a:moveTo>
                <a:lnTo>
                  <a:pt x="4631" y="0"/>
                </a:lnTo>
                <a:lnTo>
                  <a:pt x="4631" y="1059"/>
                </a:lnTo>
                <a:lnTo>
                  <a:pt x="0" y="1059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714" name=""/>
          <p:cNvSpPr/>
          <p:nvPr/>
        </p:nvSpPr>
        <p:spPr>
          <a:xfrm>
            <a:off x="542880" y="6124320"/>
            <a:ext cx="2181600" cy="381600"/>
          </a:xfrm>
          <a:custGeom>
            <a:avLst/>
            <a:gdLst/>
            <a:ahLst/>
            <a:rect l="0" t="0" r="r" b="b"/>
            <a:pathLst>
              <a:path w="6060" h="1060">
                <a:moveTo>
                  <a:pt x="0" y="0"/>
                </a:moveTo>
                <a:lnTo>
                  <a:pt x="6060" y="0"/>
                </a:lnTo>
                <a:lnTo>
                  <a:pt x="606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5" name=""/>
          <p:cNvSpPr/>
          <p:nvPr/>
        </p:nvSpPr>
        <p:spPr>
          <a:xfrm>
            <a:off x="2724120" y="6124320"/>
            <a:ext cx="1562400" cy="381600"/>
          </a:xfrm>
          <a:custGeom>
            <a:avLst/>
            <a:gdLst/>
            <a:ahLst/>
            <a:rect l="0" t="0" r="r" b="b"/>
            <a:pathLst>
              <a:path w="4340" h="1060">
                <a:moveTo>
                  <a:pt x="0" y="0"/>
                </a:moveTo>
                <a:lnTo>
                  <a:pt x="4340" y="0"/>
                </a:lnTo>
                <a:lnTo>
                  <a:pt x="4340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6" name=""/>
          <p:cNvSpPr/>
          <p:nvPr/>
        </p:nvSpPr>
        <p:spPr>
          <a:xfrm>
            <a:off x="4286160" y="6124320"/>
            <a:ext cx="1667160" cy="381600"/>
          </a:xfrm>
          <a:custGeom>
            <a:avLst/>
            <a:gdLst/>
            <a:ahLst/>
            <a:rect l="0" t="0" r="r" b="b"/>
            <a:pathLst>
              <a:path w="4631" h="1060">
                <a:moveTo>
                  <a:pt x="0" y="0"/>
                </a:moveTo>
                <a:lnTo>
                  <a:pt x="4631" y="0"/>
                </a:lnTo>
                <a:lnTo>
                  <a:pt x="4631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7" name=""/>
          <p:cNvSpPr/>
          <p:nvPr/>
        </p:nvSpPr>
        <p:spPr>
          <a:xfrm>
            <a:off x="542880" y="6505560"/>
            <a:ext cx="2181600" cy="352440"/>
          </a:xfrm>
          <a:custGeom>
            <a:avLst/>
            <a:gdLst/>
            <a:ahLst/>
            <a:rect l="0" t="0" r="r" b="b"/>
            <a:pathLst>
              <a:path w="6060" h="979">
                <a:moveTo>
                  <a:pt x="0" y="0"/>
                </a:moveTo>
                <a:lnTo>
                  <a:pt x="6060" y="0"/>
                </a:lnTo>
                <a:lnTo>
                  <a:pt x="606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8" name=""/>
          <p:cNvSpPr/>
          <p:nvPr/>
        </p:nvSpPr>
        <p:spPr>
          <a:xfrm>
            <a:off x="2724120" y="6505560"/>
            <a:ext cx="1562400" cy="352440"/>
          </a:xfrm>
          <a:custGeom>
            <a:avLst/>
            <a:gdLst/>
            <a:ahLst/>
            <a:rect l="0" t="0" r="r" b="b"/>
            <a:pathLst>
              <a:path w="4340" h="979">
                <a:moveTo>
                  <a:pt x="0" y="0"/>
                </a:moveTo>
                <a:lnTo>
                  <a:pt x="4340" y="0"/>
                </a:lnTo>
                <a:lnTo>
                  <a:pt x="434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19" name=""/>
          <p:cNvSpPr/>
          <p:nvPr/>
        </p:nvSpPr>
        <p:spPr>
          <a:xfrm>
            <a:off x="4286160" y="6505560"/>
            <a:ext cx="1667160" cy="352440"/>
          </a:xfrm>
          <a:custGeom>
            <a:avLst/>
            <a:gdLst/>
            <a:ahLst/>
            <a:rect l="0" t="0" r="r" b="b"/>
            <a:pathLst>
              <a:path w="4631" h="979">
                <a:moveTo>
                  <a:pt x="0" y="0"/>
                </a:moveTo>
                <a:lnTo>
                  <a:pt x="4631" y="0"/>
                </a:lnTo>
                <a:lnTo>
                  <a:pt x="4631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0" name=""/>
          <p:cNvSpPr/>
          <p:nvPr/>
        </p:nvSpPr>
        <p:spPr>
          <a:xfrm>
            <a:off x="542880" y="6505560"/>
            <a:ext cx="2181600" cy="352440"/>
          </a:xfrm>
          <a:custGeom>
            <a:avLst/>
            <a:gdLst/>
            <a:ahLst/>
            <a:rect l="0" t="0" r="r" b="b"/>
            <a:pathLst>
              <a:path w="6060" h="979">
                <a:moveTo>
                  <a:pt x="0" y="0"/>
                </a:moveTo>
                <a:lnTo>
                  <a:pt x="6060" y="0"/>
                </a:lnTo>
                <a:lnTo>
                  <a:pt x="606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1" name=""/>
          <p:cNvSpPr/>
          <p:nvPr/>
        </p:nvSpPr>
        <p:spPr>
          <a:xfrm>
            <a:off x="2724120" y="6505560"/>
            <a:ext cx="1562400" cy="352440"/>
          </a:xfrm>
          <a:custGeom>
            <a:avLst/>
            <a:gdLst/>
            <a:ahLst/>
            <a:rect l="0" t="0" r="r" b="b"/>
            <a:pathLst>
              <a:path w="4340" h="979">
                <a:moveTo>
                  <a:pt x="0" y="0"/>
                </a:moveTo>
                <a:lnTo>
                  <a:pt x="4340" y="0"/>
                </a:lnTo>
                <a:lnTo>
                  <a:pt x="4340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2" name=""/>
          <p:cNvSpPr/>
          <p:nvPr/>
        </p:nvSpPr>
        <p:spPr>
          <a:xfrm>
            <a:off x="4286160" y="6505560"/>
            <a:ext cx="1667160" cy="352440"/>
          </a:xfrm>
          <a:custGeom>
            <a:avLst/>
            <a:gdLst/>
            <a:ahLst/>
            <a:rect l="0" t="0" r="r" b="b"/>
            <a:pathLst>
              <a:path w="4631" h="979">
                <a:moveTo>
                  <a:pt x="0" y="0"/>
                </a:moveTo>
                <a:lnTo>
                  <a:pt x="4631" y="0"/>
                </a:lnTo>
                <a:lnTo>
                  <a:pt x="4631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3" name=""/>
          <p:cNvSpPr/>
          <p:nvPr/>
        </p:nvSpPr>
        <p:spPr>
          <a:xfrm>
            <a:off x="533160" y="5733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4" name=""/>
          <p:cNvSpPr/>
          <p:nvPr/>
        </p:nvSpPr>
        <p:spPr>
          <a:xfrm>
            <a:off x="533160" y="573372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5" name=""/>
          <p:cNvSpPr/>
          <p:nvPr/>
        </p:nvSpPr>
        <p:spPr>
          <a:xfrm>
            <a:off x="2724120" y="5733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6" name=""/>
          <p:cNvSpPr/>
          <p:nvPr/>
        </p:nvSpPr>
        <p:spPr>
          <a:xfrm>
            <a:off x="2733480" y="573372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7" name=""/>
          <p:cNvSpPr/>
          <p:nvPr/>
        </p:nvSpPr>
        <p:spPr>
          <a:xfrm>
            <a:off x="4286160" y="5733720"/>
            <a:ext cx="9720" cy="390960"/>
          </a:xfrm>
          <a:custGeom>
            <a:avLst/>
            <a:gdLst/>
            <a:ahLst/>
            <a:rect l="0" t="0" r="r" b="b"/>
            <a:pathLst>
              <a:path w="27" h="1086">
                <a:moveTo>
                  <a:pt x="0" y="0"/>
                </a:moveTo>
                <a:lnTo>
                  <a:pt x="27" y="0"/>
                </a:lnTo>
                <a:lnTo>
                  <a:pt x="27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8" name=""/>
          <p:cNvSpPr/>
          <p:nvPr/>
        </p:nvSpPr>
        <p:spPr>
          <a:xfrm>
            <a:off x="4295520" y="573372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29" name=""/>
          <p:cNvSpPr/>
          <p:nvPr/>
        </p:nvSpPr>
        <p:spPr>
          <a:xfrm>
            <a:off x="5943240" y="5733720"/>
            <a:ext cx="10080" cy="390960"/>
          </a:xfrm>
          <a:custGeom>
            <a:avLst/>
            <a:gdLst/>
            <a:ahLst/>
            <a:rect l="0" t="0" r="r" b="b"/>
            <a:pathLst>
              <a:path w="28" h="1086">
                <a:moveTo>
                  <a:pt x="0" y="0"/>
                </a:moveTo>
                <a:lnTo>
                  <a:pt x="28" y="0"/>
                </a:lnTo>
                <a:lnTo>
                  <a:pt x="28" y="1086"/>
                </a:lnTo>
                <a:lnTo>
                  <a:pt x="0" y="108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0" name=""/>
          <p:cNvSpPr/>
          <p:nvPr/>
        </p:nvSpPr>
        <p:spPr>
          <a:xfrm>
            <a:off x="533160" y="6114960"/>
            <a:ext cx="2200680" cy="9720"/>
          </a:xfrm>
          <a:custGeom>
            <a:avLst/>
            <a:gdLst/>
            <a:ahLst/>
            <a:rect l="0" t="0" r="r" b="b"/>
            <a:pathLst>
              <a:path w="6113" h="27">
                <a:moveTo>
                  <a:pt x="0" y="0"/>
                </a:moveTo>
                <a:lnTo>
                  <a:pt x="6113" y="0"/>
                </a:lnTo>
                <a:lnTo>
                  <a:pt x="61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1" name=""/>
          <p:cNvSpPr/>
          <p:nvPr/>
        </p:nvSpPr>
        <p:spPr>
          <a:xfrm>
            <a:off x="2733480" y="6114960"/>
            <a:ext cx="1562400" cy="9720"/>
          </a:xfrm>
          <a:custGeom>
            <a:avLst/>
            <a:gdLst/>
            <a:ahLst/>
            <a:rect l="0" t="0" r="r" b="b"/>
            <a:pathLst>
              <a:path w="4340" h="27">
                <a:moveTo>
                  <a:pt x="0" y="0"/>
                </a:moveTo>
                <a:lnTo>
                  <a:pt x="4340" y="0"/>
                </a:lnTo>
                <a:lnTo>
                  <a:pt x="434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2" name=""/>
          <p:cNvSpPr/>
          <p:nvPr/>
        </p:nvSpPr>
        <p:spPr>
          <a:xfrm>
            <a:off x="4295520" y="6114960"/>
            <a:ext cx="1657800" cy="9720"/>
          </a:xfrm>
          <a:custGeom>
            <a:avLst/>
            <a:gdLst/>
            <a:ahLst/>
            <a:rect l="0" t="0" r="r" b="b"/>
            <a:pathLst>
              <a:path w="4605" h="27">
                <a:moveTo>
                  <a:pt x="0" y="0"/>
                </a:moveTo>
                <a:lnTo>
                  <a:pt x="4605" y="0"/>
                </a:lnTo>
                <a:lnTo>
                  <a:pt x="46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3" name=""/>
          <p:cNvSpPr/>
          <p:nvPr/>
        </p:nvSpPr>
        <p:spPr>
          <a:xfrm>
            <a:off x="533160" y="61243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4" name=""/>
          <p:cNvSpPr/>
          <p:nvPr/>
        </p:nvSpPr>
        <p:spPr>
          <a:xfrm>
            <a:off x="2724120" y="61243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5" name=""/>
          <p:cNvSpPr/>
          <p:nvPr/>
        </p:nvSpPr>
        <p:spPr>
          <a:xfrm>
            <a:off x="4286160" y="6124320"/>
            <a:ext cx="9720" cy="381600"/>
          </a:xfrm>
          <a:custGeom>
            <a:avLst/>
            <a:gdLst/>
            <a:ahLst/>
            <a:rect l="0" t="0" r="r" b="b"/>
            <a:pathLst>
              <a:path w="27" h="1060">
                <a:moveTo>
                  <a:pt x="0" y="0"/>
                </a:moveTo>
                <a:lnTo>
                  <a:pt x="27" y="0"/>
                </a:lnTo>
                <a:lnTo>
                  <a:pt x="27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6" name=""/>
          <p:cNvSpPr/>
          <p:nvPr/>
        </p:nvSpPr>
        <p:spPr>
          <a:xfrm>
            <a:off x="5943240" y="6124320"/>
            <a:ext cx="10080" cy="381600"/>
          </a:xfrm>
          <a:custGeom>
            <a:avLst/>
            <a:gdLst/>
            <a:ahLst/>
            <a:rect l="0" t="0" r="r" b="b"/>
            <a:pathLst>
              <a:path w="28" h="1060">
                <a:moveTo>
                  <a:pt x="0" y="0"/>
                </a:moveTo>
                <a:lnTo>
                  <a:pt x="28" y="0"/>
                </a:lnTo>
                <a:lnTo>
                  <a:pt x="28" y="1060"/>
                </a:lnTo>
                <a:lnTo>
                  <a:pt x="0" y="106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7" name=""/>
          <p:cNvSpPr/>
          <p:nvPr/>
        </p:nvSpPr>
        <p:spPr>
          <a:xfrm>
            <a:off x="533160" y="6505560"/>
            <a:ext cx="10080" cy="352440"/>
          </a:xfrm>
          <a:custGeom>
            <a:avLst/>
            <a:gdLst/>
            <a:ahLst/>
            <a:rect l="0" t="0" r="r" b="b"/>
            <a:pathLst>
              <a:path w="28" h="979">
                <a:moveTo>
                  <a:pt x="0" y="0"/>
                </a:moveTo>
                <a:lnTo>
                  <a:pt x="28" y="0"/>
                </a:lnTo>
                <a:lnTo>
                  <a:pt x="2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8" name=""/>
          <p:cNvSpPr/>
          <p:nvPr/>
        </p:nvSpPr>
        <p:spPr>
          <a:xfrm>
            <a:off x="533160" y="6495840"/>
            <a:ext cx="2200680" cy="10080"/>
          </a:xfrm>
          <a:custGeom>
            <a:avLst/>
            <a:gdLst/>
            <a:ahLst/>
            <a:rect l="0" t="0" r="r" b="b"/>
            <a:pathLst>
              <a:path w="6113" h="28">
                <a:moveTo>
                  <a:pt x="0" y="0"/>
                </a:moveTo>
                <a:lnTo>
                  <a:pt x="6113" y="0"/>
                </a:lnTo>
                <a:lnTo>
                  <a:pt x="61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39" name=""/>
          <p:cNvSpPr/>
          <p:nvPr/>
        </p:nvSpPr>
        <p:spPr>
          <a:xfrm>
            <a:off x="2724120" y="65055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0" name=""/>
          <p:cNvSpPr/>
          <p:nvPr/>
        </p:nvSpPr>
        <p:spPr>
          <a:xfrm>
            <a:off x="2733480" y="6495840"/>
            <a:ext cx="1562400" cy="10080"/>
          </a:xfrm>
          <a:custGeom>
            <a:avLst/>
            <a:gdLst/>
            <a:ahLst/>
            <a:rect l="0" t="0" r="r" b="b"/>
            <a:pathLst>
              <a:path w="4340" h="28">
                <a:moveTo>
                  <a:pt x="0" y="0"/>
                </a:moveTo>
                <a:lnTo>
                  <a:pt x="4340" y="0"/>
                </a:lnTo>
                <a:lnTo>
                  <a:pt x="434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1" name=""/>
          <p:cNvSpPr/>
          <p:nvPr/>
        </p:nvSpPr>
        <p:spPr>
          <a:xfrm>
            <a:off x="4286160" y="6505560"/>
            <a:ext cx="9720" cy="352440"/>
          </a:xfrm>
          <a:custGeom>
            <a:avLst/>
            <a:gdLst/>
            <a:ahLst/>
            <a:rect l="0" t="0" r="r" b="b"/>
            <a:pathLst>
              <a:path w="27" h="979">
                <a:moveTo>
                  <a:pt x="0" y="0"/>
                </a:moveTo>
                <a:lnTo>
                  <a:pt x="27" y="0"/>
                </a:lnTo>
                <a:lnTo>
                  <a:pt x="27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2" name=""/>
          <p:cNvSpPr/>
          <p:nvPr/>
        </p:nvSpPr>
        <p:spPr>
          <a:xfrm>
            <a:off x="4295520" y="6495840"/>
            <a:ext cx="1657800" cy="10080"/>
          </a:xfrm>
          <a:custGeom>
            <a:avLst/>
            <a:gdLst/>
            <a:ahLst/>
            <a:rect l="0" t="0" r="r" b="b"/>
            <a:pathLst>
              <a:path w="4605" h="28">
                <a:moveTo>
                  <a:pt x="0" y="0"/>
                </a:moveTo>
                <a:lnTo>
                  <a:pt x="4605" y="0"/>
                </a:lnTo>
                <a:lnTo>
                  <a:pt x="46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3" name=""/>
          <p:cNvSpPr/>
          <p:nvPr/>
        </p:nvSpPr>
        <p:spPr>
          <a:xfrm>
            <a:off x="5943240" y="6505560"/>
            <a:ext cx="10080" cy="352440"/>
          </a:xfrm>
          <a:custGeom>
            <a:avLst/>
            <a:gdLst/>
            <a:ahLst/>
            <a:rect l="0" t="0" r="r" b="b"/>
            <a:pathLst>
              <a:path w="28" h="979">
                <a:moveTo>
                  <a:pt x="0" y="0"/>
                </a:moveTo>
                <a:lnTo>
                  <a:pt x="28" y="0"/>
                </a:lnTo>
                <a:lnTo>
                  <a:pt x="28" y="979"/>
                </a:lnTo>
                <a:lnTo>
                  <a:pt x="0" y="97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4312080" y="493560"/>
            <a:ext cx="1905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並⾏稼働）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723960" y="153252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2026-06-07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1726560" y="154116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088360" y="1532520"/>
            <a:ext cx="29664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2383920" y="1541160"/>
            <a:ext cx="54468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移⾏・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2926800" y="1532520"/>
            <a:ext cx="100548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2026-06-23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3929400" y="1541160"/>
            <a:ext cx="36360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より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4291200" y="1532520"/>
            <a:ext cx="407520" cy="21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43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 v3b 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4697280" y="1541160"/>
            <a:ext cx="72612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3" name=""/>
          <p:cNvSpPr txBox="1"/>
          <p:nvPr/>
        </p:nvSpPr>
        <p:spPr>
          <a:xfrm>
            <a:off x="666720" y="21214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項⽬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1497960" y="211320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1682280" y="21214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1853640" y="211320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2203200" y="21214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あり）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3641760" y="2113200"/>
            <a:ext cx="288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3930840" y="21214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4102200" y="211320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4452120" y="21214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なし）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2" name=""/>
          <p:cNvSpPr txBox="1"/>
          <p:nvPr/>
        </p:nvSpPr>
        <p:spPr>
          <a:xfrm>
            <a:off x="666720" y="25023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666720" y="2759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1497960" y="24940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1856520" y="250236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2027880" y="249408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2443680" y="25023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1497960" y="275148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1840680" y="2759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2012040" y="27514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107440" y="27594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3641760" y="261792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4000320" y="26262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4171680" y="2617920"/>
            <a:ext cx="414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4587480" y="262620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平年⽐（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5273280" y="261792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5368680" y="26262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666720" y="3132360"/>
            <a:ext cx="228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666720" y="3389760"/>
            <a:ext cx="3643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1497960" y="3256200"/>
            <a:ext cx="8038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304720" y="32644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3641760" y="3256200"/>
            <a:ext cx="7786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 kWh/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4423320" y="32644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666720" y="37785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モデル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666720" y="403596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ファイ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6" name=""/>
          <p:cNvSpPr/>
          <p:nvPr/>
        </p:nvSpPr>
        <p:spPr>
          <a:xfrm>
            <a:off x="1495080" y="4047840"/>
            <a:ext cx="1581840" cy="190800"/>
          </a:xfrm>
          <a:custGeom>
            <a:avLst/>
            <a:gdLst/>
            <a:ahLst/>
            <a:rect l="0" t="0" r="r" b="b"/>
            <a:pathLst>
              <a:path w="4394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4314" y="0"/>
                </a:lnTo>
                <a:cubicBezTo>
                  <a:pt x="4325" y="0"/>
                  <a:pt x="4335" y="2"/>
                  <a:pt x="4345" y="6"/>
                </a:cubicBezTo>
                <a:cubicBezTo>
                  <a:pt x="4354" y="10"/>
                  <a:pt x="4363" y="16"/>
                  <a:pt x="4370" y="24"/>
                </a:cubicBezTo>
                <a:cubicBezTo>
                  <a:pt x="4378" y="31"/>
                  <a:pt x="4383" y="40"/>
                  <a:pt x="4387" y="49"/>
                </a:cubicBezTo>
                <a:cubicBezTo>
                  <a:pt x="4392" y="59"/>
                  <a:pt x="4394" y="69"/>
                  <a:pt x="4394" y="80"/>
                </a:cubicBezTo>
                <a:lnTo>
                  <a:pt x="4394" y="451"/>
                </a:lnTo>
                <a:cubicBezTo>
                  <a:pt x="4394" y="462"/>
                  <a:pt x="4392" y="472"/>
                  <a:pt x="4387" y="481"/>
                </a:cubicBezTo>
                <a:cubicBezTo>
                  <a:pt x="4383" y="491"/>
                  <a:pt x="4378" y="500"/>
                  <a:pt x="4370" y="507"/>
                </a:cubicBezTo>
                <a:cubicBezTo>
                  <a:pt x="4363" y="515"/>
                  <a:pt x="4354" y="520"/>
                  <a:pt x="4345" y="524"/>
                </a:cubicBezTo>
                <a:cubicBezTo>
                  <a:pt x="4335" y="528"/>
                  <a:pt x="4325" y="530"/>
                  <a:pt x="4314" y="530"/>
                </a:cubicBezTo>
                <a:lnTo>
                  <a:pt x="80" y="530"/>
                </a:lnTo>
                <a:cubicBezTo>
                  <a:pt x="69" y="530"/>
                  <a:pt x="59" y="528"/>
                  <a:pt x="49" y="524"/>
                </a:cubicBezTo>
                <a:cubicBezTo>
                  <a:pt x="40" y="520"/>
                  <a:pt x="31" y="515"/>
                  <a:pt x="24" y="507"/>
                </a:cubicBezTo>
                <a:cubicBezTo>
                  <a:pt x="16" y="500"/>
                  <a:pt x="11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666720" y="4293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ル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8" name=""/>
          <p:cNvSpPr/>
          <p:nvPr/>
        </p:nvSpPr>
        <p:spPr>
          <a:xfrm>
            <a:off x="3638520" y="4047840"/>
            <a:ext cx="2200320" cy="190800"/>
          </a:xfrm>
          <a:custGeom>
            <a:avLst/>
            <a:gdLst/>
            <a:ahLst/>
            <a:rect l="0" t="0" r="r" b="b"/>
            <a:pathLst>
              <a:path w="6112" h="530">
                <a:moveTo>
                  <a:pt x="0" y="451"/>
                </a:moveTo>
                <a:lnTo>
                  <a:pt x="0" y="80"/>
                </a:ln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5" y="31"/>
                  <a:pt x="23" y="24"/>
                </a:cubicBezTo>
                <a:cubicBezTo>
                  <a:pt x="30" y="16"/>
                  <a:pt x="39" y="10"/>
                  <a:pt x="49" y="6"/>
                </a:cubicBezTo>
                <a:cubicBezTo>
                  <a:pt x="58" y="2"/>
                  <a:pt x="68" y="0"/>
                  <a:pt x="79" y="0"/>
                </a:cubicBezTo>
                <a:lnTo>
                  <a:pt x="6033" y="0"/>
                </a:lnTo>
                <a:cubicBezTo>
                  <a:pt x="6044" y="0"/>
                  <a:pt x="6054" y="2"/>
                  <a:pt x="6063" y="6"/>
                </a:cubicBezTo>
                <a:cubicBezTo>
                  <a:pt x="6073" y="10"/>
                  <a:pt x="6082" y="16"/>
                  <a:pt x="6089" y="24"/>
                </a:cubicBezTo>
                <a:cubicBezTo>
                  <a:pt x="6097" y="31"/>
                  <a:pt x="6102" y="40"/>
                  <a:pt x="6106" y="49"/>
                </a:cubicBezTo>
                <a:cubicBezTo>
                  <a:pt x="6110" y="59"/>
                  <a:pt x="6112" y="69"/>
                  <a:pt x="6112" y="80"/>
                </a:cubicBezTo>
                <a:lnTo>
                  <a:pt x="6112" y="451"/>
                </a:lnTo>
                <a:cubicBezTo>
                  <a:pt x="6112" y="462"/>
                  <a:pt x="6110" y="472"/>
                  <a:pt x="6106" y="481"/>
                </a:cubicBezTo>
                <a:cubicBezTo>
                  <a:pt x="6102" y="491"/>
                  <a:pt x="6097" y="500"/>
                  <a:pt x="6089" y="507"/>
                </a:cubicBezTo>
                <a:cubicBezTo>
                  <a:pt x="6082" y="515"/>
                  <a:pt x="6073" y="520"/>
                  <a:pt x="6063" y="524"/>
                </a:cubicBezTo>
                <a:cubicBezTo>
                  <a:pt x="6054" y="528"/>
                  <a:pt x="6044" y="530"/>
                  <a:pt x="6033" y="530"/>
                </a:cubicBezTo>
                <a:lnTo>
                  <a:pt x="79" y="530"/>
                </a:lnTo>
                <a:cubicBezTo>
                  <a:pt x="68" y="530"/>
                  <a:pt x="58" y="528"/>
                  <a:pt x="49" y="524"/>
                </a:cubicBezTo>
                <a:cubicBezTo>
                  <a:pt x="39" y="520"/>
                  <a:pt x="30" y="515"/>
                  <a:pt x="23" y="507"/>
                </a:cubicBezTo>
                <a:cubicBezTo>
                  <a:pt x="15" y="500"/>
                  <a:pt x="10" y="491"/>
                  <a:pt x="6" y="481"/>
                </a:cubicBezTo>
                <a:cubicBezTo>
                  <a:pt x="2" y="472"/>
                  <a:pt x="0" y="462"/>
                  <a:pt x="0" y="451"/>
                </a:cubicBez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1545480" y="4060080"/>
            <a:ext cx="147780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3689280" y="4060080"/>
            <a:ext cx="2085840" cy="164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50" b="0" u="none" strike="noStrike">
                <a:solidFill>
                  <a:srgbClr val="1A1A2E"/>
                </a:solidFill>
                <a:effectLst/>
                <a:uFillTx/>
                <a:latin typeface="CourierNew"/>
                <a:ea typeface="CourierNew"/>
              </a:rPr>
              <a:t>rf_hatuden_no_ssd.joblib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533520" y="47617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並⾏稼働の理由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2" name=""/>
          <p:cNvSpPr txBox="1"/>
          <p:nvPr/>
        </p:nvSpPr>
        <p:spPr>
          <a:xfrm>
            <a:off x="1866960" y="4752720"/>
            <a:ext cx="54072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: SSD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2406600" y="4761720"/>
            <a:ext cx="3429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予報が晴れ⽇に著しく過⼩評価（翌⽇予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533520" y="504720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723960" y="5038200"/>
            <a:ext cx="1379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bias=−7.7h/day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2102760" y="504720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）されており、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3428640" y="5038200"/>
            <a:ext cx="254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8" name=""/>
          <p:cNvSpPr txBox="1"/>
          <p:nvPr/>
        </p:nvSpPr>
        <p:spPr>
          <a:xfrm>
            <a:off x="3682800" y="504720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の発電量予測を系統的に引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799" name=""/>
          <p:cNvSpPr txBox="1"/>
          <p:nvPr/>
        </p:nvSpPr>
        <p:spPr>
          <a:xfrm>
            <a:off x="533520" y="5333040"/>
            <a:ext cx="2667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き下げている可能性を検証中。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0" name=""/>
          <p:cNvSpPr txBox="1"/>
          <p:nvPr/>
        </p:nvSpPr>
        <p:spPr>
          <a:xfrm>
            <a:off x="666720" y="5835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天気区分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1" name=""/>
          <p:cNvSpPr txBox="1"/>
          <p:nvPr/>
        </p:nvSpPr>
        <p:spPr>
          <a:xfrm>
            <a:off x="2855880" y="5828040"/>
            <a:ext cx="6141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2" name=""/>
          <p:cNvSpPr txBox="1"/>
          <p:nvPr/>
        </p:nvSpPr>
        <p:spPr>
          <a:xfrm>
            <a:off x="3472200" y="5835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3" name=""/>
          <p:cNvSpPr txBox="1"/>
          <p:nvPr/>
        </p:nvSpPr>
        <p:spPr>
          <a:xfrm>
            <a:off x="4415040" y="5828040"/>
            <a:ext cx="71856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v3b 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4" name=""/>
          <p:cNvSpPr txBox="1"/>
          <p:nvPr/>
        </p:nvSpPr>
        <p:spPr>
          <a:xfrm>
            <a:off x="5136120" y="583596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（翌⽇）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5" name=""/>
          <p:cNvSpPr txBox="1"/>
          <p:nvPr/>
        </p:nvSpPr>
        <p:spPr>
          <a:xfrm>
            <a:off x="666720" y="621720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晴れ⽇（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6" name=""/>
          <p:cNvSpPr txBox="1"/>
          <p:nvPr/>
        </p:nvSpPr>
        <p:spPr>
          <a:xfrm>
            <a:off x="1352520" y="620892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7" name=""/>
          <p:cNvSpPr txBox="1"/>
          <p:nvPr/>
        </p:nvSpPr>
        <p:spPr>
          <a:xfrm>
            <a:off x="1695600" y="621720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8" name=""/>
          <p:cNvSpPr txBox="1"/>
          <p:nvPr/>
        </p:nvSpPr>
        <p:spPr>
          <a:xfrm>
            <a:off x="2038320" y="620892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≥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09" name=""/>
          <p:cNvSpPr txBox="1"/>
          <p:nvPr/>
        </p:nvSpPr>
        <p:spPr>
          <a:xfrm>
            <a:off x="2427120" y="62172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0" name=""/>
          <p:cNvSpPr txBox="1"/>
          <p:nvPr/>
        </p:nvSpPr>
        <p:spPr>
          <a:xfrm>
            <a:off x="2855880" y="6208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DC2626"/>
                </a:solidFill>
                <a:effectLst/>
                <a:uFillTx/>
                <a:latin typeface="HelveticaNeue"/>
                <a:ea typeface="HelveticaNeue"/>
              </a:rPr>
              <a:t>3.68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1" name=""/>
          <p:cNvSpPr txBox="1"/>
          <p:nvPr/>
        </p:nvSpPr>
        <p:spPr>
          <a:xfrm>
            <a:off x="4415040" y="620892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1.73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2" name=""/>
          <p:cNvSpPr txBox="1"/>
          <p:nvPr/>
        </p:nvSpPr>
        <p:spPr>
          <a:xfrm>
            <a:off x="666720" y="659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曇り⽇（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3" name=""/>
          <p:cNvSpPr txBox="1"/>
          <p:nvPr/>
        </p:nvSpPr>
        <p:spPr>
          <a:xfrm>
            <a:off x="1352520" y="659016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4" name=""/>
          <p:cNvSpPr txBox="1"/>
          <p:nvPr/>
        </p:nvSpPr>
        <p:spPr>
          <a:xfrm>
            <a:off x="1695600" y="659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実測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5" name=""/>
          <p:cNvSpPr txBox="1"/>
          <p:nvPr/>
        </p:nvSpPr>
        <p:spPr>
          <a:xfrm>
            <a:off x="2038320" y="6590160"/>
            <a:ext cx="38772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 &lt; 5h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6" name=""/>
          <p:cNvSpPr txBox="1"/>
          <p:nvPr/>
        </p:nvSpPr>
        <p:spPr>
          <a:xfrm>
            <a:off x="2427120" y="6598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17" name=""/>
          <p:cNvSpPr txBox="1"/>
          <p:nvPr/>
        </p:nvSpPr>
        <p:spPr>
          <a:xfrm>
            <a:off x="2855880" y="6590160"/>
            <a:ext cx="7405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2.61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pic>
        <p:nvPicPr>
          <p:cNvPr id="818" name=""/>
          <p:cNvPicPr/>
          <p:nvPr/>
        </p:nvPicPr>
        <p:blipFill>
          <a:blip r:embed="rId1"/>
          <a:stretch/>
        </p:blipFill>
        <p:spPr>
          <a:xfrm>
            <a:off x="6458040" y="1266840"/>
            <a:ext cx="4952520" cy="1542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19" name=""/>
          <p:cNvPicPr/>
          <p:nvPr/>
        </p:nvPicPr>
        <p:blipFill>
          <a:blip r:embed="rId2"/>
          <a:stretch/>
        </p:blipFill>
        <p:spPr>
          <a:xfrm>
            <a:off x="6458040" y="3038400"/>
            <a:ext cx="4952520" cy="1533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0" name=""/>
          <p:cNvSpPr txBox="1"/>
          <p:nvPr/>
        </p:nvSpPr>
        <p:spPr>
          <a:xfrm>
            <a:off x="4415040" y="6590160"/>
            <a:ext cx="7218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3.22 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1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12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5" name=""/>
          <p:cNvSpPr/>
          <p:nvPr/>
        </p:nvSpPr>
        <p:spPr>
          <a:xfrm>
            <a:off x="533160" y="107604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6" name=""/>
          <p:cNvSpPr/>
          <p:nvPr/>
        </p:nvSpPr>
        <p:spPr>
          <a:xfrm>
            <a:off x="552240" y="5876640"/>
            <a:ext cx="11106360" cy="457560"/>
          </a:xfrm>
          <a:custGeom>
            <a:avLst/>
            <a:gdLst/>
            <a:ahLst/>
            <a:rect l="0" t="0" r="r" b="b"/>
            <a:pathLst>
              <a:path w="30851" h="1271">
                <a:moveTo>
                  <a:pt x="0" y="1271"/>
                </a:moveTo>
                <a:lnTo>
                  <a:pt x="0" y="0"/>
                </a:lnTo>
                <a:lnTo>
                  <a:pt x="30746" y="0"/>
                </a:lnTo>
                <a:cubicBezTo>
                  <a:pt x="30760" y="0"/>
                  <a:pt x="30773" y="3"/>
                  <a:pt x="30786" y="8"/>
                </a:cubicBezTo>
                <a:cubicBezTo>
                  <a:pt x="30799" y="14"/>
                  <a:pt x="30811" y="21"/>
                  <a:pt x="30820" y="31"/>
                </a:cubicBezTo>
                <a:cubicBezTo>
                  <a:pt x="30830" y="41"/>
                  <a:pt x="30838" y="53"/>
                  <a:pt x="30843" y="66"/>
                </a:cubicBezTo>
                <a:cubicBezTo>
                  <a:pt x="30849" y="79"/>
                  <a:pt x="30851" y="92"/>
                  <a:pt x="30851" y="106"/>
                </a:cubicBezTo>
                <a:lnTo>
                  <a:pt x="30851" y="1165"/>
                </a:lnTo>
                <a:cubicBezTo>
                  <a:pt x="30851" y="1179"/>
                  <a:pt x="30849" y="1193"/>
                  <a:pt x="30843" y="1206"/>
                </a:cubicBezTo>
                <a:cubicBezTo>
                  <a:pt x="30838" y="1219"/>
                  <a:pt x="30830" y="1230"/>
                  <a:pt x="30820" y="1240"/>
                </a:cubicBezTo>
                <a:cubicBezTo>
                  <a:pt x="30811" y="1250"/>
                  <a:pt x="30799" y="1258"/>
                  <a:pt x="30786" y="1263"/>
                </a:cubicBezTo>
                <a:cubicBezTo>
                  <a:pt x="30773" y="1269"/>
                  <a:pt x="30760" y="1271"/>
                  <a:pt x="30746" y="1271"/>
                </a:cubicBezTo>
                <a:lnTo>
                  <a:pt x="0" y="1271"/>
                </a:lnTo>
                <a:close/>
              </a:path>
            </a:pathLst>
          </a:custGeom>
          <a:solidFill>
            <a:srgbClr val="EFF6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27" name=""/>
          <p:cNvSpPr/>
          <p:nvPr/>
        </p:nvSpPr>
        <p:spPr>
          <a:xfrm>
            <a:off x="533160" y="5876640"/>
            <a:ext cx="38520" cy="457560"/>
          </a:xfrm>
          <a:custGeom>
            <a:avLst/>
            <a:gdLst/>
            <a:ahLst/>
            <a:rect l="0" t="0" r="r" b="b"/>
            <a:pathLst>
              <a:path w="107" h="1271">
                <a:moveTo>
                  <a:pt x="0" y="0"/>
                </a:moveTo>
                <a:lnTo>
                  <a:pt x="107" y="0"/>
                </a:lnTo>
                <a:lnTo>
                  <a:pt x="107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8" name=""/>
          <p:cNvSpPr/>
          <p:nvPr/>
        </p:nvSpPr>
        <p:spPr>
          <a:xfrm>
            <a:off x="618840" y="148572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29" name=""/>
          <p:cNvSpPr txBox="1"/>
          <p:nvPr/>
        </p:nvSpPr>
        <p:spPr>
          <a:xfrm>
            <a:off x="533520" y="560160"/>
            <a:ext cx="533484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2563EB"/>
                </a:solidFill>
                <a:effectLst/>
                <a:uFillTx/>
                <a:latin typeface="HiraginoSans-W7"/>
                <a:ea typeface="HiraginoSans-W7"/>
              </a:rPr>
              <a:t>運⽤を通じた説明変数の⾒直し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0" name=""/>
          <p:cNvSpPr txBox="1"/>
          <p:nvPr/>
        </p:nvSpPr>
        <p:spPr>
          <a:xfrm>
            <a:off x="799920" y="139932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初期モデルは説明変数の選定を含めて⽣成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1" name=""/>
          <p:cNvSpPr txBox="1"/>
          <p:nvPr/>
        </p:nvSpPr>
        <p:spPr>
          <a:xfrm>
            <a:off x="4404240" y="139032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AI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2" name=""/>
          <p:cNvSpPr txBox="1"/>
          <p:nvPr/>
        </p:nvSpPr>
        <p:spPr>
          <a:xfrm>
            <a:off x="4577040" y="139932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に⼀任し、⼀定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3" name=""/>
          <p:cNvSpPr/>
          <p:nvPr/>
        </p:nvSpPr>
        <p:spPr>
          <a:xfrm>
            <a:off x="618840" y="2219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1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1"/>
                  <a:pt x="144" y="129"/>
                  <a:pt x="137" y="137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7"/>
                </a:cubicBezTo>
                <a:cubicBezTo>
                  <a:pt x="16" y="129"/>
                  <a:pt x="10" y="121"/>
                  <a:pt x="6" y="111"/>
                </a:cubicBezTo>
                <a:cubicBezTo>
                  <a:pt x="2" y="101"/>
                  <a:pt x="0" y="91"/>
                  <a:pt x="0" y="81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40"/>
                  <a:pt x="16" y="31"/>
                  <a:pt x="24" y="24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4"/>
                </a:cubicBezTo>
                <a:cubicBezTo>
                  <a:pt x="144" y="31"/>
                  <a:pt x="150" y="40"/>
                  <a:pt x="154" y="49"/>
                </a:cubicBezTo>
                <a:cubicBezTo>
                  <a:pt x="158" y="59"/>
                  <a:pt x="160" y="69"/>
                  <a:pt x="160" y="81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4" name=""/>
          <p:cNvSpPr txBox="1"/>
          <p:nvPr/>
        </p:nvSpPr>
        <p:spPr>
          <a:xfrm>
            <a:off x="799920" y="1742040"/>
            <a:ext cx="1143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の精度を確保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5" name=""/>
          <p:cNvSpPr txBox="1"/>
          <p:nvPr/>
        </p:nvSpPr>
        <p:spPr>
          <a:xfrm>
            <a:off x="799920" y="2132640"/>
            <a:ext cx="1334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運⽤開始から約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6" name=""/>
          <p:cNvSpPr txBox="1"/>
          <p:nvPr/>
        </p:nvSpPr>
        <p:spPr>
          <a:xfrm>
            <a:off x="2133720" y="212364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7" name=""/>
          <p:cNvSpPr txBox="1"/>
          <p:nvPr/>
        </p:nvSpPr>
        <p:spPr>
          <a:xfrm>
            <a:off x="2239560" y="2132640"/>
            <a:ext cx="3620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ヶ⽉後、予測値に異常が⾒られたため要因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38" name=""/>
          <p:cNvSpPr/>
          <p:nvPr/>
        </p:nvSpPr>
        <p:spPr>
          <a:xfrm>
            <a:off x="618840" y="295272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79"/>
                </a:moveTo>
                <a:cubicBezTo>
                  <a:pt x="160" y="89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89"/>
                  <a:pt x="0" y="79"/>
                </a:cubicBezTo>
                <a:cubicBezTo>
                  <a:pt x="0" y="68"/>
                  <a:pt x="2" y="58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8"/>
                  <a:pt x="160" y="68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39" name=""/>
          <p:cNvSpPr txBox="1"/>
          <p:nvPr/>
        </p:nvSpPr>
        <p:spPr>
          <a:xfrm>
            <a:off x="799920" y="2475720"/>
            <a:ext cx="5724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を調査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0" name=""/>
          <p:cNvSpPr txBox="1"/>
          <p:nvPr/>
        </p:nvSpPr>
        <p:spPr>
          <a:xfrm>
            <a:off x="799920" y="285696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1" name=""/>
          <p:cNvSpPr txBox="1"/>
          <p:nvPr/>
        </p:nvSpPr>
        <p:spPr>
          <a:xfrm>
            <a:off x="906120" y="2865960"/>
            <a:ext cx="4953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⽇前の⽇射量やその移動平均など、妥当性の低い説明変数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2" name=""/>
          <p:cNvSpPr/>
          <p:nvPr/>
        </p:nvSpPr>
        <p:spPr>
          <a:xfrm>
            <a:off x="618840" y="368604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79"/>
                </a:moveTo>
                <a:cubicBezTo>
                  <a:pt x="160" y="90"/>
                  <a:pt x="158" y="100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0"/>
                  <a:pt x="0" y="90"/>
                  <a:pt x="0" y="79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1"/>
                  <a:pt x="150" y="39"/>
                  <a:pt x="154" y="49"/>
                </a:cubicBezTo>
                <a:cubicBezTo>
                  <a:pt x="158" y="59"/>
                  <a:pt x="160" y="69"/>
                  <a:pt x="160" y="79"/>
                </a:cubicBezTo>
                <a:close/>
              </a:path>
            </a:pathLst>
          </a:custGeom>
          <a:solidFill>
            <a:srgbClr val="1A1A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3" name=""/>
          <p:cNvSpPr txBox="1"/>
          <p:nvPr/>
        </p:nvSpPr>
        <p:spPr>
          <a:xfrm>
            <a:off x="799920" y="3209040"/>
            <a:ext cx="2286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が含まれていたことが判明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4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5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6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7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48" name=""/>
          <p:cNvSpPr/>
          <p:nvPr/>
        </p:nvSpPr>
        <p:spPr>
          <a:xfrm>
            <a:off x="621972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49" name=""/>
          <p:cNvSpPr/>
          <p:nvPr/>
        </p:nvSpPr>
        <p:spPr>
          <a:xfrm>
            <a:off x="7057800" y="19620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0" name=""/>
          <p:cNvSpPr/>
          <p:nvPr/>
        </p:nvSpPr>
        <p:spPr>
          <a:xfrm>
            <a:off x="8343720" y="19620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1" name=""/>
          <p:cNvSpPr/>
          <p:nvPr/>
        </p:nvSpPr>
        <p:spPr>
          <a:xfrm>
            <a:off x="10820160" y="19620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852" name=""/>
          <p:cNvSpPr/>
          <p:nvPr/>
        </p:nvSpPr>
        <p:spPr>
          <a:xfrm>
            <a:off x="621972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3" name=""/>
          <p:cNvSpPr/>
          <p:nvPr/>
        </p:nvSpPr>
        <p:spPr>
          <a:xfrm>
            <a:off x="7057800" y="260028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4" name=""/>
          <p:cNvSpPr/>
          <p:nvPr/>
        </p:nvSpPr>
        <p:spPr>
          <a:xfrm>
            <a:off x="8343720" y="260028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5" name=""/>
          <p:cNvSpPr/>
          <p:nvPr/>
        </p:nvSpPr>
        <p:spPr>
          <a:xfrm>
            <a:off x="10820160" y="260028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6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7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8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59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0" name=""/>
          <p:cNvSpPr/>
          <p:nvPr/>
        </p:nvSpPr>
        <p:spPr>
          <a:xfrm>
            <a:off x="621972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1" name=""/>
          <p:cNvSpPr/>
          <p:nvPr/>
        </p:nvSpPr>
        <p:spPr>
          <a:xfrm>
            <a:off x="7057800" y="323820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2" name=""/>
          <p:cNvSpPr/>
          <p:nvPr/>
        </p:nvSpPr>
        <p:spPr>
          <a:xfrm>
            <a:off x="8343720" y="323820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3" name=""/>
          <p:cNvSpPr/>
          <p:nvPr/>
        </p:nvSpPr>
        <p:spPr>
          <a:xfrm>
            <a:off x="10820160" y="323820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4" name=""/>
          <p:cNvSpPr/>
          <p:nvPr/>
        </p:nvSpPr>
        <p:spPr>
          <a:xfrm>
            <a:off x="621972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5" name=""/>
          <p:cNvSpPr/>
          <p:nvPr/>
        </p:nvSpPr>
        <p:spPr>
          <a:xfrm>
            <a:off x="7057800" y="3876480"/>
            <a:ext cx="1286280" cy="638640"/>
          </a:xfrm>
          <a:custGeom>
            <a:avLst/>
            <a:gdLst/>
            <a:ahLst/>
            <a:rect l="0" t="0" r="r" b="b"/>
            <a:pathLst>
              <a:path w="3573" h="1774">
                <a:moveTo>
                  <a:pt x="0" y="0"/>
                </a:moveTo>
                <a:lnTo>
                  <a:pt x="3573" y="0"/>
                </a:lnTo>
                <a:lnTo>
                  <a:pt x="3573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6" name=""/>
          <p:cNvSpPr/>
          <p:nvPr/>
        </p:nvSpPr>
        <p:spPr>
          <a:xfrm>
            <a:off x="8343720" y="3876480"/>
            <a:ext cx="2476800" cy="638640"/>
          </a:xfrm>
          <a:custGeom>
            <a:avLst/>
            <a:gdLst/>
            <a:ahLst/>
            <a:rect l="0" t="0" r="r" b="b"/>
            <a:pathLst>
              <a:path w="6880" h="1774">
                <a:moveTo>
                  <a:pt x="0" y="0"/>
                </a:moveTo>
                <a:lnTo>
                  <a:pt x="6880" y="0"/>
                </a:lnTo>
                <a:lnTo>
                  <a:pt x="6880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7" name=""/>
          <p:cNvSpPr/>
          <p:nvPr/>
        </p:nvSpPr>
        <p:spPr>
          <a:xfrm>
            <a:off x="10820160" y="3876480"/>
            <a:ext cx="838440" cy="638640"/>
          </a:xfrm>
          <a:custGeom>
            <a:avLst/>
            <a:gdLst/>
            <a:ahLst/>
            <a:rect l="0" t="0" r="r" b="b"/>
            <a:pathLst>
              <a:path w="2329" h="1774">
                <a:moveTo>
                  <a:pt x="0" y="0"/>
                </a:moveTo>
                <a:lnTo>
                  <a:pt x="2329" y="0"/>
                </a:lnTo>
                <a:lnTo>
                  <a:pt x="23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8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69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0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1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2" name=""/>
          <p:cNvSpPr/>
          <p:nvPr/>
        </p:nvSpPr>
        <p:spPr>
          <a:xfrm>
            <a:off x="621972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3" name=""/>
          <p:cNvSpPr/>
          <p:nvPr/>
        </p:nvSpPr>
        <p:spPr>
          <a:xfrm>
            <a:off x="7057800" y="4514760"/>
            <a:ext cx="1286280" cy="638280"/>
          </a:xfrm>
          <a:custGeom>
            <a:avLst/>
            <a:gdLst/>
            <a:ahLst/>
            <a:rect l="0" t="0" r="r" b="b"/>
            <a:pathLst>
              <a:path w="3573" h="1773">
                <a:moveTo>
                  <a:pt x="0" y="0"/>
                </a:moveTo>
                <a:lnTo>
                  <a:pt x="3573" y="0"/>
                </a:lnTo>
                <a:lnTo>
                  <a:pt x="3573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4" name=""/>
          <p:cNvSpPr/>
          <p:nvPr/>
        </p:nvSpPr>
        <p:spPr>
          <a:xfrm>
            <a:off x="8343720" y="4514760"/>
            <a:ext cx="2476800" cy="638280"/>
          </a:xfrm>
          <a:custGeom>
            <a:avLst/>
            <a:gdLst/>
            <a:ahLst/>
            <a:rect l="0" t="0" r="r" b="b"/>
            <a:pathLst>
              <a:path w="6880" h="1773">
                <a:moveTo>
                  <a:pt x="0" y="0"/>
                </a:moveTo>
                <a:lnTo>
                  <a:pt x="6880" y="0"/>
                </a:lnTo>
                <a:lnTo>
                  <a:pt x="6880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5" name=""/>
          <p:cNvSpPr/>
          <p:nvPr/>
        </p:nvSpPr>
        <p:spPr>
          <a:xfrm>
            <a:off x="10820160" y="4514760"/>
            <a:ext cx="838440" cy="638280"/>
          </a:xfrm>
          <a:custGeom>
            <a:avLst/>
            <a:gdLst/>
            <a:ahLst/>
            <a:rect l="0" t="0" r="r" b="b"/>
            <a:pathLst>
              <a:path w="2329" h="1773">
                <a:moveTo>
                  <a:pt x="0" y="0"/>
                </a:moveTo>
                <a:lnTo>
                  <a:pt x="2329" y="0"/>
                </a:lnTo>
                <a:lnTo>
                  <a:pt x="23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F1F5F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6" name=""/>
          <p:cNvSpPr/>
          <p:nvPr/>
        </p:nvSpPr>
        <p:spPr>
          <a:xfrm>
            <a:off x="6210000" y="1952280"/>
            <a:ext cx="10440" cy="648360"/>
          </a:xfrm>
          <a:custGeom>
            <a:avLst/>
            <a:gdLst/>
            <a:ahLst/>
            <a:rect l="0" t="0" r="r" b="b"/>
            <a:pathLst>
              <a:path w="29" h="1801">
                <a:moveTo>
                  <a:pt x="0" y="0"/>
                </a:moveTo>
                <a:lnTo>
                  <a:pt x="29" y="0"/>
                </a:lnTo>
                <a:lnTo>
                  <a:pt x="29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7" name=""/>
          <p:cNvSpPr/>
          <p:nvPr/>
        </p:nvSpPr>
        <p:spPr>
          <a:xfrm>
            <a:off x="6210000" y="195228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8" name=""/>
          <p:cNvSpPr/>
          <p:nvPr/>
        </p:nvSpPr>
        <p:spPr>
          <a:xfrm>
            <a:off x="7057800" y="1952280"/>
            <a:ext cx="10080" cy="648360"/>
          </a:xfrm>
          <a:custGeom>
            <a:avLst/>
            <a:gdLst/>
            <a:ahLst/>
            <a:rect l="0" t="0" r="r" b="b"/>
            <a:pathLst>
              <a:path w="28" h="1801">
                <a:moveTo>
                  <a:pt x="0" y="0"/>
                </a:moveTo>
                <a:lnTo>
                  <a:pt x="28" y="0"/>
                </a:lnTo>
                <a:lnTo>
                  <a:pt x="28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79" name=""/>
          <p:cNvSpPr/>
          <p:nvPr/>
        </p:nvSpPr>
        <p:spPr>
          <a:xfrm>
            <a:off x="7067520" y="195228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0" name=""/>
          <p:cNvSpPr/>
          <p:nvPr/>
        </p:nvSpPr>
        <p:spPr>
          <a:xfrm>
            <a:off x="834372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1" name=""/>
          <p:cNvSpPr/>
          <p:nvPr/>
        </p:nvSpPr>
        <p:spPr>
          <a:xfrm>
            <a:off x="8353080" y="195228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2" name=""/>
          <p:cNvSpPr/>
          <p:nvPr/>
        </p:nvSpPr>
        <p:spPr>
          <a:xfrm>
            <a:off x="1081080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3" name=""/>
          <p:cNvSpPr/>
          <p:nvPr/>
        </p:nvSpPr>
        <p:spPr>
          <a:xfrm>
            <a:off x="10820160" y="195228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4" name=""/>
          <p:cNvSpPr/>
          <p:nvPr/>
        </p:nvSpPr>
        <p:spPr>
          <a:xfrm>
            <a:off x="11648880" y="1952280"/>
            <a:ext cx="9720" cy="648360"/>
          </a:xfrm>
          <a:custGeom>
            <a:avLst/>
            <a:gdLst/>
            <a:ahLst/>
            <a:rect l="0" t="0" r="r" b="b"/>
            <a:pathLst>
              <a:path w="27" h="1801">
                <a:moveTo>
                  <a:pt x="0" y="0"/>
                </a:moveTo>
                <a:lnTo>
                  <a:pt x="27" y="0"/>
                </a:lnTo>
                <a:lnTo>
                  <a:pt x="27" y="1801"/>
                </a:lnTo>
                <a:lnTo>
                  <a:pt x="0" y="1801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5" name=""/>
          <p:cNvSpPr/>
          <p:nvPr/>
        </p:nvSpPr>
        <p:spPr>
          <a:xfrm>
            <a:off x="6210000" y="259056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6" name=""/>
          <p:cNvSpPr/>
          <p:nvPr/>
        </p:nvSpPr>
        <p:spPr>
          <a:xfrm>
            <a:off x="7067520" y="259056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7" name=""/>
          <p:cNvSpPr/>
          <p:nvPr/>
        </p:nvSpPr>
        <p:spPr>
          <a:xfrm>
            <a:off x="8353080" y="259056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8" name=""/>
          <p:cNvSpPr/>
          <p:nvPr/>
        </p:nvSpPr>
        <p:spPr>
          <a:xfrm>
            <a:off x="10820160" y="259056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89" name=""/>
          <p:cNvSpPr/>
          <p:nvPr/>
        </p:nvSpPr>
        <p:spPr>
          <a:xfrm>
            <a:off x="6210000" y="260028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0" name=""/>
          <p:cNvSpPr/>
          <p:nvPr/>
        </p:nvSpPr>
        <p:spPr>
          <a:xfrm>
            <a:off x="7057800" y="260028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1" name=""/>
          <p:cNvSpPr/>
          <p:nvPr/>
        </p:nvSpPr>
        <p:spPr>
          <a:xfrm>
            <a:off x="834372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2" name=""/>
          <p:cNvSpPr/>
          <p:nvPr/>
        </p:nvSpPr>
        <p:spPr>
          <a:xfrm>
            <a:off x="1081080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3" name=""/>
          <p:cNvSpPr/>
          <p:nvPr/>
        </p:nvSpPr>
        <p:spPr>
          <a:xfrm>
            <a:off x="11648880" y="260028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4" name=""/>
          <p:cNvSpPr/>
          <p:nvPr/>
        </p:nvSpPr>
        <p:spPr>
          <a:xfrm>
            <a:off x="6210000" y="323820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5" name=""/>
          <p:cNvSpPr/>
          <p:nvPr/>
        </p:nvSpPr>
        <p:spPr>
          <a:xfrm>
            <a:off x="6210000" y="322884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6" name=""/>
          <p:cNvSpPr/>
          <p:nvPr/>
        </p:nvSpPr>
        <p:spPr>
          <a:xfrm>
            <a:off x="7057800" y="323820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7" name=""/>
          <p:cNvSpPr/>
          <p:nvPr/>
        </p:nvSpPr>
        <p:spPr>
          <a:xfrm>
            <a:off x="7067520" y="322884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8" name=""/>
          <p:cNvSpPr/>
          <p:nvPr/>
        </p:nvSpPr>
        <p:spPr>
          <a:xfrm>
            <a:off x="834372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899" name=""/>
          <p:cNvSpPr/>
          <p:nvPr/>
        </p:nvSpPr>
        <p:spPr>
          <a:xfrm>
            <a:off x="8353080" y="322884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0" name=""/>
          <p:cNvSpPr/>
          <p:nvPr/>
        </p:nvSpPr>
        <p:spPr>
          <a:xfrm>
            <a:off x="1081080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1" name=""/>
          <p:cNvSpPr/>
          <p:nvPr/>
        </p:nvSpPr>
        <p:spPr>
          <a:xfrm>
            <a:off x="10820160" y="322884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2" name=""/>
          <p:cNvSpPr/>
          <p:nvPr/>
        </p:nvSpPr>
        <p:spPr>
          <a:xfrm>
            <a:off x="11648880" y="323820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3" name=""/>
          <p:cNvSpPr/>
          <p:nvPr/>
        </p:nvSpPr>
        <p:spPr>
          <a:xfrm>
            <a:off x="6210000" y="3876480"/>
            <a:ext cx="10440" cy="638640"/>
          </a:xfrm>
          <a:custGeom>
            <a:avLst/>
            <a:gdLst/>
            <a:ahLst/>
            <a:rect l="0" t="0" r="r" b="b"/>
            <a:pathLst>
              <a:path w="29" h="1774">
                <a:moveTo>
                  <a:pt x="0" y="0"/>
                </a:moveTo>
                <a:lnTo>
                  <a:pt x="29" y="0"/>
                </a:lnTo>
                <a:lnTo>
                  <a:pt x="29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4" name=""/>
          <p:cNvSpPr/>
          <p:nvPr/>
        </p:nvSpPr>
        <p:spPr>
          <a:xfrm>
            <a:off x="6210000" y="38671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5" name=""/>
          <p:cNvSpPr/>
          <p:nvPr/>
        </p:nvSpPr>
        <p:spPr>
          <a:xfrm>
            <a:off x="7057800" y="3876480"/>
            <a:ext cx="10080" cy="638640"/>
          </a:xfrm>
          <a:custGeom>
            <a:avLst/>
            <a:gdLst/>
            <a:ahLst/>
            <a:rect l="0" t="0" r="r" b="b"/>
            <a:pathLst>
              <a:path w="28" h="1774">
                <a:moveTo>
                  <a:pt x="0" y="0"/>
                </a:moveTo>
                <a:lnTo>
                  <a:pt x="28" y="0"/>
                </a:lnTo>
                <a:lnTo>
                  <a:pt x="28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6" name=""/>
          <p:cNvSpPr/>
          <p:nvPr/>
        </p:nvSpPr>
        <p:spPr>
          <a:xfrm>
            <a:off x="7067520" y="38671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7" name=""/>
          <p:cNvSpPr/>
          <p:nvPr/>
        </p:nvSpPr>
        <p:spPr>
          <a:xfrm>
            <a:off x="834372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8" name=""/>
          <p:cNvSpPr/>
          <p:nvPr/>
        </p:nvSpPr>
        <p:spPr>
          <a:xfrm>
            <a:off x="8353080" y="38671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09" name=""/>
          <p:cNvSpPr/>
          <p:nvPr/>
        </p:nvSpPr>
        <p:spPr>
          <a:xfrm>
            <a:off x="1081080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0" name=""/>
          <p:cNvSpPr/>
          <p:nvPr/>
        </p:nvSpPr>
        <p:spPr>
          <a:xfrm>
            <a:off x="10820160" y="38671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1" name=""/>
          <p:cNvSpPr/>
          <p:nvPr/>
        </p:nvSpPr>
        <p:spPr>
          <a:xfrm>
            <a:off x="11648880" y="3876480"/>
            <a:ext cx="9720" cy="638640"/>
          </a:xfrm>
          <a:custGeom>
            <a:avLst/>
            <a:gdLst/>
            <a:ahLst/>
            <a:rect l="0" t="0" r="r" b="b"/>
            <a:pathLst>
              <a:path w="27" h="1774">
                <a:moveTo>
                  <a:pt x="0" y="0"/>
                </a:moveTo>
                <a:lnTo>
                  <a:pt x="27" y="0"/>
                </a:lnTo>
                <a:lnTo>
                  <a:pt x="27" y="1774"/>
                </a:lnTo>
                <a:lnTo>
                  <a:pt x="0" y="177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2" name=""/>
          <p:cNvSpPr/>
          <p:nvPr/>
        </p:nvSpPr>
        <p:spPr>
          <a:xfrm>
            <a:off x="6210000" y="4514760"/>
            <a:ext cx="10440" cy="638280"/>
          </a:xfrm>
          <a:custGeom>
            <a:avLst/>
            <a:gdLst/>
            <a:ahLst/>
            <a:rect l="0" t="0" r="r" b="b"/>
            <a:pathLst>
              <a:path w="29" h="1773">
                <a:moveTo>
                  <a:pt x="0" y="0"/>
                </a:moveTo>
                <a:lnTo>
                  <a:pt x="29" y="0"/>
                </a:lnTo>
                <a:lnTo>
                  <a:pt x="29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3" name=""/>
          <p:cNvSpPr/>
          <p:nvPr/>
        </p:nvSpPr>
        <p:spPr>
          <a:xfrm>
            <a:off x="6210000" y="4505040"/>
            <a:ext cx="857880" cy="10080"/>
          </a:xfrm>
          <a:custGeom>
            <a:avLst/>
            <a:gdLst/>
            <a:ahLst/>
            <a:rect l="0" t="0" r="r" b="b"/>
            <a:pathLst>
              <a:path w="2383" h="28">
                <a:moveTo>
                  <a:pt x="0" y="0"/>
                </a:moveTo>
                <a:lnTo>
                  <a:pt x="2383" y="0"/>
                </a:lnTo>
                <a:lnTo>
                  <a:pt x="2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4" name=""/>
          <p:cNvSpPr/>
          <p:nvPr/>
        </p:nvSpPr>
        <p:spPr>
          <a:xfrm>
            <a:off x="7057800" y="4514760"/>
            <a:ext cx="10080" cy="638280"/>
          </a:xfrm>
          <a:custGeom>
            <a:avLst/>
            <a:gdLst/>
            <a:ahLst/>
            <a:rect l="0" t="0" r="r" b="b"/>
            <a:pathLst>
              <a:path w="28" h="1773">
                <a:moveTo>
                  <a:pt x="0" y="0"/>
                </a:moveTo>
                <a:lnTo>
                  <a:pt x="28" y="0"/>
                </a:lnTo>
                <a:lnTo>
                  <a:pt x="28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5" name=""/>
          <p:cNvSpPr/>
          <p:nvPr/>
        </p:nvSpPr>
        <p:spPr>
          <a:xfrm>
            <a:off x="7067520" y="4505040"/>
            <a:ext cx="1285920" cy="10080"/>
          </a:xfrm>
          <a:custGeom>
            <a:avLst/>
            <a:gdLst/>
            <a:ahLst/>
            <a:rect l="0" t="0" r="r" b="b"/>
            <a:pathLst>
              <a:path w="3572" h="28">
                <a:moveTo>
                  <a:pt x="0" y="0"/>
                </a:moveTo>
                <a:lnTo>
                  <a:pt x="3572" y="0"/>
                </a:lnTo>
                <a:lnTo>
                  <a:pt x="357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6" name=""/>
          <p:cNvSpPr/>
          <p:nvPr/>
        </p:nvSpPr>
        <p:spPr>
          <a:xfrm>
            <a:off x="834372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7" name=""/>
          <p:cNvSpPr/>
          <p:nvPr/>
        </p:nvSpPr>
        <p:spPr>
          <a:xfrm>
            <a:off x="8353080" y="4505040"/>
            <a:ext cx="2467440" cy="10080"/>
          </a:xfrm>
          <a:custGeom>
            <a:avLst/>
            <a:gdLst/>
            <a:ahLst/>
            <a:rect l="0" t="0" r="r" b="b"/>
            <a:pathLst>
              <a:path w="6854" h="28">
                <a:moveTo>
                  <a:pt x="0" y="0"/>
                </a:moveTo>
                <a:lnTo>
                  <a:pt x="6854" y="0"/>
                </a:lnTo>
                <a:lnTo>
                  <a:pt x="685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8" name=""/>
          <p:cNvSpPr/>
          <p:nvPr/>
        </p:nvSpPr>
        <p:spPr>
          <a:xfrm>
            <a:off x="1081080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19" name=""/>
          <p:cNvSpPr/>
          <p:nvPr/>
        </p:nvSpPr>
        <p:spPr>
          <a:xfrm>
            <a:off x="10820160" y="4505040"/>
            <a:ext cx="838440" cy="10080"/>
          </a:xfrm>
          <a:custGeom>
            <a:avLst/>
            <a:gdLst/>
            <a:ahLst/>
            <a:rect l="0" t="0" r="r" b="b"/>
            <a:pathLst>
              <a:path w="2329" h="28">
                <a:moveTo>
                  <a:pt x="0" y="0"/>
                </a:moveTo>
                <a:lnTo>
                  <a:pt x="2329" y="0"/>
                </a:lnTo>
                <a:lnTo>
                  <a:pt x="232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0" name=""/>
          <p:cNvSpPr/>
          <p:nvPr/>
        </p:nvSpPr>
        <p:spPr>
          <a:xfrm>
            <a:off x="11648880" y="4514760"/>
            <a:ext cx="9720" cy="638280"/>
          </a:xfrm>
          <a:custGeom>
            <a:avLst/>
            <a:gdLst/>
            <a:ahLst/>
            <a:rect l="0" t="0" r="r" b="b"/>
            <a:pathLst>
              <a:path w="27" h="1773">
                <a:moveTo>
                  <a:pt x="0" y="0"/>
                </a:moveTo>
                <a:lnTo>
                  <a:pt x="27" y="0"/>
                </a:lnTo>
                <a:lnTo>
                  <a:pt x="27" y="1773"/>
                </a:lnTo>
                <a:lnTo>
                  <a:pt x="0" y="17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1" name=""/>
          <p:cNvSpPr/>
          <p:nvPr/>
        </p:nvSpPr>
        <p:spPr>
          <a:xfrm>
            <a:off x="6210000" y="5143320"/>
            <a:ext cx="857880" cy="9720"/>
          </a:xfrm>
          <a:custGeom>
            <a:avLst/>
            <a:gdLst/>
            <a:ahLst/>
            <a:rect l="0" t="0" r="r" b="b"/>
            <a:pathLst>
              <a:path w="2383" h="27">
                <a:moveTo>
                  <a:pt x="0" y="0"/>
                </a:moveTo>
                <a:lnTo>
                  <a:pt x="2383" y="0"/>
                </a:lnTo>
                <a:lnTo>
                  <a:pt x="2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2" name=""/>
          <p:cNvSpPr/>
          <p:nvPr/>
        </p:nvSpPr>
        <p:spPr>
          <a:xfrm>
            <a:off x="7067520" y="5143320"/>
            <a:ext cx="1285920" cy="9720"/>
          </a:xfrm>
          <a:custGeom>
            <a:avLst/>
            <a:gdLst/>
            <a:ahLst/>
            <a:rect l="0" t="0" r="r" b="b"/>
            <a:pathLst>
              <a:path w="3572" h="27">
                <a:moveTo>
                  <a:pt x="0" y="0"/>
                </a:moveTo>
                <a:lnTo>
                  <a:pt x="3572" y="0"/>
                </a:lnTo>
                <a:lnTo>
                  <a:pt x="357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3" name=""/>
          <p:cNvSpPr/>
          <p:nvPr/>
        </p:nvSpPr>
        <p:spPr>
          <a:xfrm>
            <a:off x="8353080" y="5143320"/>
            <a:ext cx="2467440" cy="9720"/>
          </a:xfrm>
          <a:custGeom>
            <a:avLst/>
            <a:gdLst/>
            <a:ahLst/>
            <a:rect l="0" t="0" r="r" b="b"/>
            <a:pathLst>
              <a:path w="6854" h="27">
                <a:moveTo>
                  <a:pt x="0" y="0"/>
                </a:moveTo>
                <a:lnTo>
                  <a:pt x="6854" y="0"/>
                </a:lnTo>
                <a:lnTo>
                  <a:pt x="685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4" name=""/>
          <p:cNvSpPr/>
          <p:nvPr/>
        </p:nvSpPr>
        <p:spPr>
          <a:xfrm>
            <a:off x="10820160" y="5143320"/>
            <a:ext cx="838440" cy="9720"/>
          </a:xfrm>
          <a:custGeom>
            <a:avLst/>
            <a:gdLst/>
            <a:ahLst/>
            <a:rect l="0" t="0" r="r" b="b"/>
            <a:pathLst>
              <a:path w="2329" h="27">
                <a:moveTo>
                  <a:pt x="0" y="0"/>
                </a:moveTo>
                <a:lnTo>
                  <a:pt x="2329" y="0"/>
                </a:lnTo>
                <a:lnTo>
                  <a:pt x="232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99920" y="35996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説明変数を⾒直し、モデルを再構築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6210360" y="1572480"/>
            <a:ext cx="1044720" cy="209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650" b="1" u="none" strike="noStrike">
                <a:solidFill>
                  <a:srgbClr val="64748B"/>
                </a:solidFill>
                <a:effectLst/>
                <a:uFillTx/>
                <a:latin typeface="HiraginoSans-W6"/>
                <a:ea typeface="HiraginoSans-W6"/>
              </a:rPr>
              <a:t>モデル変遷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6343560" y="205452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バージ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6343560" y="23119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ョン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189920" y="218808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期間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8472600" y="2188080"/>
            <a:ext cx="683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FFFFFF"/>
                </a:solidFill>
                <a:effectLst/>
                <a:uFillTx/>
                <a:latin typeface="HiraginoSans-W6"/>
                <a:ea typeface="HiraginoSans-W6"/>
              </a:rPr>
              <a:t>説明変数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10946880" y="2046600"/>
            <a:ext cx="2347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CV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10946880" y="2303640"/>
            <a:ext cx="3830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MAE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6343560" y="281808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718992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7361280" y="268488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7189920" y="294192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472600" y="268488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568000" y="26928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9082440" y="268488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94410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9612360" y="2684880"/>
            <a:ext cx="768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10384200" y="26928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8472600" y="294984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8643960" y="2941920"/>
            <a:ext cx="5979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sin/cos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5" name=""/>
          <p:cNvSpPr txBox="1"/>
          <p:nvPr/>
        </p:nvSpPr>
        <p:spPr>
          <a:xfrm>
            <a:off x="9244080" y="294984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10946880" y="2818080"/>
            <a:ext cx="171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—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6343560" y="3456360"/>
            <a:ext cx="181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7189920" y="332280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2026-05-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7189920" y="35802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18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7380360" y="358812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7552080" y="3580200"/>
            <a:ext cx="4467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06-06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8472600" y="332280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6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8568000" y="33310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9082440" y="332280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944100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9612360" y="332280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7" name=""/>
          <p:cNvSpPr txBox="1"/>
          <p:nvPr/>
        </p:nvSpPr>
        <p:spPr>
          <a:xfrm>
            <a:off x="10396440" y="33310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8472600" y="3580200"/>
            <a:ext cx="8164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TMP_max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9291960" y="3588120"/>
            <a:ext cx="34200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等）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0" name=""/>
          <p:cNvSpPr txBox="1"/>
          <p:nvPr/>
        </p:nvSpPr>
        <p:spPr>
          <a:xfrm>
            <a:off x="10946880" y="332280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1" name=""/>
          <p:cNvSpPr txBox="1"/>
          <p:nvPr/>
        </p:nvSpPr>
        <p:spPr>
          <a:xfrm>
            <a:off x="10946880" y="35802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6343560" y="4094280"/>
            <a:ext cx="18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v3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3" name=""/>
          <p:cNvSpPr txBox="1"/>
          <p:nvPr/>
        </p:nvSpPr>
        <p:spPr>
          <a:xfrm>
            <a:off x="7189920" y="3961080"/>
            <a:ext cx="7092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7189920" y="4218120"/>
            <a:ext cx="1904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07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73803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6" name=""/>
          <p:cNvSpPr txBox="1"/>
          <p:nvPr/>
        </p:nvSpPr>
        <p:spPr>
          <a:xfrm>
            <a:off x="8472600" y="3961080"/>
            <a:ext cx="171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8568000" y="396900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8" name=""/>
          <p:cNvSpPr txBox="1"/>
          <p:nvPr/>
        </p:nvSpPr>
        <p:spPr>
          <a:xfrm>
            <a:off x="9082440" y="3961080"/>
            <a:ext cx="36432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69" name=""/>
          <p:cNvSpPr txBox="1"/>
          <p:nvPr/>
        </p:nvSpPr>
        <p:spPr>
          <a:xfrm>
            <a:off x="944748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0" name=""/>
          <p:cNvSpPr txBox="1"/>
          <p:nvPr/>
        </p:nvSpPr>
        <p:spPr>
          <a:xfrm>
            <a:off x="9618840" y="3961080"/>
            <a:ext cx="8222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1" name=""/>
          <p:cNvSpPr txBox="1"/>
          <p:nvPr/>
        </p:nvSpPr>
        <p:spPr>
          <a:xfrm>
            <a:off x="10444320" y="39690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2" name=""/>
          <p:cNvSpPr txBox="1"/>
          <p:nvPr/>
        </p:nvSpPr>
        <p:spPr>
          <a:xfrm>
            <a:off x="8472600" y="4218120"/>
            <a:ext cx="34884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3" name=""/>
          <p:cNvSpPr txBox="1"/>
          <p:nvPr/>
        </p:nvSpPr>
        <p:spPr>
          <a:xfrm>
            <a:off x="8822160" y="422640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1" u="none" strike="noStrike">
                <a:solidFill>
                  <a:srgbClr val="2563EB"/>
                </a:solidFill>
                <a:effectLst/>
                <a:uFillTx/>
                <a:latin typeface="HiraginoSans-W6"/>
                <a:ea typeface="HiraginoSans-W6"/>
              </a:rPr>
              <a:t>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10946880" y="3961080"/>
            <a:ext cx="33300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2.08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5" name=""/>
          <p:cNvSpPr txBox="1"/>
          <p:nvPr/>
        </p:nvSpPr>
        <p:spPr>
          <a:xfrm>
            <a:off x="10946880" y="4218120"/>
            <a:ext cx="361080" cy="20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2563EB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6343560" y="4732560"/>
            <a:ext cx="2822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v3b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189920" y="4599360"/>
            <a:ext cx="70308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2026-06-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7189920" y="4856400"/>
            <a:ext cx="1904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79" name=""/>
          <p:cNvSpPr txBox="1"/>
          <p:nvPr/>
        </p:nvSpPr>
        <p:spPr>
          <a:xfrm>
            <a:off x="7380360" y="48646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〜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8472600" y="4599360"/>
            <a:ext cx="171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1" name=""/>
          <p:cNvSpPr txBox="1"/>
          <p:nvPr/>
        </p:nvSpPr>
        <p:spPr>
          <a:xfrm>
            <a:off x="8568000" y="46072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変数（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2" name=""/>
          <p:cNvSpPr txBox="1"/>
          <p:nvPr/>
        </p:nvSpPr>
        <p:spPr>
          <a:xfrm>
            <a:off x="9082440" y="4599360"/>
            <a:ext cx="35784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944100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・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4" name=""/>
          <p:cNvSpPr txBox="1"/>
          <p:nvPr/>
        </p:nvSpPr>
        <p:spPr>
          <a:xfrm>
            <a:off x="9612360" y="4599360"/>
            <a:ext cx="7812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GSR_ratio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396440" y="4607280"/>
            <a:ext cx="17136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、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472600" y="4856400"/>
            <a:ext cx="342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SSD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8815680" y="4864680"/>
            <a:ext cx="512640" cy="17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35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除外）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10946880" y="4599360"/>
            <a:ext cx="33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2.22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10946880" y="4856400"/>
            <a:ext cx="34236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kWh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6210360" y="5333040"/>
            <a:ext cx="3048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変数を絞り込むたびに精度が向上（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9258120" y="5324040"/>
            <a:ext cx="11368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CV MAE 2.23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10394640" y="5333040"/>
            <a:ext cx="191160" cy="212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Arial"/>
                <a:ea typeface="Arial"/>
              </a:rPr>
              <a:t>→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3" name=""/>
          <p:cNvSpPr txBox="1"/>
          <p:nvPr/>
        </p:nvSpPr>
        <p:spPr>
          <a:xfrm>
            <a:off x="10585080" y="5324040"/>
            <a:ext cx="8056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1A1A2E"/>
                </a:solidFill>
                <a:effectLst/>
                <a:uFillTx/>
                <a:latin typeface="HelveticaNeue"/>
                <a:ea typeface="HelveticaNeue"/>
              </a:rPr>
              <a:t>2.08 kWh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4" name=""/>
          <p:cNvSpPr txBox="1"/>
          <p:nvPr/>
        </p:nvSpPr>
        <p:spPr>
          <a:xfrm>
            <a:off x="11390040" y="5333040"/>
            <a:ext cx="191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）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5" name=""/>
          <p:cNvSpPr txBox="1"/>
          <p:nvPr/>
        </p:nvSpPr>
        <p:spPr>
          <a:xfrm>
            <a:off x="723960" y="6008400"/>
            <a:ext cx="9249840" cy="181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430" b="0" u="none" strike="noStrike">
                <a:solidFill>
                  <a:srgbClr val="1A1A2E"/>
                </a:solidFill>
                <a:effectLst/>
                <a:uFillTx/>
                <a:latin typeface="HiraginoSans-W4"/>
                <a:ea typeface="HiraginoSans-W4"/>
              </a:rPr>
              <a:t>発電量予測は蓄電池の夜間充電判断にも活⽤。晴天予測時は太陽光発電を優先し、悪天候予測時は夜間電⼒で充電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11768400" y="6492600"/>
            <a:ext cx="137880" cy="143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80" b="0" u="none" strike="noStrike">
                <a:solidFill>
                  <a:srgbClr val="64748B"/>
                </a:solidFill>
                <a:effectLst/>
                <a:uFillTx/>
                <a:latin typeface="HelveticaNeue"/>
                <a:ea typeface="HelveticaNeue"/>
              </a:rPr>
              <a:t>13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9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1E3A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00" name=""/>
          <p:cNvSpPr/>
          <p:nvPr/>
        </p:nvSpPr>
        <p:spPr>
          <a:xfrm>
            <a:off x="533160" y="2800080"/>
            <a:ext cx="11125440" cy="29160"/>
          </a:xfrm>
          <a:custGeom>
            <a:avLst/>
            <a:gdLst/>
            <a:ahLst/>
            <a:rect l="0" t="0" r="r" b="b"/>
            <a:pathLst>
              <a:path w="30904" h="81">
                <a:moveTo>
                  <a:pt x="0" y="0"/>
                </a:moveTo>
                <a:lnTo>
                  <a:pt x="30904" y="0"/>
                </a:lnTo>
                <a:lnTo>
                  <a:pt x="30904" y="81"/>
                </a:lnTo>
                <a:lnTo>
                  <a:pt x="0" y="81"/>
                </a:lnTo>
                <a:lnTo>
                  <a:pt x="0" y="0"/>
                </a:lnTo>
                <a:close/>
              </a:path>
            </a:pathLst>
          </a:custGeom>
          <a:solidFill>
            <a:srgbClr val="2563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游明朝体"/>
            </a:endParaRPr>
          </a:p>
        </p:txBody>
      </p:sp>
      <p:sp>
        <p:nvSpPr>
          <p:cNvPr id="1001" name=""/>
          <p:cNvSpPr/>
          <p:nvPr/>
        </p:nvSpPr>
        <p:spPr>
          <a:xfrm>
            <a:off x="618840" y="3209760"/>
            <a:ext cx="57600" cy="57600"/>
          </a:xfrm>
          <a:custGeom>
            <a:avLst/>
            <a:gdLst/>
            <a:ahLst/>
            <a:rect l="0" t="0" r="r" b="b"/>
            <a:pathLst>
              <a:path w="160" h="160">
                <a:moveTo>
                  <a:pt x="160" y="80"/>
                </a:moveTo>
                <a:cubicBezTo>
                  <a:pt x="160" y="91"/>
                  <a:pt x="158" y="101"/>
                  <a:pt x="154" y="111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50"/>
                  <a:pt x="111" y="154"/>
                </a:cubicBezTo>
                <a:cubicBezTo>
                  <a:pt x="101" y="158"/>
                  <a:pt x="90" y="160"/>
                  <a:pt x="80" y="160"/>
                </a:cubicBezTo>
                <a:cubicBezTo>
                  <a:pt x="69" y="160"/>
                  <a:pt x="59" y="158"/>
                  <a:pt x="49" y="154"/>
                </a:cubicBezTo>
                <a:cubicBezTo>
                  <a:pt x="40" y="150"/>
                  <a:pt x="31" y="144"/>
                  <a:pt x="24" y="136"/>
                </a:cubicBezTo>
                <a:cubicBezTo>
                  <a:pt x="16" y="129"/>
                  <a:pt x="10" y="120"/>
                  <a:pt x="6" y="111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60"/>
                  <a:pt x="6" y="50"/>
                </a:cubicBezTo>
                <a:cubicBezTo>
                  <a:pt x="10" y="40"/>
                  <a:pt x="16" y="32"/>
                  <a:pt x="24" y="24"/>
                </a:cubicBezTo>
                <a:cubicBezTo>
                  <a:pt x="31" y="17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7"/>
                  <a:pt x="137" y="24"/>
                </a:cubicBezTo>
                <a:cubicBezTo>
                  <a:pt x="144" y="32"/>
                  <a:pt x="150" y="40"/>
                  <a:pt x="154" y="50"/>
                </a:cubicBezTo>
                <a:cubicBezTo>
                  <a:pt x="158" y="60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2" name=""/>
          <p:cNvSpPr txBox="1"/>
          <p:nvPr/>
        </p:nvSpPr>
        <p:spPr>
          <a:xfrm>
            <a:off x="533520" y="2284200"/>
            <a:ext cx="3429720" cy="38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3000" b="1" u="none" strike="noStrike">
                <a:solidFill>
                  <a:srgbClr val="FFFFFF"/>
                </a:solidFill>
                <a:effectLst/>
                <a:uFillTx/>
                <a:latin typeface="HiraginoSans-W7"/>
                <a:ea typeface="HiraginoSans-W7"/>
              </a:rPr>
              <a:t>まとめ・今後の展開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3" name=""/>
          <p:cNvSpPr/>
          <p:nvPr/>
        </p:nvSpPr>
        <p:spPr>
          <a:xfrm>
            <a:off x="618840" y="36003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1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4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4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1"/>
                  <a:pt x="0" y="80"/>
                </a:cubicBezTo>
                <a:cubicBezTo>
                  <a:pt x="0" y="70"/>
                  <a:pt x="2" y="59"/>
                  <a:pt x="6" y="50"/>
                </a:cubicBezTo>
                <a:cubicBezTo>
                  <a:pt x="10" y="40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6"/>
                  <a:pt x="137" y="23"/>
                </a:cubicBezTo>
                <a:cubicBezTo>
                  <a:pt x="144" y="30"/>
                  <a:pt x="150" y="40"/>
                  <a:pt x="154" y="50"/>
                </a:cubicBezTo>
                <a:cubicBezTo>
                  <a:pt x="158" y="59"/>
                  <a:pt x="160" y="70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799920" y="3123360"/>
            <a:ext cx="476316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開発中の各ツールは、運⽤しながら継続的に改善を実施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799920" y="3513600"/>
            <a:ext cx="76284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ローカル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1556280" y="3504960"/>
            <a:ext cx="37836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LLM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7" name=""/>
          <p:cNvSpPr/>
          <p:nvPr/>
        </p:nvSpPr>
        <p:spPr>
          <a:xfrm>
            <a:off x="618840" y="3990960"/>
            <a:ext cx="57600" cy="57240"/>
          </a:xfrm>
          <a:custGeom>
            <a:avLst/>
            <a:gdLst/>
            <a:ahLst/>
            <a:rect l="0" t="0" r="r" b="b"/>
            <a:pathLst>
              <a:path w="160" h="159">
                <a:moveTo>
                  <a:pt x="160" y="80"/>
                </a:moveTo>
                <a:cubicBezTo>
                  <a:pt x="160" y="90"/>
                  <a:pt x="158" y="101"/>
                  <a:pt x="154" y="110"/>
                </a:cubicBezTo>
                <a:cubicBezTo>
                  <a:pt x="150" y="120"/>
                  <a:pt x="144" y="129"/>
                  <a:pt x="137" y="136"/>
                </a:cubicBezTo>
                <a:cubicBezTo>
                  <a:pt x="129" y="143"/>
                  <a:pt x="121" y="149"/>
                  <a:pt x="111" y="153"/>
                </a:cubicBezTo>
                <a:cubicBezTo>
                  <a:pt x="101" y="157"/>
                  <a:pt x="90" y="159"/>
                  <a:pt x="80" y="159"/>
                </a:cubicBezTo>
                <a:cubicBezTo>
                  <a:pt x="69" y="159"/>
                  <a:pt x="59" y="157"/>
                  <a:pt x="49" y="153"/>
                </a:cubicBezTo>
                <a:cubicBezTo>
                  <a:pt x="40" y="149"/>
                  <a:pt x="31" y="143"/>
                  <a:pt x="24" y="136"/>
                </a:cubicBezTo>
                <a:cubicBezTo>
                  <a:pt x="16" y="129"/>
                  <a:pt x="10" y="120"/>
                  <a:pt x="6" y="110"/>
                </a:cubicBezTo>
                <a:cubicBezTo>
                  <a:pt x="2" y="101"/>
                  <a:pt x="0" y="90"/>
                  <a:pt x="0" y="80"/>
                </a:cubicBezTo>
                <a:cubicBezTo>
                  <a:pt x="0" y="69"/>
                  <a:pt x="2" y="59"/>
                  <a:pt x="6" y="49"/>
                </a:cubicBezTo>
                <a:cubicBezTo>
                  <a:pt x="10" y="39"/>
                  <a:pt x="16" y="30"/>
                  <a:pt x="24" y="23"/>
                </a:cubicBezTo>
                <a:cubicBezTo>
                  <a:pt x="31" y="15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cubicBezTo>
                  <a:pt x="90" y="0"/>
                  <a:pt x="101" y="2"/>
                  <a:pt x="111" y="6"/>
                </a:cubicBezTo>
                <a:cubicBezTo>
                  <a:pt x="121" y="10"/>
                  <a:pt x="129" y="15"/>
                  <a:pt x="137" y="23"/>
                </a:cubicBezTo>
                <a:cubicBezTo>
                  <a:pt x="144" y="30"/>
                  <a:pt x="150" y="39"/>
                  <a:pt x="154" y="49"/>
                </a:cubicBezTo>
                <a:cubicBezTo>
                  <a:pt x="158" y="59"/>
                  <a:pt x="160" y="69"/>
                  <a:pt x="160" y="8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1934280" y="35136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⽐較・電⼒データ分析についても並⾏して取り組み中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799920" y="3904200"/>
            <a:ext cx="95328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今後の課題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1752480" y="3895200"/>
            <a:ext cx="190080" cy="222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HelveticaNeue"/>
                <a:ea typeface="HelveticaNeue"/>
              </a:rPr>
              <a:t>: 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858680" y="3904200"/>
            <a:ext cx="457272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撮影した地⾐類（コケ類）画像の⾃動分類⼿法の検討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533520" y="4371120"/>
            <a:ext cx="381600" cy="191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ja-JP" sz="1500" b="0" u="none" strike="noStrike">
                <a:solidFill>
                  <a:srgbClr val="FFFFFF"/>
                </a:solidFill>
                <a:effectLst/>
                <a:uFillTx/>
                <a:latin typeface="HiraginoSans-W4"/>
                <a:ea typeface="HiraginoSans-W4"/>
              </a:rPr>
              <a:t>以上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游明朝体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LibreOffice/26.2.4.2$MacOSX_AARCH64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ja-JP</dc:language>
  <cp:lastModifiedBy/>
  <cp:revision>0</cp:revision>
  <dc:subject/>
  <dc:title/>
</cp:coreProperties>
</file>