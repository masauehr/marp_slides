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44396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65600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⽇ ／ 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417760" y="4419360"/>
            <a:ext cx="61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03156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2220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68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43404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回気象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005360" y="4445640"/>
            <a:ext cx="190080" cy="19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ZapfDingbatsITC"/>
                <a:ea typeface="ZapfDingbatsITC"/>
              </a:rPr>
              <a:t>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1508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IT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362120" y="442800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勉強会⽉例会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533160" y="11048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/>
          <p:nvPr/>
        </p:nvSpPr>
        <p:spPr>
          <a:xfrm>
            <a:off x="552240" y="303840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/>
          <p:nvPr/>
        </p:nvSpPr>
        <p:spPr>
          <a:xfrm>
            <a:off x="533160" y="303840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33520" y="5886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295280" y="57060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668600" y="58860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192840" y="57060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/>
          <p:nvPr/>
        </p:nvSpPr>
        <p:spPr>
          <a:xfrm>
            <a:off x="618840" y="15141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753880" y="58860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99920" y="1427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9072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96560" y="14277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23956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412360" y="14277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576480" y="141876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/>
          <p:nvPr/>
        </p:nvSpPr>
        <p:spPr>
          <a:xfrm>
            <a:off x="618840" y="1904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957360" y="142776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999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371600" y="18093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650240" y="181836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エージェントの活⽤⽅法を知り、今年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873680" y="180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9795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⽉から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550840" y="18093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/>
          <p:nvPr/>
        </p:nvSpPr>
        <p:spPr>
          <a:xfrm>
            <a:off x="618840" y="2295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722280" y="1818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での開発を開始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99920" y="2208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7050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275796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2948400" y="21999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3657960" y="22089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038840" y="21999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56480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7552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/>
          <p:nvPr/>
        </p:nvSpPr>
        <p:spPr>
          <a:xfrm>
            <a:off x="618840" y="2695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808160" y="220896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ドキュメント化、という⼀連の流れを反復し、改良していく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99920" y="260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562040" y="25999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82700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017440" y="25999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207036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260800" y="259992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864160" y="2608920"/>
            <a:ext cx="7049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リポジトリ（毎⽇のデータ⾃動取得やグラフ化、アプリ、ニュース検索等）を作成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23960" y="316980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699800" y="31615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5" name=""/>
          <p:cNvPicPr/>
          <p:nvPr/>
        </p:nvPicPr>
        <p:blipFill>
          <a:blip r:embed="rId1"/>
          <a:stretch/>
        </p:blipFill>
        <p:spPr>
          <a:xfrm>
            <a:off x="1257120" y="3638520"/>
            <a:ext cx="3999960" cy="24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 txBox="1"/>
          <p:nvPr/>
        </p:nvSpPr>
        <p:spPr>
          <a:xfrm>
            <a:off x="5058720" y="316980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210360" y="36763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/>
          <p:nvPr/>
        </p:nvSpPr>
        <p:spPr>
          <a:xfrm>
            <a:off x="6295680" y="42382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1"/>
                  <a:pt x="130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437960" y="36853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の具体的な使い⽅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477120" y="415188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フォルダにマークダウンファイルを保存（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071720" y="414288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1154960" y="41518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477120" y="4485960"/>
            <a:ext cx="6926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7169040" y="44949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など）し、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121240" y="4485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/>
          <p:nvPr/>
        </p:nvSpPr>
        <p:spPr>
          <a:xfrm>
            <a:off x="6295680" y="4971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4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294040" y="4494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477120" y="48852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チャットで指⽰を出し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8381880" y="4876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8554680" y="4885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が直接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9126360" y="487656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6295680" y="53625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50"/>
                </a:cubicBezTo>
                <a:cubicBezTo>
                  <a:pt x="11" y="40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5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9715680" y="48852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コードを書いて保存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477120" y="527580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チャットの内容をまとめさせてマニュアル化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531360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0" y="6655"/>
                </a:moveTo>
                <a:cubicBezTo>
                  <a:pt x="402" y="6655"/>
                  <a:pt x="402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 rot="5400000">
            <a:off x="499428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/>
          <p:nvPr/>
        </p:nvSpPr>
        <p:spPr>
          <a:xfrm>
            <a:off x="612216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302" y="6655"/>
                </a:moveTo>
                <a:cubicBezTo>
                  <a:pt x="-101" y="6655"/>
                  <a:pt x="-101" y="0"/>
                  <a:pt x="30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 rot="5400000">
            <a:off x="536112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/>
          <p:nvPr/>
        </p:nvSpPr>
        <p:spPr>
          <a:xfrm>
            <a:off x="533160" y="2314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/>
          <p:nvPr/>
        </p:nvSpPr>
        <p:spPr>
          <a:xfrm>
            <a:off x="552240" y="462888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/>
          <p:nvPr/>
        </p:nvSpPr>
        <p:spPr>
          <a:xfrm>
            <a:off x="533160" y="462888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533520" y="1780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/>
          <p:nvPr/>
        </p:nvSpPr>
        <p:spPr>
          <a:xfrm>
            <a:off x="618840" y="27241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06840" y="1798200"/>
            <a:ext cx="9144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へサンプルアプリを読ませて開発（応⽤、⾼機能化）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99920" y="2628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360800" y="2637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397400" y="262836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618840" y="3114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050440" y="2637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99920" y="3027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13372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267640" y="3027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315760" y="30189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739120" y="3027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92956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/>
          <p:nvPr/>
        </p:nvSpPr>
        <p:spPr>
          <a:xfrm>
            <a:off x="618840" y="3504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063840" y="30279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799920" y="34185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562040" y="340956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77200" y="34185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1080" y="340956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/>
          <p:nvPr/>
        </p:nvSpPr>
        <p:spPr>
          <a:xfrm>
            <a:off x="618840" y="3895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267800" y="341856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データの読み込み処理と天気図作成スクリプトを実装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9992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気象台職員の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94292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302920" y="38091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826800" y="3800160"/>
            <a:ext cx="819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javascript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645080" y="38091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5026320" y="3800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19876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3420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/>
          <p:nvPr/>
        </p:nvSpPr>
        <p:spPr>
          <a:xfrm>
            <a:off x="618840" y="4286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69384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799920" y="41994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194720" y="41907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366160" y="4199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23960" y="476064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767760" y="475200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880880" y="476064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99920" y="150408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気象情報表⽰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942920" y="149508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2302920" y="150408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82680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051160" y="1504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99920" y="1846800"/>
            <a:ext cx="4382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ませ、機能単位に分割したサンプルアプリ集を作成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799920" y="22374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単機能のコードを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32416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496960" y="223740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に読ませて、簡単なアプリを作成し、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72760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99920" y="25804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で機能を追加したりバグ取りを⾏う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799920" y="296172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23372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995840" y="296172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35944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3121200" y="296172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841200" y="2970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アプリを同時実装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799920" y="33138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90720" y="3304800"/>
            <a:ext cx="744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Expo Go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734840" y="3313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を利⽤、現時点では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449520" y="330480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618840" y="3790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809160" y="33138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アプリのみ公開）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799920" y="3704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514600" y="36954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793240" y="37044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99920" y="4047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33520" y="45140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25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"/>
          <p:cNvSpPr txBox="1"/>
          <p:nvPr/>
        </p:nvSpPr>
        <p:spPr>
          <a:xfrm>
            <a:off x="914400" y="450504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533160" y="139032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533160" y="5114880"/>
            <a:ext cx="11125440" cy="914760"/>
          </a:xfrm>
          <a:custGeom>
            <a:avLst/>
            <a:gdLst/>
            <a:ahLst/>
            <a:rect l="0" t="0" r="r" b="b"/>
            <a:pathLst>
              <a:path w="30904" h="2541">
                <a:moveTo>
                  <a:pt x="0" y="238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0746" y="0"/>
                </a:lnTo>
                <a:cubicBezTo>
                  <a:pt x="30756" y="0"/>
                  <a:pt x="30766" y="1"/>
                  <a:pt x="30777" y="3"/>
                </a:cubicBezTo>
                <a:cubicBezTo>
                  <a:pt x="30787" y="5"/>
                  <a:pt x="30797" y="8"/>
                  <a:pt x="30806" y="12"/>
                </a:cubicBezTo>
                <a:cubicBezTo>
                  <a:pt x="30816" y="16"/>
                  <a:pt x="30825" y="21"/>
                  <a:pt x="30834" y="26"/>
                </a:cubicBezTo>
                <a:cubicBezTo>
                  <a:pt x="30843" y="32"/>
                  <a:pt x="30851" y="39"/>
                  <a:pt x="30858" y="46"/>
                </a:cubicBezTo>
                <a:cubicBezTo>
                  <a:pt x="30865" y="53"/>
                  <a:pt x="30872" y="62"/>
                  <a:pt x="30878" y="70"/>
                </a:cubicBezTo>
                <a:cubicBezTo>
                  <a:pt x="30884" y="79"/>
                  <a:pt x="30888" y="88"/>
                  <a:pt x="30892" y="98"/>
                </a:cubicBezTo>
                <a:cubicBezTo>
                  <a:pt x="30896" y="107"/>
                  <a:pt x="30899" y="117"/>
                  <a:pt x="30901" y="127"/>
                </a:cubicBezTo>
                <a:cubicBezTo>
                  <a:pt x="30903" y="138"/>
                  <a:pt x="30904" y="148"/>
                  <a:pt x="30904" y="158"/>
                </a:cubicBezTo>
                <a:lnTo>
                  <a:pt x="30904" y="2382"/>
                </a:lnTo>
                <a:cubicBezTo>
                  <a:pt x="30904" y="2392"/>
                  <a:pt x="30903" y="2403"/>
                  <a:pt x="30901" y="2413"/>
                </a:cubicBezTo>
                <a:cubicBezTo>
                  <a:pt x="30899" y="2423"/>
                  <a:pt x="30896" y="2433"/>
                  <a:pt x="30892" y="2443"/>
                </a:cubicBezTo>
                <a:cubicBezTo>
                  <a:pt x="30888" y="2452"/>
                  <a:pt x="30884" y="2461"/>
                  <a:pt x="30878" y="2470"/>
                </a:cubicBezTo>
                <a:cubicBezTo>
                  <a:pt x="30872" y="2479"/>
                  <a:pt x="30865" y="2487"/>
                  <a:pt x="30858" y="2494"/>
                </a:cubicBezTo>
                <a:cubicBezTo>
                  <a:pt x="30851" y="2501"/>
                  <a:pt x="30843" y="2508"/>
                  <a:pt x="30834" y="2514"/>
                </a:cubicBezTo>
                <a:cubicBezTo>
                  <a:pt x="30825" y="2520"/>
                  <a:pt x="30816" y="2525"/>
                  <a:pt x="30806" y="2529"/>
                </a:cubicBezTo>
                <a:cubicBezTo>
                  <a:pt x="30797" y="2533"/>
                  <a:pt x="30787" y="2536"/>
                  <a:pt x="30777" y="2538"/>
                </a:cubicBezTo>
                <a:cubicBezTo>
                  <a:pt x="30766" y="2540"/>
                  <a:pt x="30756" y="2541"/>
                  <a:pt x="30746" y="2541"/>
                </a:cubicBezTo>
                <a:lnTo>
                  <a:pt x="159" y="2541"/>
                </a:lnTo>
                <a:cubicBezTo>
                  <a:pt x="148" y="2541"/>
                  <a:pt x="138" y="2540"/>
                  <a:pt x="128" y="2538"/>
                </a:cubicBezTo>
                <a:cubicBezTo>
                  <a:pt x="118" y="2536"/>
                  <a:pt x="108" y="2533"/>
                  <a:pt x="98" y="2529"/>
                </a:cubicBezTo>
                <a:cubicBezTo>
                  <a:pt x="89" y="2525"/>
                  <a:pt x="79" y="2520"/>
                  <a:pt x="71" y="2514"/>
                </a:cubicBezTo>
                <a:cubicBezTo>
                  <a:pt x="62" y="2508"/>
                  <a:pt x="54" y="2501"/>
                  <a:pt x="47" y="2494"/>
                </a:cubicBezTo>
                <a:cubicBezTo>
                  <a:pt x="39" y="2487"/>
                  <a:pt x="33" y="2479"/>
                  <a:pt x="27" y="2470"/>
                </a:cubicBezTo>
                <a:cubicBezTo>
                  <a:pt x="21" y="2461"/>
                  <a:pt x="16" y="2452"/>
                  <a:pt x="12" y="2443"/>
                </a:cubicBezTo>
                <a:cubicBezTo>
                  <a:pt x="8" y="2433"/>
                  <a:pt x="5" y="2423"/>
                  <a:pt x="3" y="2413"/>
                </a:cubicBezTo>
                <a:cubicBezTo>
                  <a:pt x="1" y="2403"/>
                  <a:pt x="0" y="2392"/>
                  <a:pt x="0" y="2382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33520" y="87444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気象庁データ取得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581280" y="856440"/>
            <a:ext cx="9885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4569480" y="8744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サーバー（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6463080" y="856440"/>
            <a:ext cx="16221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jma-mcp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618840" y="18000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8084520" y="87444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99920" y="17136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気象庁サイト（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127960" y="1704600"/>
            <a:ext cx="1302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bosai.jma.go.jp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430080" y="17136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）が内部で使⽤する⾮公開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99920" y="2047320"/>
            <a:ext cx="29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API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096200" y="2056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（認証不要）を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430000" y="2047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602440" y="2056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と解析し、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3555000" y="2047320"/>
            <a:ext cx="427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618840" y="2533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3"/>
                  <a:pt x="121" y="149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981960" y="2056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サーバーとして実装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244692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天気予報・警報／注意報・早期注意情報・観測ランキング・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799920" y="27900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潮位など計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752480" y="27810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618840" y="32670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7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1964520" y="27900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種のツールを提供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99920" y="3171600"/>
            <a:ext cx="9072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HTTP/SSE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706400" y="3180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087640" y="3171600"/>
            <a:ext cx="1433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jma-mcp-remote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516840" y="3180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898080" y="3171600"/>
            <a:ext cx="61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Render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4515480" y="31802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にデプロイし、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799920" y="3514320"/>
            <a:ext cx="124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Claude.ai 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034720" y="35233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版・デスクトップアプリ・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4307400" y="351432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iPhone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896720" y="3523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版からも利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799920" y="386604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⽤可能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6229080" y="2390760"/>
            <a:ext cx="5429520" cy="1276560"/>
          </a:xfrm>
          <a:custGeom>
            <a:avLst/>
            <a:gdLst/>
            <a:ahLst/>
            <a:rect l="0" t="0" r="r" b="b"/>
            <a:pathLst>
              <a:path w="15082" h="3546">
                <a:moveTo>
                  <a:pt x="0" y="3546"/>
                </a:moveTo>
                <a:lnTo>
                  <a:pt x="0" y="0"/>
                </a:lnTo>
                <a:lnTo>
                  <a:pt x="14977" y="0"/>
                </a:lnTo>
                <a:cubicBezTo>
                  <a:pt x="14991" y="0"/>
                  <a:pt x="15004" y="2"/>
                  <a:pt x="15017" y="8"/>
                </a:cubicBezTo>
                <a:cubicBezTo>
                  <a:pt x="15030" y="13"/>
                  <a:pt x="15042" y="21"/>
                  <a:pt x="15051" y="31"/>
                </a:cubicBezTo>
                <a:cubicBezTo>
                  <a:pt x="15061" y="40"/>
                  <a:pt x="15069" y="52"/>
                  <a:pt x="15074" y="65"/>
                </a:cubicBezTo>
                <a:cubicBezTo>
                  <a:pt x="15080" y="78"/>
                  <a:pt x="15082" y="91"/>
                  <a:pt x="15082" y="105"/>
                </a:cubicBezTo>
                <a:lnTo>
                  <a:pt x="15082" y="3440"/>
                </a:lnTo>
                <a:cubicBezTo>
                  <a:pt x="15082" y="3454"/>
                  <a:pt x="15080" y="3468"/>
                  <a:pt x="15074" y="3481"/>
                </a:cubicBezTo>
                <a:cubicBezTo>
                  <a:pt x="15069" y="3494"/>
                  <a:pt x="15061" y="3505"/>
                  <a:pt x="15051" y="3515"/>
                </a:cubicBezTo>
                <a:cubicBezTo>
                  <a:pt x="15042" y="3525"/>
                  <a:pt x="15030" y="3533"/>
                  <a:pt x="15017" y="3538"/>
                </a:cubicBezTo>
                <a:cubicBezTo>
                  <a:pt x="15004" y="3543"/>
                  <a:pt x="14991" y="3546"/>
                  <a:pt x="14977" y="3546"/>
                </a:cubicBezTo>
                <a:lnTo>
                  <a:pt x="0" y="3546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/>
          <p:nvPr/>
        </p:nvSpPr>
        <p:spPr>
          <a:xfrm>
            <a:off x="6210000" y="2390760"/>
            <a:ext cx="38520" cy="1276560"/>
          </a:xfrm>
          <a:custGeom>
            <a:avLst/>
            <a:gdLst/>
            <a:ahLst/>
            <a:rect l="0" t="0" r="r" b="b"/>
            <a:pathLst>
              <a:path w="107" h="3546">
                <a:moveTo>
                  <a:pt x="0" y="0"/>
                </a:moveTo>
                <a:lnTo>
                  <a:pt x="107" y="0"/>
                </a:lnTo>
                <a:lnTo>
                  <a:pt x="10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33520" y="4323960"/>
            <a:ext cx="401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https://github.com/masauehr/jma-mcp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6210360" y="16855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7437960" y="1694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へ⾃然⾔語で質問するだけで⾃動的にツールを呼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210360" y="19897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び出し、最新データを取得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6400800" y="2522160"/>
            <a:ext cx="23583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「東京の週間天気予報は？」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400800" y="2788920"/>
            <a:ext cx="29023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「沖縄への早期注意情報を教えて」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400800" y="3065040"/>
            <a:ext cx="25398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「那覇の現在の潮位を教えて」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6400800" y="3331800"/>
            <a:ext cx="34466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「今⽇の全国降⽔量ランキングを⾒せて」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704880" y="5275080"/>
            <a:ext cx="374760" cy="19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079640" y="5282640"/>
            <a:ext cx="162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241640" y="5275080"/>
            <a:ext cx="1834200" cy="19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Model Context Protocol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3076560" y="5282640"/>
            <a:ext cx="4852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）とは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562200" y="5275080"/>
            <a:ext cx="79056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Anthropic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351320" y="5282640"/>
            <a:ext cx="27468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が策定したオープン標準プロトコル。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7083000" y="5275080"/>
            <a:ext cx="1616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229880" y="5282640"/>
            <a:ext cx="162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391880" y="5275080"/>
            <a:ext cx="5122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Claude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904520" y="5282640"/>
            <a:ext cx="3554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）と外部ツール・データソースを接続する仕組み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04880" y="5520960"/>
            <a:ext cx="1131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で、これにより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831680" y="5513400"/>
            <a:ext cx="1616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1978560" y="5520960"/>
            <a:ext cx="6785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が学習データにない最新情報やローカル環境の情報をリアルタイムに取得できるようになる。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9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542880" y="43527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2190600" y="43527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3352680" y="43527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542880" y="5114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2190600" y="5114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3352680" y="5114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5331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533160" y="3962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218088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2190600" y="3962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33429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3352680" y="3962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473364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533160" y="4343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2190600" y="4343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3352680" y="4343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5331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18088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33429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473364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5331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533160" y="47242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218088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2190600" y="47242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33429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3352680" y="47242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473364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533160" y="5105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218088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2190600" y="5105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33429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3352680" y="5105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473364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533160" y="5486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2190600" y="5486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3352680" y="5486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33520" y="49356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799920" y="1332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3848040" y="13237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427176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446220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4568040" y="13327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618840" y="2152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799920" y="16754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799920" y="205704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360800" y="206604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618840" y="2885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799920" y="24087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799920" y="2799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56204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667880" y="2799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85900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618840" y="361944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5"/>
                </a:cubicBezTo>
                <a:cubicBezTo>
                  <a:pt x="16" y="128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799920" y="31424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799920" y="353268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1181160" y="352404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1551960" y="35326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3456720" y="352404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4113000" y="353268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666720" y="40644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2317680" y="405648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50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2680200" y="405648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04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3477240" y="405648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438552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556880" y="40564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666720" y="443736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317680" y="443736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477240" y="443736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666720" y="481824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2317680" y="48182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477240" y="48182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66720" y="519948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1162080" y="52074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2317680" y="519948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477240" y="51994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33520" y="567612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723960" y="566712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776880" y="56761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386960" y="566712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495" name=""/>
          <p:cNvPicPr/>
          <p:nvPr/>
        </p:nvPicPr>
        <p:blipFill>
          <a:blip r:embed="rId1"/>
          <a:stretch/>
        </p:blipFill>
        <p:spPr>
          <a:xfrm>
            <a:off x="7496280" y="600120"/>
            <a:ext cx="2876040" cy="285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"/>
          <p:cNvPicPr/>
          <p:nvPr/>
        </p:nvPicPr>
        <p:blipFill>
          <a:blip r:embed="rId2"/>
          <a:stretch/>
        </p:blipFill>
        <p:spPr>
          <a:xfrm>
            <a:off x="6486480" y="3533760"/>
            <a:ext cx="4895640" cy="285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"/>
          <p:cNvSpPr txBox="1"/>
          <p:nvPr/>
        </p:nvSpPr>
        <p:spPr>
          <a:xfrm>
            <a:off x="533520" y="5971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751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2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8097480" y="1531440"/>
            <a:ext cx="325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22" name=""/>
          <p:cNvPicPr/>
          <p:nvPr/>
        </p:nvPicPr>
        <p:blipFill>
          <a:blip r:embed="rId1"/>
          <a:stretch/>
        </p:blipFill>
        <p:spPr>
          <a:xfrm>
            <a:off x="7296120" y="1905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3" name=""/>
          <p:cNvSpPr txBox="1"/>
          <p:nvPr/>
        </p:nvSpPr>
        <p:spPr>
          <a:xfrm>
            <a:off x="8422200" y="1538640"/>
            <a:ext cx="24390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（全天⽇射量）の予測と実測の検証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8180640" y="3550680"/>
            <a:ext cx="31140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25" name=""/>
          <p:cNvPicPr/>
          <p:nvPr/>
        </p:nvPicPr>
        <p:blipFill>
          <a:blip r:embed="rId2"/>
          <a:stretch/>
        </p:blipFill>
        <p:spPr>
          <a:xfrm>
            <a:off x="7296120" y="392436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"/>
          <p:cNvSpPr txBox="1"/>
          <p:nvPr/>
        </p:nvSpPr>
        <p:spPr>
          <a:xfrm>
            <a:off x="8491680" y="3557880"/>
            <a:ext cx="228672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（⽇照時間）の予測と実測の検証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4577040" y="13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799920" y="1742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2239560" y="21326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799920" y="2475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906120" y="2865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799920" y="32090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/>
          <p:nvPr/>
        </p:nvSpPr>
        <p:spPr>
          <a:xfrm>
            <a:off x="5124240" y="260028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/>
          <p:nvPr/>
        </p:nvSpPr>
        <p:spPr>
          <a:xfrm>
            <a:off x="5933880" y="260028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/>
          <p:nvPr/>
        </p:nvSpPr>
        <p:spPr>
          <a:xfrm>
            <a:off x="7134120" y="260028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/>
          <p:nvPr/>
        </p:nvSpPr>
        <p:spPr>
          <a:xfrm>
            <a:off x="10848960" y="260028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/>
          <p:nvPr/>
        </p:nvSpPr>
        <p:spPr>
          <a:xfrm>
            <a:off x="5124240" y="387648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/>
          <p:nvPr/>
        </p:nvSpPr>
        <p:spPr>
          <a:xfrm>
            <a:off x="5933880" y="387648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/>
          <p:nvPr/>
        </p:nvSpPr>
        <p:spPr>
          <a:xfrm>
            <a:off x="7134120" y="387648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/>
          <p:nvPr/>
        </p:nvSpPr>
        <p:spPr>
          <a:xfrm>
            <a:off x="10848960" y="387648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/>
          <p:nvPr/>
        </p:nvSpPr>
        <p:spPr>
          <a:xfrm>
            <a:off x="512424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/>
          <p:nvPr/>
        </p:nvSpPr>
        <p:spPr>
          <a:xfrm>
            <a:off x="5124240" y="19522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/>
          <p:nvPr/>
        </p:nvSpPr>
        <p:spPr>
          <a:xfrm>
            <a:off x="59245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/>
          <p:nvPr/>
        </p:nvSpPr>
        <p:spPr>
          <a:xfrm>
            <a:off x="5933880" y="19522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/>
          <p:nvPr/>
        </p:nvSpPr>
        <p:spPr>
          <a:xfrm>
            <a:off x="71244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/>
          <p:nvPr/>
        </p:nvSpPr>
        <p:spPr>
          <a:xfrm>
            <a:off x="7134120" y="195228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/>
          <p:nvPr/>
        </p:nvSpPr>
        <p:spPr>
          <a:xfrm>
            <a:off x="1083924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/>
          <p:nvPr/>
        </p:nvSpPr>
        <p:spPr>
          <a:xfrm>
            <a:off x="10848960" y="195228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/>
          <p:nvPr/>
        </p:nvSpPr>
        <p:spPr>
          <a:xfrm>
            <a:off x="5124240" y="259056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/>
          <p:nvPr/>
        </p:nvSpPr>
        <p:spPr>
          <a:xfrm>
            <a:off x="5933880" y="2590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/>
          <p:nvPr/>
        </p:nvSpPr>
        <p:spPr>
          <a:xfrm>
            <a:off x="7134120" y="25905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10848960" y="259056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/>
          <p:nvPr/>
        </p:nvSpPr>
        <p:spPr>
          <a:xfrm>
            <a:off x="512424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59245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71244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/>
          <p:nvPr/>
        </p:nvSpPr>
        <p:spPr>
          <a:xfrm>
            <a:off x="1083924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/>
          <p:nvPr/>
        </p:nvSpPr>
        <p:spPr>
          <a:xfrm>
            <a:off x="512424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/>
          <p:nvPr/>
        </p:nvSpPr>
        <p:spPr>
          <a:xfrm>
            <a:off x="5124240" y="322884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/>
          <p:nvPr/>
        </p:nvSpPr>
        <p:spPr>
          <a:xfrm>
            <a:off x="59245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/>
          <p:nvPr/>
        </p:nvSpPr>
        <p:spPr>
          <a:xfrm>
            <a:off x="5933880" y="32288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/>
          <p:nvPr/>
        </p:nvSpPr>
        <p:spPr>
          <a:xfrm>
            <a:off x="71244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/>
          <p:nvPr/>
        </p:nvSpPr>
        <p:spPr>
          <a:xfrm>
            <a:off x="7134120" y="32288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/>
          <p:nvPr/>
        </p:nvSpPr>
        <p:spPr>
          <a:xfrm>
            <a:off x="1083924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/>
          <p:nvPr/>
        </p:nvSpPr>
        <p:spPr>
          <a:xfrm>
            <a:off x="10848960" y="322884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/>
          <p:nvPr/>
        </p:nvSpPr>
        <p:spPr>
          <a:xfrm>
            <a:off x="512424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/>
          <p:nvPr/>
        </p:nvSpPr>
        <p:spPr>
          <a:xfrm>
            <a:off x="5124240" y="38671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/>
          <p:nvPr/>
        </p:nvSpPr>
        <p:spPr>
          <a:xfrm>
            <a:off x="59245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/>
          <p:nvPr/>
        </p:nvSpPr>
        <p:spPr>
          <a:xfrm>
            <a:off x="5933880" y="3867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3" name=""/>
          <p:cNvSpPr/>
          <p:nvPr/>
        </p:nvSpPr>
        <p:spPr>
          <a:xfrm>
            <a:off x="71244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4" name=""/>
          <p:cNvSpPr/>
          <p:nvPr/>
        </p:nvSpPr>
        <p:spPr>
          <a:xfrm>
            <a:off x="7134120" y="38671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5" name=""/>
          <p:cNvSpPr/>
          <p:nvPr/>
        </p:nvSpPr>
        <p:spPr>
          <a:xfrm>
            <a:off x="1083924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6" name=""/>
          <p:cNvSpPr/>
          <p:nvPr/>
        </p:nvSpPr>
        <p:spPr>
          <a:xfrm>
            <a:off x="10848960" y="38671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7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8" name=""/>
          <p:cNvSpPr/>
          <p:nvPr/>
        </p:nvSpPr>
        <p:spPr>
          <a:xfrm>
            <a:off x="512424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9" name=""/>
          <p:cNvSpPr/>
          <p:nvPr/>
        </p:nvSpPr>
        <p:spPr>
          <a:xfrm>
            <a:off x="5124240" y="4505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0" name=""/>
          <p:cNvSpPr/>
          <p:nvPr/>
        </p:nvSpPr>
        <p:spPr>
          <a:xfrm>
            <a:off x="59245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1" name=""/>
          <p:cNvSpPr/>
          <p:nvPr/>
        </p:nvSpPr>
        <p:spPr>
          <a:xfrm>
            <a:off x="5933880" y="45050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2" name=""/>
          <p:cNvSpPr/>
          <p:nvPr/>
        </p:nvSpPr>
        <p:spPr>
          <a:xfrm>
            <a:off x="71244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3" name=""/>
          <p:cNvSpPr/>
          <p:nvPr/>
        </p:nvSpPr>
        <p:spPr>
          <a:xfrm>
            <a:off x="7134120" y="450504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4" name=""/>
          <p:cNvSpPr/>
          <p:nvPr/>
        </p:nvSpPr>
        <p:spPr>
          <a:xfrm>
            <a:off x="1083924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5" name=""/>
          <p:cNvSpPr/>
          <p:nvPr/>
        </p:nvSpPr>
        <p:spPr>
          <a:xfrm>
            <a:off x="10848960" y="450504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6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7" name=""/>
          <p:cNvSpPr/>
          <p:nvPr/>
        </p:nvSpPr>
        <p:spPr>
          <a:xfrm>
            <a:off x="5124240" y="5143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8" name=""/>
          <p:cNvSpPr/>
          <p:nvPr/>
        </p:nvSpPr>
        <p:spPr>
          <a:xfrm>
            <a:off x="5933880" y="51433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9" name=""/>
          <p:cNvSpPr/>
          <p:nvPr/>
        </p:nvSpPr>
        <p:spPr>
          <a:xfrm>
            <a:off x="7134120" y="51433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0" name=""/>
          <p:cNvSpPr/>
          <p:nvPr/>
        </p:nvSpPr>
        <p:spPr>
          <a:xfrm>
            <a:off x="10848960" y="51433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512064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525384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525384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605808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726192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1097352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1097352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525384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0580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622944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605808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726192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735696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787140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822996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840168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9173160" y="2692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9516240" y="2684880"/>
            <a:ext cx="55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100684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7261920" y="2941920"/>
            <a:ext cx="117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GSR_5day_avg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844272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8614440" y="2941920"/>
            <a:ext cx="118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GSR_5day_ago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980820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1097352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25384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05808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605808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624888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642024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7261920" y="3456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7356960" y="3464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7871400" y="3456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82299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8401680" y="3456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91857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9357120" y="345636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10176480" y="3464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1097352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1097352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25384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605808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605808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624888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7261920" y="40942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7356960" y="4102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7871400" y="40942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823680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8408160" y="40942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923328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9405000" y="409428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975456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1097352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1097352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525384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05808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605808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624888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7261920" y="47325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735696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7871400" y="47325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82299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8401680" y="47325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91857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9357120" y="47325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969984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1097352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1097352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512064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816876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930492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949536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030032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09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10" name=""/>
          <p:cNvSpPr/>
          <p:nvPr/>
        </p:nvSpPr>
        <p:spPr>
          <a:xfrm>
            <a:off x="618840" y="1618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4" y="25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7"/>
                </a:cubicBezTo>
                <a:cubicBezTo>
                  <a:pt x="121" y="11"/>
                  <a:pt x="129" y="17"/>
                  <a:pt x="137" y="25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33520" y="693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799920" y="15325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このプレゼンも、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2324160" y="1523520"/>
            <a:ext cx="79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Marp CLI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3114360" y="15325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というツールを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4442400" y="1523520"/>
            <a:ext cx="111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5560560" y="1532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7" name=""/>
          <p:cNvSpPr/>
          <p:nvPr/>
        </p:nvSpPr>
        <p:spPr>
          <a:xfrm>
            <a:off x="618840" y="23526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799920" y="18756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いながら⾃動作成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99920" y="22658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2699280" y="225720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3302640" y="226584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で成果をみえる化し、運⽤しな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2" name=""/>
          <p:cNvSpPr/>
          <p:nvPr/>
        </p:nvSpPr>
        <p:spPr>
          <a:xfrm>
            <a:off x="618840" y="3085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99920" y="260892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799920" y="299952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電⼒データ分析、太陽光発電予測を毎⽇実⾏、天気図⽣成、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799920" y="334224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1556280" y="333324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7" name=""/>
          <p:cNvSpPr/>
          <p:nvPr/>
        </p:nvSpPr>
        <p:spPr>
          <a:xfrm>
            <a:off x="618840" y="3819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1934280" y="33422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、ネット情報まとめなどテーマを拡張中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799920" y="373284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課題：職場では源内利⽤開始したが、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4038480" y="37238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4211280" y="373284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エージェントはまだ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2" name=""/>
          <p:cNvSpPr/>
          <p:nvPr/>
        </p:nvSpPr>
        <p:spPr>
          <a:xfrm>
            <a:off x="618840" y="45529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799920" y="407592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使えない。⾮効率なチャット開発に逆戻り。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799920" y="4466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趣味：当⾯は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1942920" y="4457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2115720" y="44661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エージェントで何でも⾃動化し腕を磨く。た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7" name=""/>
          <p:cNvSpPr/>
          <p:nvPr/>
        </p:nvSpPr>
        <p:spPr>
          <a:xfrm>
            <a:off x="885600" y="5238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3" y="129"/>
                  <a:pt x="136" y="136"/>
                </a:cubicBezTo>
                <a:cubicBezTo>
                  <a:pt x="128" y="144"/>
                  <a:pt x="120" y="149"/>
                  <a:pt x="110" y="153"/>
                </a:cubicBezTo>
                <a:cubicBezTo>
                  <a:pt x="100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5"/>
                  <a:pt x="136" y="23"/>
                </a:cubicBezTo>
                <a:cubicBezTo>
                  <a:pt x="143" y="30"/>
                  <a:pt x="150" y="39"/>
                  <a:pt x="154" y="49"/>
                </a:cubicBezTo>
                <a:cubicBezTo>
                  <a:pt x="158" y="58"/>
                  <a:pt x="160" y="69"/>
                  <a:pt x="160" y="80"/>
                </a:cubicBezTo>
                <a:close/>
              </a:path>
            </a:pathLst>
          </a:custGeom>
          <a:noFill/>
          <a:ln w="9360">
            <a:solidFill>
              <a:srgbClr val="FFFFFF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799920" y="480924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だし趣味の範囲。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1066680" y="51519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撮影した地⾐類（藻類と菌類の共⽣体）画像の⾃動分類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140" name=""/>
          <p:cNvPicPr/>
          <p:nvPr/>
        </p:nvPicPr>
        <p:blipFill>
          <a:blip r:embed="rId1"/>
          <a:stretch/>
        </p:blipFill>
        <p:spPr>
          <a:xfrm>
            <a:off x="7029360" y="1467000"/>
            <a:ext cx="3809520" cy="138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1" name=""/>
          <p:cNvPicPr/>
          <p:nvPr/>
        </p:nvPicPr>
        <p:blipFill>
          <a:blip r:embed="rId2"/>
          <a:stretch/>
        </p:blipFill>
        <p:spPr>
          <a:xfrm>
            <a:off x="6972120" y="3076560"/>
            <a:ext cx="119988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2" name=""/>
          <p:cNvPicPr/>
          <p:nvPr/>
        </p:nvPicPr>
        <p:blipFill>
          <a:blip r:embed="rId3"/>
          <a:stretch/>
        </p:blipFill>
        <p:spPr>
          <a:xfrm>
            <a:off x="8267760" y="3076560"/>
            <a:ext cx="115200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3" name=""/>
          <p:cNvPicPr/>
          <p:nvPr/>
        </p:nvPicPr>
        <p:blipFill>
          <a:blip r:embed="rId4"/>
          <a:stretch/>
        </p:blipFill>
        <p:spPr>
          <a:xfrm>
            <a:off x="9515520" y="3076560"/>
            <a:ext cx="138060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4" name=""/>
          <p:cNvSpPr txBox="1"/>
          <p:nvPr/>
        </p:nvSpPr>
        <p:spPr>
          <a:xfrm>
            <a:off x="1066680" y="54950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533520" y="59616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