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1048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03840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03840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5886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5706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58860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5706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5141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58860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427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4277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4277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4187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904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4277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8093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8183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80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8093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618840" y="2295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818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9920" y="2208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7050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75796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48400" y="21999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657960" y="22089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038840" y="21999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56480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7552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/>
          <p:nvPr/>
        </p:nvSpPr>
        <p:spPr>
          <a:xfrm>
            <a:off x="618840" y="2695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808160" y="2208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9920" y="260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562040" y="25999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82700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017440" y="25999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07036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260800" y="25999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864160" y="26089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3960" y="31698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699800" y="31615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257120" y="3638520"/>
            <a:ext cx="3999960" cy="24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5058720" y="31698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210360" y="36763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295680" y="42382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30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437960" y="36853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の具体的な使い⽅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77120" y="41518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071720" y="414288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154960" y="41518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77120" y="448596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9040" y="4494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121240" y="4485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/>
          <p:nvPr/>
        </p:nvSpPr>
        <p:spPr>
          <a:xfrm>
            <a:off x="6295680" y="4971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294040" y="4494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77120" y="48852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381880" y="4876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554680" y="4885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26360" y="48765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6295680" y="5362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1" y="40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5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715680" y="4885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77120" y="527580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67640" y="3027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農研機構メッシュ農業気象データシステム（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056640" y="3018960"/>
            <a:ext cx="8157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AMGSDS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87168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0621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19640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139032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533160" y="5114880"/>
            <a:ext cx="11125440" cy="914760"/>
          </a:xfrm>
          <a:custGeom>
            <a:avLst/>
            <a:gdLst/>
            <a:ahLst/>
            <a:rect l="0" t="0" r="r" b="b"/>
            <a:pathLst>
              <a:path w="30904" h="2541">
                <a:moveTo>
                  <a:pt x="0" y="23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0746" y="0"/>
                </a:lnTo>
                <a:cubicBezTo>
                  <a:pt x="30756" y="0"/>
                  <a:pt x="30766" y="1"/>
                  <a:pt x="30777" y="3"/>
                </a:cubicBezTo>
                <a:cubicBezTo>
                  <a:pt x="30787" y="5"/>
                  <a:pt x="30797" y="8"/>
                  <a:pt x="30806" y="12"/>
                </a:cubicBezTo>
                <a:cubicBezTo>
                  <a:pt x="30816" y="16"/>
                  <a:pt x="30825" y="21"/>
                  <a:pt x="30834" y="26"/>
                </a:cubicBezTo>
                <a:cubicBezTo>
                  <a:pt x="30843" y="32"/>
                  <a:pt x="30851" y="39"/>
                  <a:pt x="30858" y="46"/>
                </a:cubicBezTo>
                <a:cubicBezTo>
                  <a:pt x="30865" y="53"/>
                  <a:pt x="30872" y="62"/>
                  <a:pt x="30878" y="70"/>
                </a:cubicBezTo>
                <a:cubicBezTo>
                  <a:pt x="30884" y="79"/>
                  <a:pt x="30888" y="88"/>
                  <a:pt x="30892" y="98"/>
                </a:cubicBezTo>
                <a:cubicBezTo>
                  <a:pt x="30896" y="107"/>
                  <a:pt x="30899" y="117"/>
                  <a:pt x="30901" y="127"/>
                </a:cubicBezTo>
                <a:cubicBezTo>
                  <a:pt x="30903" y="138"/>
                  <a:pt x="30904" y="148"/>
                  <a:pt x="30904" y="158"/>
                </a:cubicBezTo>
                <a:lnTo>
                  <a:pt x="30904" y="2382"/>
                </a:lnTo>
                <a:cubicBezTo>
                  <a:pt x="30904" y="2392"/>
                  <a:pt x="30903" y="2403"/>
                  <a:pt x="30901" y="2413"/>
                </a:cubicBezTo>
                <a:cubicBezTo>
                  <a:pt x="30899" y="2423"/>
                  <a:pt x="30896" y="2433"/>
                  <a:pt x="30892" y="2443"/>
                </a:cubicBezTo>
                <a:cubicBezTo>
                  <a:pt x="30888" y="2452"/>
                  <a:pt x="30884" y="2461"/>
                  <a:pt x="30878" y="2470"/>
                </a:cubicBezTo>
                <a:cubicBezTo>
                  <a:pt x="30872" y="2479"/>
                  <a:pt x="30865" y="2487"/>
                  <a:pt x="30858" y="2494"/>
                </a:cubicBezTo>
                <a:cubicBezTo>
                  <a:pt x="30851" y="2501"/>
                  <a:pt x="30843" y="2508"/>
                  <a:pt x="30834" y="2514"/>
                </a:cubicBezTo>
                <a:cubicBezTo>
                  <a:pt x="30825" y="2520"/>
                  <a:pt x="30816" y="2525"/>
                  <a:pt x="30806" y="2529"/>
                </a:cubicBezTo>
                <a:cubicBezTo>
                  <a:pt x="30797" y="2533"/>
                  <a:pt x="30787" y="2536"/>
                  <a:pt x="30777" y="2538"/>
                </a:cubicBezTo>
                <a:cubicBezTo>
                  <a:pt x="30766" y="2540"/>
                  <a:pt x="30756" y="2541"/>
                  <a:pt x="30746" y="2541"/>
                </a:cubicBezTo>
                <a:lnTo>
                  <a:pt x="159" y="2541"/>
                </a:lnTo>
                <a:cubicBezTo>
                  <a:pt x="148" y="2541"/>
                  <a:pt x="138" y="2540"/>
                  <a:pt x="128" y="2538"/>
                </a:cubicBezTo>
                <a:cubicBezTo>
                  <a:pt x="118" y="2536"/>
                  <a:pt x="108" y="2533"/>
                  <a:pt x="98" y="2529"/>
                </a:cubicBezTo>
                <a:cubicBezTo>
                  <a:pt x="89" y="2525"/>
                  <a:pt x="79" y="2520"/>
                  <a:pt x="71" y="2514"/>
                </a:cubicBezTo>
                <a:cubicBezTo>
                  <a:pt x="62" y="2508"/>
                  <a:pt x="54" y="2501"/>
                  <a:pt x="47" y="2494"/>
                </a:cubicBezTo>
                <a:cubicBezTo>
                  <a:pt x="39" y="2487"/>
                  <a:pt x="33" y="2479"/>
                  <a:pt x="27" y="2470"/>
                </a:cubicBezTo>
                <a:cubicBezTo>
                  <a:pt x="21" y="2461"/>
                  <a:pt x="16" y="2452"/>
                  <a:pt x="12" y="2443"/>
                </a:cubicBezTo>
                <a:cubicBezTo>
                  <a:pt x="8" y="2433"/>
                  <a:pt x="5" y="2423"/>
                  <a:pt x="3" y="2413"/>
                </a:cubicBezTo>
                <a:cubicBezTo>
                  <a:pt x="1" y="2403"/>
                  <a:pt x="0" y="2392"/>
                  <a:pt x="0" y="2382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33520" y="87444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気象庁データ取得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81280" y="856440"/>
            <a:ext cx="9885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569480" y="8744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サーバー（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463080" y="856440"/>
            <a:ext cx="16221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jma-mcp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618840" y="18000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084520" y="87444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99920" y="17136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気象庁サイト（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127960" y="1704600"/>
            <a:ext cx="1302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bosai.jma.go.jp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430080" y="17136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）が内部で使⽤する⾮公開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2047320"/>
            <a:ext cx="29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96200" y="2056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（認証不要）を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430000" y="2047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602440" y="2056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と解析し、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555000" y="2047320"/>
            <a:ext cx="427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533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981960" y="2056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サーバーとして実装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4469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天気予報・警報／注意報・早期注意情報・観測ランキング・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99920" y="27900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潮位など計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752480" y="27810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32670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7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964520" y="27900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種のツールを提供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3171600"/>
            <a:ext cx="907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HTTP/SSE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70640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087640" y="3171600"/>
            <a:ext cx="1433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jma-mcp-remote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51684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898080" y="3171600"/>
            <a:ext cx="61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15480" y="3180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にデプロイし、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9920" y="3514320"/>
            <a:ext cx="124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Claude.ai 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034720" y="35233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版・デスクトップアプリ・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307400" y="351432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iPhone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896720" y="3523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版からも利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8660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⽤可能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6229080" y="2390760"/>
            <a:ext cx="5429520" cy="1276560"/>
          </a:xfrm>
          <a:custGeom>
            <a:avLst/>
            <a:gdLst/>
            <a:ahLst/>
            <a:rect l="0" t="0" r="r" b="b"/>
            <a:pathLst>
              <a:path w="15082" h="3546">
                <a:moveTo>
                  <a:pt x="0" y="3546"/>
                </a:moveTo>
                <a:lnTo>
                  <a:pt x="0" y="0"/>
                </a:lnTo>
                <a:lnTo>
                  <a:pt x="14977" y="0"/>
                </a:lnTo>
                <a:cubicBezTo>
                  <a:pt x="14991" y="0"/>
                  <a:pt x="15004" y="2"/>
                  <a:pt x="15017" y="8"/>
                </a:cubicBezTo>
                <a:cubicBezTo>
                  <a:pt x="15030" y="13"/>
                  <a:pt x="15042" y="21"/>
                  <a:pt x="15051" y="31"/>
                </a:cubicBezTo>
                <a:cubicBezTo>
                  <a:pt x="15061" y="40"/>
                  <a:pt x="15069" y="52"/>
                  <a:pt x="15074" y="65"/>
                </a:cubicBezTo>
                <a:cubicBezTo>
                  <a:pt x="15080" y="78"/>
                  <a:pt x="15082" y="91"/>
                  <a:pt x="15082" y="105"/>
                </a:cubicBezTo>
                <a:lnTo>
                  <a:pt x="15082" y="3440"/>
                </a:lnTo>
                <a:cubicBezTo>
                  <a:pt x="15082" y="3454"/>
                  <a:pt x="15080" y="3468"/>
                  <a:pt x="15074" y="3481"/>
                </a:cubicBezTo>
                <a:cubicBezTo>
                  <a:pt x="15069" y="3494"/>
                  <a:pt x="15061" y="3505"/>
                  <a:pt x="15051" y="3515"/>
                </a:cubicBezTo>
                <a:cubicBezTo>
                  <a:pt x="15042" y="3525"/>
                  <a:pt x="15030" y="3533"/>
                  <a:pt x="15017" y="3538"/>
                </a:cubicBezTo>
                <a:cubicBezTo>
                  <a:pt x="15004" y="3543"/>
                  <a:pt x="14991" y="3546"/>
                  <a:pt x="14977" y="3546"/>
                </a:cubicBezTo>
                <a:lnTo>
                  <a:pt x="0" y="3546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6210000" y="2390760"/>
            <a:ext cx="38520" cy="1276560"/>
          </a:xfrm>
          <a:custGeom>
            <a:avLst/>
            <a:gdLst/>
            <a:ahLst/>
            <a:rect l="0" t="0" r="r" b="b"/>
            <a:pathLst>
              <a:path w="107" h="3546">
                <a:moveTo>
                  <a:pt x="0" y="0"/>
                </a:moveTo>
                <a:lnTo>
                  <a:pt x="107" y="0"/>
                </a:lnTo>
                <a:lnTo>
                  <a:pt x="10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33520" y="4323960"/>
            <a:ext cx="401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https://github.com/masauehr/jma-mcp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210360" y="16855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437960" y="1694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へ⾃然⾔語で質問するだけで⾃動的にツールを呼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210360" y="19897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び出し、最新データを取得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400800" y="2522160"/>
            <a:ext cx="23583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「東京の週間天気予報は？」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0800" y="2788920"/>
            <a:ext cx="290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「沖縄への早期注意情報を教えて」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400800" y="3065040"/>
            <a:ext cx="2539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「那覇の現在の潮位を教えて」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400800" y="3331800"/>
            <a:ext cx="3446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「今⽇の全国降⽔量ランキングを⾒せて」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04880" y="5275080"/>
            <a:ext cx="37476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7964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241640" y="5275080"/>
            <a:ext cx="183420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Model Context Protocol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076560" y="5282640"/>
            <a:ext cx="4852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）とは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562200" y="5275080"/>
            <a:ext cx="7905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Anthropic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351320" y="5282640"/>
            <a:ext cx="27468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が策定したオープン標準プロトコル。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083000" y="527508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22988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391880" y="5275080"/>
            <a:ext cx="5122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Claude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904520" y="5282640"/>
            <a:ext cx="3554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）と外部ツール・データソースを接続する仕組み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04880" y="5520960"/>
            <a:ext cx="1131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で、これにより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831680" y="551340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978560" y="5520960"/>
            <a:ext cx="6785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が学習データにない最新情報やローカル環境の情報をリアルタイムに取得できるようになる。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43527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190600" y="43527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352680" y="43527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42880" y="5114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190600" y="5114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352680" y="5114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533160" y="3962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8088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190600" y="3962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3429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3352680" y="3962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73364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4343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2190600" y="4343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3352680" y="4343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5331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8088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33429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73364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331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533160" y="47242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8088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190600" y="47242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3429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3352680" y="4724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73364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533160" y="5105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8088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90600" y="5105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3429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3352680" y="5105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33160" y="5486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2190600" y="5486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3352680" y="5486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33520" y="49356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99920" y="133272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農研機構メッシュ農業気象データシステム（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4589280" y="1323720"/>
            <a:ext cx="8157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AMGSDS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540396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55947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570060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61884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99920" y="16754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99920" y="205704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360800" y="206604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799920" y="2408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799920" y="2799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562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667880" y="2799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85900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618840" y="36194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99920" y="31424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99920" y="35326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81160" y="352404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551960" y="35326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456720" y="352404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113000" y="353268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66720" y="4064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317680" y="40564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50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680200" y="40564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04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477240" y="40564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438552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556880" y="40564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666720" y="443736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317680" y="443736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477240" y="443736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66720" y="481824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317680" y="48182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477240" y="48182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6720" y="51994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162080" y="52074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317680" y="51994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477240" y="51994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567612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23960" y="566712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76880" y="56761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6960" y="566712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95" name=""/>
          <p:cNvPicPr/>
          <p:nvPr/>
        </p:nvPicPr>
        <p:blipFill>
          <a:blip r:embed="rId1"/>
          <a:stretch/>
        </p:blipFill>
        <p:spPr>
          <a:xfrm>
            <a:off x="7496280" y="600120"/>
            <a:ext cx="2876040" cy="285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"/>
          <p:cNvPicPr/>
          <p:nvPr/>
        </p:nvPicPr>
        <p:blipFill>
          <a:blip r:embed="rId2"/>
          <a:stretch/>
        </p:blipFill>
        <p:spPr>
          <a:xfrm>
            <a:off x="6486480" y="3533760"/>
            <a:ext cx="4895640" cy="28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"/>
          <p:cNvSpPr txBox="1"/>
          <p:nvPr/>
        </p:nvSpPr>
        <p:spPr>
          <a:xfrm>
            <a:off x="533520" y="5971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33520" y="130392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農研機構メッシュ農業気象データシステム（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4322520" y="1294920"/>
            <a:ext cx="8157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AMGSDS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513756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533520" y="158076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93204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1122480" y="158076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1584360" y="15897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234648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2727360" y="15897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533520" y="18756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914400" y="186660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1295640" y="18756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676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298944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751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2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8097480" y="1531440"/>
            <a:ext cx="3254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2" name=""/>
          <p:cNvPicPr/>
          <p:nvPr/>
        </p:nvPicPr>
        <p:blipFill>
          <a:blip r:embed="rId1"/>
          <a:stretch/>
        </p:blipFill>
        <p:spPr>
          <a:xfrm>
            <a:off x="7296120" y="1905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3" name=""/>
          <p:cNvSpPr txBox="1"/>
          <p:nvPr/>
        </p:nvSpPr>
        <p:spPr>
          <a:xfrm>
            <a:off x="8422200" y="1538640"/>
            <a:ext cx="24390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（全天⽇射量）の予測と実測の検証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180640" y="3550680"/>
            <a:ext cx="31140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5" name=""/>
          <p:cNvPicPr/>
          <p:nvPr/>
        </p:nvPicPr>
        <p:blipFill>
          <a:blip r:embed="rId2"/>
          <a:stretch/>
        </p:blipFill>
        <p:spPr>
          <a:xfrm>
            <a:off x="7296120" y="392436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"/>
          <p:cNvSpPr txBox="1"/>
          <p:nvPr/>
        </p:nvSpPr>
        <p:spPr>
          <a:xfrm>
            <a:off x="8491680" y="3557880"/>
            <a:ext cx="228672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（⽇照時間）の予測と実測の検証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/>
          <p:nvPr/>
        </p:nvSpPr>
        <p:spPr>
          <a:xfrm>
            <a:off x="618840" y="1618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4" y="25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1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33520" y="693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799920" y="15325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2324160" y="152352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3114360" y="15325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442400" y="152352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560560" y="1532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/>
          <p:nvPr/>
        </p:nvSpPr>
        <p:spPr>
          <a:xfrm>
            <a:off x="618840" y="23526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99920" y="18756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99920" y="22658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2699280" y="225720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3302640" y="226584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2" name=""/>
          <p:cNvSpPr/>
          <p:nvPr/>
        </p:nvSpPr>
        <p:spPr>
          <a:xfrm>
            <a:off x="618840" y="3085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99920" y="260892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799920" y="29995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799920" y="334224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1556280" y="3333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7" name=""/>
          <p:cNvSpPr/>
          <p:nvPr/>
        </p:nvSpPr>
        <p:spPr>
          <a:xfrm>
            <a:off x="618840" y="3819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934280" y="3342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799920" y="3732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4038480" y="3723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4211280" y="373284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2" name=""/>
          <p:cNvSpPr/>
          <p:nvPr/>
        </p:nvSpPr>
        <p:spPr>
          <a:xfrm>
            <a:off x="618840" y="45529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799920" y="407592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799920" y="4466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942920" y="4457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2115720" y="44661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7" name=""/>
          <p:cNvSpPr/>
          <p:nvPr/>
        </p:nvSpPr>
        <p:spPr>
          <a:xfrm>
            <a:off x="885600" y="5238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20" y="149"/>
                  <a:pt x="110" y="153"/>
                </a:cubicBezTo>
                <a:cubicBezTo>
                  <a:pt x="100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5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noFill/>
          <a:ln w="9360">
            <a:solidFill>
              <a:srgbClr val="FFFFFF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799920" y="48092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1066680" y="51519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撮影した地⾐類（藻類と菌類の共⽣体）画像の⾃動分類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140" name=""/>
          <p:cNvPicPr/>
          <p:nvPr/>
        </p:nvPicPr>
        <p:blipFill>
          <a:blip r:embed="rId1"/>
          <a:stretch/>
        </p:blipFill>
        <p:spPr>
          <a:xfrm>
            <a:off x="7029360" y="1467000"/>
            <a:ext cx="3809520" cy="138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1" name=""/>
          <p:cNvPicPr/>
          <p:nvPr/>
        </p:nvPicPr>
        <p:blipFill>
          <a:blip r:embed="rId2"/>
          <a:stretch/>
        </p:blipFill>
        <p:spPr>
          <a:xfrm>
            <a:off x="6972120" y="3076560"/>
            <a:ext cx="119988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2" name=""/>
          <p:cNvPicPr/>
          <p:nvPr/>
        </p:nvPicPr>
        <p:blipFill>
          <a:blip r:embed="rId3"/>
          <a:stretch/>
        </p:blipFill>
        <p:spPr>
          <a:xfrm>
            <a:off x="8267760" y="3076560"/>
            <a:ext cx="115200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3" name=""/>
          <p:cNvPicPr/>
          <p:nvPr/>
        </p:nvPicPr>
        <p:blipFill>
          <a:blip r:embed="rId4"/>
          <a:stretch/>
        </p:blipFill>
        <p:spPr>
          <a:xfrm>
            <a:off x="9515520" y="3076560"/>
            <a:ext cx="138060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4" name=""/>
          <p:cNvSpPr txBox="1"/>
          <p:nvPr/>
        </p:nvSpPr>
        <p:spPr>
          <a:xfrm>
            <a:off x="1066680" y="54950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3520" y="59616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